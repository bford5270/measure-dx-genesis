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these are not four separate projects competing for the same attention. They are one architecture. Each answers a different question about the same problem — how do we know the quality of medical care when the conditions that quality depends on are degrading.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gaps map one-to-one onto the three lines of effort plus Measure Dx. This slide is the reason the portfolio is coherent rather than opportunistic.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this slide is that removing any one of the four leaves a gap the others cannot cover. CSC without simulation is an untested assertion. Simulation without CSC has no outcome to report against. Both without Measure Dx never learn from what actually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hard stops are where transfers actually go wrong. Expiring-within-90-days is the most common way a case gets processed down the wrong track. Supervised privileges at an operational platform drives more I MEF adjudication than anything else in the policy — and it is the same substitution question the simulation quantifies. Note also that privilege duration is 3 years with NPDB Continuous Query enrollment and 2 years without, which is what sets the 90-day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manuscript's centerpiece and the white paper's foundation. The key move is that it requires no new doctrine — PACE and the JTS CPGs both already exist. The virtue-ethics column is what makes the moral burden institutional rather than individual.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on this slide is the publication-timing decision. It is the only thing on the critical path that someone else controls.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careful to state the limitation out loud: several parameters remain provisional and the model has not passed SME face validity. The robust unconditional claim is the third one — the binding constraint is downstream of surgery. The MEDEVAC-versus-intensivist ordering flips depending on transit mortality of un-operated evacuees, which is the single most decision-relevant open SME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31.8% figure is the published multi-site result, not a projection. Emphasize that this is the only one of the four efforts that already has running code against real data structures.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land if you only get one. Two of these four links were not visible until the lines of effort were put side by side. The 1102 point is the practical one — charter Measure Dx as an MQA activity under the same authority EWP already operates under, and the protection question is answered once. The scope-of-utilization point is the conceptual one: EWP and CSC are describing the same gap between what a provider is credentialed to do and what the location can actually support. Closing thought if asked: take any one away and the others lose a function — an untested standard, an outcome with no definition, or a prediction never checked against what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common thread. It reframes the brief from four project updates into one governance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12B"/>
        </a:solidFill>
      </p:bgPr>
    </p:bg>
    <p:spTree>
      <p:nvGrpSpPr>
        <p:cNvPr id="1" name=""/>
        <p:cNvGrpSpPr/>
        <p:nvPr/>
      </p:nvGrpSpPr>
      <p:grpSpPr>
        <a:xfrm>
          <a:off x="0" y="0"/>
          <a:ext cx="0" cy="0"/>
          <a:chOff x="0" y="0"/>
          <a:chExt cx="0" cy="0"/>
        </a:xfrm>
      </p:grpSpPr>
      <p:sp>
        <p:nvSpPr>
          <p:cNvPr id="2" name="Text 0"/>
          <p:cNvSpPr/>
          <p:nvPr/>
        </p:nvSpPr>
        <p:spPr>
          <a:xfrm>
            <a:off x="822960" y="1783080"/>
            <a:ext cx="10515600" cy="274320"/>
          </a:xfrm>
          <a:prstGeom prst="rect">
            <a:avLst/>
          </a:prstGeom>
          <a:noFill/>
          <a:ln/>
        </p:spPr>
        <p:txBody>
          <a:bodyPr wrap="square" lIns="0" tIns="0" rIns="0" bIns="0" rtlCol="0" anchor="ctr"/>
          <a:lstStyle/>
          <a:p>
            <a:pPr indent="0" marL="0">
              <a:buNone/>
            </a:pPr>
            <a:r>
              <a:rPr lang="en-US" sz="1250" b="1" spc="240" kern="0" dirty="0">
                <a:solidFill>
                  <a:srgbClr val="7FA99B"/>
                </a:solidFill>
                <a:latin typeface="Calibri" pitchFamily="34" charset="0"/>
                <a:ea typeface="Calibri" pitchFamily="34" charset="-122"/>
                <a:cs typeface="Calibri" pitchFamily="34" charset="-120"/>
              </a:rPr>
              <a:t>HSOAG QUALITY LINE OF EFFORT</a:t>
            </a:r>
            <a:endParaRPr lang="en-US" sz="1250" dirty="0"/>
          </a:p>
        </p:txBody>
      </p:sp>
      <p:sp>
        <p:nvSpPr>
          <p:cNvPr id="3" name="Text 1"/>
          <p:cNvSpPr/>
          <p:nvPr/>
        </p:nvSpPr>
        <p:spPr>
          <a:xfrm>
            <a:off x="822960" y="2194560"/>
            <a:ext cx="10058400" cy="1554480"/>
          </a:xfrm>
          <a:prstGeom prst="rect">
            <a:avLst/>
          </a:prstGeom>
          <a:noFill/>
          <a:ln/>
        </p:spPr>
        <p:txBody>
          <a:bodyPr wrap="square" lIns="0" tIns="0" rIns="0" bIns="0" rtlCol="0" anchor="ctr"/>
          <a:lstStyle/>
          <a:p>
            <a:pPr indent="0" marL="0">
              <a:lnSpc>
                <a:spcPts val="4600"/>
              </a:lnSpc>
              <a:buNone/>
            </a:pPr>
            <a:r>
              <a:rPr lang="en-US" sz="4200" b="1" dirty="0">
                <a:solidFill>
                  <a:srgbClr val="FFFFFF"/>
                </a:solidFill>
                <a:latin typeface="Cambria" pitchFamily="34" charset="0"/>
                <a:ea typeface="Cambria" pitchFamily="34" charset="-122"/>
                <a:cs typeface="Cambria" pitchFamily="34" charset="-120"/>
              </a:rPr>
              <a:t>Measuring quality where</a:t>
            </a:r>
            <a:endParaRPr lang="en-US" sz="4200" dirty="0"/>
          </a:p>
          <a:p>
            <a:pPr indent="0" marL="0">
              <a:lnSpc>
                <a:spcPts val="4600"/>
              </a:lnSpc>
              <a:buNone/>
            </a:pPr>
            <a:r>
              <a:rPr lang="en-US" sz="4200" b="1" dirty="0">
                <a:solidFill>
                  <a:srgbClr val="FFFFFF"/>
                </a:solidFill>
                <a:latin typeface="Cambria" pitchFamily="34" charset="0"/>
                <a:ea typeface="Cambria" pitchFamily="34" charset="-122"/>
                <a:cs typeface="Cambria" pitchFamily="34" charset="-120"/>
              </a:rPr>
              <a:t>capability is not guaranteed</a:t>
            </a:r>
            <a:endParaRPr lang="en-US" sz="4200" dirty="0"/>
          </a:p>
        </p:txBody>
      </p:sp>
      <p:sp>
        <p:nvSpPr>
          <p:cNvPr id="4" name="Text 2"/>
          <p:cNvSpPr/>
          <p:nvPr/>
        </p:nvSpPr>
        <p:spPr>
          <a:xfrm>
            <a:off x="822960" y="3886200"/>
            <a:ext cx="9509760" cy="457200"/>
          </a:xfrm>
          <a:prstGeom prst="rect">
            <a:avLst/>
          </a:prstGeom>
          <a:noFill/>
          <a:ln/>
        </p:spPr>
        <p:txBody>
          <a:bodyPr wrap="square" lIns="0" tIns="0" rIns="0" bIns="0" rtlCol="0" anchor="ctr"/>
          <a:lstStyle/>
          <a:p>
            <a:pPr indent="0" marL="0">
              <a:buNone/>
            </a:pPr>
            <a:r>
              <a:rPr lang="en-US" sz="1400" dirty="0">
                <a:solidFill>
                  <a:srgbClr val="C9D6DB"/>
                </a:solidFill>
                <a:latin typeface="Calibri" pitchFamily="34" charset="0"/>
                <a:ea typeface="Calibri" pitchFamily="34" charset="-122"/>
                <a:cs typeface="Calibri" pitchFamily="34" charset="-120"/>
              </a:rPr>
              <a:t>Four efforts, one measurement architecture — Enterprise-Wide Privileging, Crisis Standards of Care, Simulation, and Diagnostic Safety</a:t>
            </a:r>
            <a:endParaRPr lang="en-US" sz="1400" dirty="0"/>
          </a:p>
        </p:txBody>
      </p:sp>
      <p:sp>
        <p:nvSpPr>
          <p:cNvPr id="5" name="Shape 3"/>
          <p:cNvSpPr/>
          <p:nvPr/>
        </p:nvSpPr>
        <p:spPr>
          <a:xfrm>
            <a:off x="822960" y="4709160"/>
            <a:ext cx="1143000" cy="91440"/>
          </a:xfrm>
          <a:prstGeom prst="rect">
            <a:avLst/>
          </a:prstGeom>
          <a:solidFill>
            <a:srgbClr val="2E7D5B"/>
          </a:solidFill>
          <a:ln/>
        </p:spPr>
      </p:sp>
      <p:sp>
        <p:nvSpPr>
          <p:cNvPr id="6" name="Text 4"/>
          <p:cNvSpPr/>
          <p:nvPr/>
        </p:nvSpPr>
        <p:spPr>
          <a:xfrm>
            <a:off x="822960" y="4837176"/>
            <a:ext cx="1143000" cy="201168"/>
          </a:xfrm>
          <a:prstGeom prst="rect">
            <a:avLst/>
          </a:prstGeom>
          <a:noFill/>
          <a:ln/>
        </p:spPr>
        <p:txBody>
          <a:bodyPr wrap="square" lIns="0" tIns="0" rIns="0" bIns="0" rtlCol="0" anchor="ctr"/>
          <a:lstStyle/>
          <a:p>
            <a:pPr algn="ctr" indent="0" marL="0">
              <a:buNone/>
            </a:pPr>
            <a:r>
              <a:rPr lang="en-US" sz="850" b="1" spc="60" kern="0" dirty="0">
                <a:solidFill>
                  <a:srgbClr val="7FA99B"/>
                </a:solidFill>
                <a:latin typeface="Calibri" pitchFamily="34" charset="0"/>
                <a:ea typeface="Calibri" pitchFamily="34" charset="-122"/>
                <a:cs typeface="Calibri" pitchFamily="34" charset="-120"/>
              </a:rPr>
              <a:t>PRIMARY</a:t>
            </a:r>
            <a:endParaRPr lang="en-US" sz="850" dirty="0"/>
          </a:p>
        </p:txBody>
      </p:sp>
      <p:sp>
        <p:nvSpPr>
          <p:cNvPr id="7" name="Shape 5"/>
          <p:cNvSpPr/>
          <p:nvPr/>
        </p:nvSpPr>
        <p:spPr>
          <a:xfrm>
            <a:off x="1965960" y="4709160"/>
            <a:ext cx="1143000" cy="91440"/>
          </a:xfrm>
          <a:prstGeom prst="rect">
            <a:avLst/>
          </a:prstGeom>
          <a:solidFill>
            <a:srgbClr val="B8912F"/>
          </a:solidFill>
          <a:ln/>
        </p:spPr>
      </p:sp>
      <p:sp>
        <p:nvSpPr>
          <p:cNvPr id="8" name="Text 6"/>
          <p:cNvSpPr/>
          <p:nvPr/>
        </p:nvSpPr>
        <p:spPr>
          <a:xfrm>
            <a:off x="1965960" y="4837176"/>
            <a:ext cx="1143000" cy="201168"/>
          </a:xfrm>
          <a:prstGeom prst="rect">
            <a:avLst/>
          </a:prstGeom>
          <a:noFill/>
          <a:ln/>
        </p:spPr>
        <p:txBody>
          <a:bodyPr wrap="square" lIns="0" tIns="0" rIns="0" bIns="0" rtlCol="0" anchor="ctr"/>
          <a:lstStyle/>
          <a:p>
            <a:pPr algn="ctr" indent="0" marL="0">
              <a:buNone/>
            </a:pPr>
            <a:r>
              <a:rPr lang="en-US" sz="850" b="1" spc="60" kern="0" dirty="0">
                <a:solidFill>
                  <a:srgbClr val="7FA99B"/>
                </a:solidFill>
                <a:latin typeface="Calibri" pitchFamily="34" charset="0"/>
                <a:ea typeface="Calibri" pitchFamily="34" charset="-122"/>
                <a:cs typeface="Calibri" pitchFamily="34" charset="-120"/>
              </a:rPr>
              <a:t>ALTERNATE</a:t>
            </a:r>
            <a:endParaRPr lang="en-US" sz="850" dirty="0"/>
          </a:p>
        </p:txBody>
      </p:sp>
      <p:sp>
        <p:nvSpPr>
          <p:cNvPr id="9" name="Shape 7"/>
          <p:cNvSpPr/>
          <p:nvPr/>
        </p:nvSpPr>
        <p:spPr>
          <a:xfrm>
            <a:off x="3108960" y="4709160"/>
            <a:ext cx="1143000" cy="91440"/>
          </a:xfrm>
          <a:prstGeom prst="rect">
            <a:avLst/>
          </a:prstGeom>
          <a:solidFill>
            <a:srgbClr val="C25E3A"/>
          </a:solidFill>
          <a:ln/>
        </p:spPr>
      </p:sp>
      <p:sp>
        <p:nvSpPr>
          <p:cNvPr id="10" name="Text 8"/>
          <p:cNvSpPr/>
          <p:nvPr/>
        </p:nvSpPr>
        <p:spPr>
          <a:xfrm>
            <a:off x="3108960" y="4837176"/>
            <a:ext cx="1143000" cy="201168"/>
          </a:xfrm>
          <a:prstGeom prst="rect">
            <a:avLst/>
          </a:prstGeom>
          <a:noFill/>
          <a:ln/>
        </p:spPr>
        <p:txBody>
          <a:bodyPr wrap="square" lIns="0" tIns="0" rIns="0" bIns="0" rtlCol="0" anchor="ctr"/>
          <a:lstStyle/>
          <a:p>
            <a:pPr algn="ctr" indent="0" marL="0">
              <a:buNone/>
            </a:pPr>
            <a:r>
              <a:rPr lang="en-US" sz="850" b="1" spc="60" kern="0" dirty="0">
                <a:solidFill>
                  <a:srgbClr val="7FA99B"/>
                </a:solidFill>
                <a:latin typeface="Calibri" pitchFamily="34" charset="0"/>
                <a:ea typeface="Calibri" pitchFamily="34" charset="-122"/>
                <a:cs typeface="Calibri" pitchFamily="34" charset="-120"/>
              </a:rPr>
              <a:t>CONTINGENCY</a:t>
            </a:r>
            <a:endParaRPr lang="en-US" sz="850" dirty="0"/>
          </a:p>
        </p:txBody>
      </p:sp>
      <p:sp>
        <p:nvSpPr>
          <p:cNvPr id="11" name="Shape 9"/>
          <p:cNvSpPr/>
          <p:nvPr/>
        </p:nvSpPr>
        <p:spPr>
          <a:xfrm>
            <a:off x="4251960" y="4709160"/>
            <a:ext cx="1143000" cy="91440"/>
          </a:xfrm>
          <a:prstGeom prst="rect">
            <a:avLst/>
          </a:prstGeom>
          <a:solidFill>
            <a:srgbClr val="9B2C2C"/>
          </a:solidFill>
          <a:ln/>
        </p:spPr>
      </p:sp>
      <p:sp>
        <p:nvSpPr>
          <p:cNvPr id="12" name="Text 10"/>
          <p:cNvSpPr/>
          <p:nvPr/>
        </p:nvSpPr>
        <p:spPr>
          <a:xfrm>
            <a:off x="4251960" y="4837176"/>
            <a:ext cx="1143000" cy="201168"/>
          </a:xfrm>
          <a:prstGeom prst="rect">
            <a:avLst/>
          </a:prstGeom>
          <a:noFill/>
          <a:ln/>
        </p:spPr>
        <p:txBody>
          <a:bodyPr wrap="square" lIns="0" tIns="0" rIns="0" bIns="0" rtlCol="0" anchor="ctr"/>
          <a:lstStyle/>
          <a:p>
            <a:pPr algn="ctr" indent="0" marL="0">
              <a:buNone/>
            </a:pPr>
            <a:r>
              <a:rPr lang="en-US" sz="850" b="1" spc="60" kern="0" dirty="0">
                <a:solidFill>
                  <a:srgbClr val="7FA99B"/>
                </a:solidFill>
                <a:latin typeface="Calibri" pitchFamily="34" charset="0"/>
                <a:ea typeface="Calibri" pitchFamily="34" charset="-122"/>
                <a:cs typeface="Calibri" pitchFamily="34" charset="-120"/>
              </a:rPr>
              <a:t>EMERGENCY</a:t>
            </a:r>
            <a:endParaRPr lang="en-US" sz="850" dirty="0"/>
          </a:p>
        </p:txBody>
      </p:sp>
      <p:sp>
        <p:nvSpPr>
          <p:cNvPr id="13" name="Text 11"/>
          <p:cNvSpPr/>
          <p:nvPr/>
        </p:nvSpPr>
        <p:spPr>
          <a:xfrm>
            <a:off x="822960" y="5623560"/>
            <a:ext cx="640080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CDR Brian S. Ford, MC, USN</a:t>
            </a:r>
            <a:endParaRPr lang="en-US" sz="1300" dirty="0"/>
          </a:p>
        </p:txBody>
      </p:sp>
      <p:sp>
        <p:nvSpPr>
          <p:cNvPr id="14" name="Text 12"/>
          <p:cNvSpPr/>
          <p:nvPr/>
        </p:nvSpPr>
        <p:spPr>
          <a:xfrm>
            <a:off x="822960" y="5897880"/>
            <a:ext cx="6400800" cy="274320"/>
          </a:xfrm>
          <a:prstGeom prst="rect">
            <a:avLst/>
          </a:prstGeom>
          <a:noFill/>
          <a:ln/>
        </p:spPr>
        <p:txBody>
          <a:bodyPr wrap="square" lIns="0" tIns="0" rIns="0" bIns="0" rtlCol="0" anchor="ctr"/>
          <a:lstStyle/>
          <a:p>
            <a:pPr indent="0" marL="0">
              <a:buNone/>
            </a:pPr>
            <a:r>
              <a:rPr lang="en-US" sz="1150" dirty="0">
                <a:solidFill>
                  <a:srgbClr val="C9D6DB"/>
                </a:solidFill>
                <a:latin typeface="Calibri" pitchFamily="34" charset="0"/>
                <a:ea typeface="Calibri" pitchFamily="34" charset="-122"/>
                <a:cs typeface="Calibri" pitchFamily="34" charset="-120"/>
              </a:rPr>
              <a:t>Chief Medical Officer, 1st Medical Battalion</a:t>
            </a:r>
            <a:endParaRPr lang="en-US" sz="1150" dirty="0"/>
          </a:p>
        </p:txBody>
      </p:sp>
      <p:sp>
        <p:nvSpPr>
          <p:cNvPr id="15" name="Text 13"/>
          <p:cNvSpPr/>
          <p:nvPr/>
        </p:nvSpPr>
        <p:spPr>
          <a:xfrm>
            <a:off x="8229600" y="5623560"/>
            <a:ext cx="3108960" cy="548640"/>
          </a:xfrm>
          <a:prstGeom prst="rect">
            <a:avLst/>
          </a:prstGeom>
          <a:noFill/>
          <a:ln/>
        </p:spPr>
        <p:txBody>
          <a:bodyPr wrap="square" lIns="0" tIns="0" rIns="0" bIns="0" rtlCol="0" anchor="ctr"/>
          <a:lstStyle/>
          <a:p>
            <a:pPr algn="r" indent="0" marL="0">
              <a:buNone/>
            </a:pPr>
            <a:r>
              <a:rPr lang="en-US" sz="1150" dirty="0">
                <a:solidFill>
                  <a:srgbClr val="7FA99B"/>
                </a:solidFill>
                <a:latin typeface="Calibri" pitchFamily="34" charset="0"/>
                <a:ea typeface="Calibri" pitchFamily="34" charset="-122"/>
                <a:cs typeface="Calibri" pitchFamily="34" charset="-120"/>
              </a:rPr>
              <a:t>HSOAG · October 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37744"/>
          </a:xfrm>
          <a:prstGeom prst="rect">
            <a:avLst/>
          </a:prstGeom>
          <a:noFill/>
          <a:ln/>
        </p:spPr>
        <p:txBody>
          <a:bodyPr wrap="square" lIns="0" tIns="0" rIns="0" bIns="0" rtlCol="0" anchor="ctr"/>
          <a:lstStyle/>
          <a:p>
            <a:pPr indent="0" marL="0">
              <a:buNone/>
            </a:pPr>
            <a:r>
              <a:rPr lang="en-US" sz="1100" b="1" spc="160" kern="0" dirty="0">
                <a:solidFill>
                  <a:srgbClr val="C25E3A"/>
                </a:solidFill>
                <a:latin typeface="Calibri" pitchFamily="34" charset="0"/>
                <a:ea typeface="Calibri" pitchFamily="34" charset="-122"/>
                <a:cs typeface="Calibri" pitchFamily="34" charset="-120"/>
              </a:rPr>
              <a:t>THE PROBLEM</a:t>
            </a:r>
            <a:endParaRPr lang="en-US" sz="1100" dirty="0"/>
          </a:p>
        </p:txBody>
      </p:sp>
      <p:sp>
        <p:nvSpPr>
          <p:cNvPr id="3" name="Text 1"/>
          <p:cNvSpPr/>
          <p:nvPr/>
        </p:nvSpPr>
        <p:spPr>
          <a:xfrm>
            <a:off x="548640" y="640080"/>
            <a:ext cx="11064240" cy="749808"/>
          </a:xfrm>
          <a:prstGeom prst="rect">
            <a:avLst/>
          </a:prstGeom>
          <a:noFill/>
          <a:ln/>
        </p:spPr>
        <p:txBody>
          <a:bodyPr wrap="square" lIns="0" tIns="0" rIns="0" bIns="0" rtlCol="0" anchor="ctr"/>
          <a:lstStyle/>
          <a:p>
            <a:pPr indent="0" marL="0">
              <a:buNone/>
            </a:pPr>
            <a:r>
              <a:rPr lang="en-US" sz="3000" b="1" dirty="0">
                <a:solidFill>
                  <a:srgbClr val="12212B"/>
                </a:solidFill>
                <a:latin typeface="Cambria" pitchFamily="34" charset="0"/>
                <a:ea typeface="Cambria" pitchFamily="34" charset="-122"/>
                <a:cs typeface="Cambria" pitchFamily="34" charset="-120"/>
              </a:rPr>
              <a:t>Quality is asserted, not measured</a:t>
            </a:r>
            <a:endParaRPr lang="en-US" sz="3000" dirty="0"/>
          </a:p>
        </p:txBody>
      </p:sp>
      <p:sp>
        <p:nvSpPr>
          <p:cNvPr id="4" name="Shape 2"/>
          <p:cNvSpPr/>
          <p:nvPr/>
        </p:nvSpPr>
        <p:spPr>
          <a:xfrm>
            <a:off x="566928" y="1389888"/>
            <a:ext cx="342900" cy="64008"/>
          </a:xfrm>
          <a:prstGeom prst="rect">
            <a:avLst/>
          </a:prstGeom>
          <a:solidFill>
            <a:srgbClr val="2E7D5B"/>
          </a:solidFill>
          <a:ln/>
        </p:spPr>
      </p:sp>
      <p:sp>
        <p:nvSpPr>
          <p:cNvPr id="5" name="Shape 3"/>
          <p:cNvSpPr/>
          <p:nvPr/>
        </p:nvSpPr>
        <p:spPr>
          <a:xfrm>
            <a:off x="909828" y="1389888"/>
            <a:ext cx="342900" cy="64008"/>
          </a:xfrm>
          <a:prstGeom prst="rect">
            <a:avLst/>
          </a:prstGeom>
          <a:solidFill>
            <a:srgbClr val="B8912F"/>
          </a:solidFill>
          <a:ln/>
        </p:spPr>
      </p:sp>
      <p:sp>
        <p:nvSpPr>
          <p:cNvPr id="6" name="Shape 4"/>
          <p:cNvSpPr/>
          <p:nvPr/>
        </p:nvSpPr>
        <p:spPr>
          <a:xfrm>
            <a:off x="1252728" y="1389888"/>
            <a:ext cx="342900" cy="64008"/>
          </a:xfrm>
          <a:prstGeom prst="rect">
            <a:avLst/>
          </a:prstGeom>
          <a:solidFill>
            <a:srgbClr val="C25E3A"/>
          </a:solidFill>
          <a:ln/>
        </p:spPr>
      </p:sp>
      <p:sp>
        <p:nvSpPr>
          <p:cNvPr id="7" name="Shape 5"/>
          <p:cNvSpPr/>
          <p:nvPr/>
        </p:nvSpPr>
        <p:spPr>
          <a:xfrm>
            <a:off x="1595628" y="1389888"/>
            <a:ext cx="342900" cy="64008"/>
          </a:xfrm>
          <a:prstGeom prst="rect">
            <a:avLst/>
          </a:prstGeom>
          <a:solidFill>
            <a:srgbClr val="9B2C2C"/>
          </a:solidFill>
          <a:ln/>
        </p:spPr>
      </p:sp>
      <p:sp>
        <p:nvSpPr>
          <p:cNvPr id="8" name="Text 6"/>
          <p:cNvSpPr/>
          <p:nvPr/>
        </p:nvSpPr>
        <p:spPr>
          <a:xfrm>
            <a:off x="566928" y="1691640"/>
            <a:ext cx="6949440" cy="1463040"/>
          </a:xfrm>
          <a:prstGeom prst="rect">
            <a:avLst/>
          </a:prstGeom>
          <a:noFill/>
          <a:ln/>
        </p:spPr>
        <p:txBody>
          <a:bodyPr wrap="square" lIns="0" tIns="0" rIns="0" bIns="0" rtlCol="0" anchor="ctr"/>
          <a:lstStyle/>
          <a:p>
            <a:pPr indent="0" marL="0">
              <a:lnSpc>
                <a:spcPts val="2100"/>
              </a:lnSpc>
              <a:buNone/>
            </a:pPr>
            <a:r>
              <a:rPr lang="en-US" sz="1400" dirty="0">
                <a:solidFill>
                  <a:srgbClr val="5A6B72"/>
                </a:solidFill>
                <a:latin typeface="Calibri" pitchFamily="34" charset="0"/>
                <a:ea typeface="Calibri" pitchFamily="34" charset="-122"/>
                <a:cs typeface="Calibri" pitchFamily="34" charset="-120"/>
              </a:rPr>
              <a:t>Garrison medicine measures quality against a stable standard. Operational medicine has no stable standard — capability degrades with logistics, evacuation, and personnel. We currently have no shared definition of what good care is at each level of degradation, no way to test a configuration before it deploys, and no systematic way to find what was missed after.</a:t>
            </a:r>
            <a:endParaRPr lang="en-US" sz="1400" dirty="0"/>
          </a:p>
        </p:txBody>
      </p:sp>
      <p:sp>
        <p:nvSpPr>
          <p:cNvPr id="9" name="Shape 7"/>
          <p:cNvSpPr/>
          <p:nvPr/>
        </p:nvSpPr>
        <p:spPr>
          <a:xfrm>
            <a:off x="566928" y="3310128"/>
            <a:ext cx="3456432" cy="1874520"/>
          </a:xfrm>
          <a:prstGeom prst="roundRect">
            <a:avLst>
              <a:gd name="adj" fmla="val 2927"/>
            </a:avLst>
          </a:prstGeom>
          <a:solidFill>
            <a:srgbClr val="F2F5F4"/>
          </a:solidFill>
          <a:ln w="12700">
            <a:solidFill>
              <a:srgbClr val="F2F5F4"/>
            </a:solidFill>
            <a:prstDash val="solid"/>
          </a:ln>
        </p:spPr>
      </p:sp>
      <p:sp>
        <p:nvSpPr>
          <p:cNvPr id="10" name="Shape 8"/>
          <p:cNvSpPr/>
          <p:nvPr/>
        </p:nvSpPr>
        <p:spPr>
          <a:xfrm>
            <a:off x="804672" y="3547872"/>
            <a:ext cx="384048" cy="384048"/>
          </a:xfrm>
          <a:prstGeom prst="ellipse">
            <a:avLst/>
          </a:prstGeom>
          <a:solidFill>
            <a:srgbClr val="1C5D66"/>
          </a:solidFill>
          <a:ln/>
        </p:spPr>
      </p:sp>
      <p:sp>
        <p:nvSpPr>
          <p:cNvPr id="11" name="Text 9"/>
          <p:cNvSpPr/>
          <p:nvPr/>
        </p:nvSpPr>
        <p:spPr>
          <a:xfrm>
            <a:off x="804672" y="354787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12" name="Text 10"/>
          <p:cNvSpPr/>
          <p:nvPr/>
        </p:nvSpPr>
        <p:spPr>
          <a:xfrm>
            <a:off x="1316736" y="3566160"/>
            <a:ext cx="2450592" cy="365760"/>
          </a:xfrm>
          <a:prstGeom prst="rect">
            <a:avLst/>
          </a:prstGeom>
          <a:noFill/>
          <a:ln/>
        </p:spPr>
        <p:txBody>
          <a:bodyPr wrap="square" lIns="0" tIns="0" rIns="0" bIns="0" rtlCol="0" anchor="ctr"/>
          <a:lstStyle/>
          <a:p>
            <a:pPr indent="0" marL="0">
              <a:buNone/>
            </a:pPr>
            <a:r>
              <a:rPr lang="en-US" sz="1450" b="1" dirty="0">
                <a:solidFill>
                  <a:srgbClr val="12212B"/>
                </a:solidFill>
                <a:latin typeface="Cambria" pitchFamily="34" charset="0"/>
                <a:ea typeface="Cambria" pitchFamily="34" charset="-122"/>
                <a:cs typeface="Cambria" pitchFamily="34" charset="-120"/>
              </a:rPr>
              <a:t>No agreed standard</a:t>
            </a:r>
            <a:endParaRPr lang="en-US" sz="1450" dirty="0"/>
          </a:p>
        </p:txBody>
      </p:sp>
      <p:sp>
        <p:nvSpPr>
          <p:cNvPr id="13" name="Text 11"/>
          <p:cNvSpPr/>
          <p:nvPr/>
        </p:nvSpPr>
        <p:spPr>
          <a:xfrm>
            <a:off x="841248" y="4023360"/>
            <a:ext cx="2907792" cy="914400"/>
          </a:xfrm>
          <a:prstGeom prst="rect">
            <a:avLst/>
          </a:prstGeom>
          <a:noFill/>
          <a:ln/>
        </p:spPr>
        <p:txBody>
          <a:bodyPr wrap="square" lIns="0" tIns="0" rIns="0" bIns="0" rtlCol="0" anchor="t"/>
          <a:lstStyle/>
          <a:p>
            <a:pPr indent="0" marL="0">
              <a:buNone/>
            </a:pPr>
            <a:r>
              <a:rPr lang="en-US" sz="1150" dirty="0">
                <a:solidFill>
                  <a:srgbClr val="5A6B72"/>
                </a:solidFill>
                <a:latin typeface="Calibri" pitchFamily="34" charset="0"/>
                <a:ea typeface="Calibri" pitchFamily="34" charset="-122"/>
                <a:cs typeface="Calibri" pitchFamily="34" charset="-120"/>
              </a:rPr>
              <a:t>JTS CPGs tier recommendations, but nothing links those tiers to operational triggers. Providers improvise the transition.</a:t>
            </a:r>
            <a:endParaRPr lang="en-US" sz="1150" dirty="0"/>
          </a:p>
        </p:txBody>
      </p:sp>
      <p:sp>
        <p:nvSpPr>
          <p:cNvPr id="14" name="Shape 12"/>
          <p:cNvSpPr/>
          <p:nvPr/>
        </p:nvSpPr>
        <p:spPr>
          <a:xfrm>
            <a:off x="4251960" y="3310128"/>
            <a:ext cx="3456432" cy="1874520"/>
          </a:xfrm>
          <a:prstGeom prst="roundRect">
            <a:avLst>
              <a:gd name="adj" fmla="val 2927"/>
            </a:avLst>
          </a:prstGeom>
          <a:solidFill>
            <a:srgbClr val="F2F5F4"/>
          </a:solidFill>
          <a:ln w="12700">
            <a:solidFill>
              <a:srgbClr val="F2F5F4"/>
            </a:solidFill>
            <a:prstDash val="solid"/>
          </a:ln>
        </p:spPr>
      </p:sp>
      <p:sp>
        <p:nvSpPr>
          <p:cNvPr id="15" name="Shape 13"/>
          <p:cNvSpPr/>
          <p:nvPr/>
        </p:nvSpPr>
        <p:spPr>
          <a:xfrm>
            <a:off x="4489704" y="3547872"/>
            <a:ext cx="384048" cy="384048"/>
          </a:xfrm>
          <a:prstGeom prst="ellipse">
            <a:avLst/>
          </a:prstGeom>
          <a:solidFill>
            <a:srgbClr val="1C5D66"/>
          </a:solidFill>
          <a:ln/>
        </p:spPr>
      </p:sp>
      <p:sp>
        <p:nvSpPr>
          <p:cNvPr id="16" name="Text 14"/>
          <p:cNvSpPr/>
          <p:nvPr/>
        </p:nvSpPr>
        <p:spPr>
          <a:xfrm>
            <a:off x="4489704" y="354787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7" name="Text 15"/>
          <p:cNvSpPr/>
          <p:nvPr/>
        </p:nvSpPr>
        <p:spPr>
          <a:xfrm>
            <a:off x="5001768" y="3566160"/>
            <a:ext cx="2450592" cy="365760"/>
          </a:xfrm>
          <a:prstGeom prst="rect">
            <a:avLst/>
          </a:prstGeom>
          <a:noFill/>
          <a:ln/>
        </p:spPr>
        <p:txBody>
          <a:bodyPr wrap="square" lIns="0" tIns="0" rIns="0" bIns="0" rtlCol="0" anchor="ctr"/>
          <a:lstStyle/>
          <a:p>
            <a:pPr indent="0" marL="0">
              <a:buNone/>
            </a:pPr>
            <a:r>
              <a:rPr lang="en-US" sz="1450" b="1" dirty="0">
                <a:solidFill>
                  <a:srgbClr val="12212B"/>
                </a:solidFill>
                <a:latin typeface="Cambria" pitchFamily="34" charset="0"/>
                <a:ea typeface="Cambria" pitchFamily="34" charset="-122"/>
                <a:cs typeface="Cambria" pitchFamily="34" charset="-120"/>
              </a:rPr>
              <a:t>No prospective test</a:t>
            </a:r>
            <a:endParaRPr lang="en-US" sz="1450" dirty="0"/>
          </a:p>
        </p:txBody>
      </p:sp>
      <p:sp>
        <p:nvSpPr>
          <p:cNvPr id="18" name="Text 16"/>
          <p:cNvSpPr/>
          <p:nvPr/>
        </p:nvSpPr>
        <p:spPr>
          <a:xfrm>
            <a:off x="4526280" y="4023360"/>
            <a:ext cx="2907792" cy="914400"/>
          </a:xfrm>
          <a:prstGeom prst="rect">
            <a:avLst/>
          </a:prstGeom>
          <a:noFill/>
          <a:ln/>
        </p:spPr>
        <p:txBody>
          <a:bodyPr wrap="square" lIns="0" tIns="0" rIns="0" bIns="0" rtlCol="0" anchor="t"/>
          <a:lstStyle/>
          <a:p>
            <a:pPr indent="0" marL="0">
              <a:buNone/>
            </a:pPr>
            <a:r>
              <a:rPr lang="en-US" sz="1150" dirty="0">
                <a:solidFill>
                  <a:srgbClr val="5A6B72"/>
                </a:solidFill>
                <a:latin typeface="Calibri" pitchFamily="34" charset="0"/>
                <a:ea typeface="Calibri" pitchFamily="34" charset="-122"/>
                <a:cs typeface="Calibri" pitchFamily="34" charset="-120"/>
              </a:rPr>
              <a:t>Configuration decisions — team counts, billet substitutions, evacuation posture — are made SME-qualitatively, not quantitatively.</a:t>
            </a:r>
            <a:endParaRPr lang="en-US" sz="1150" dirty="0"/>
          </a:p>
        </p:txBody>
      </p:sp>
      <p:sp>
        <p:nvSpPr>
          <p:cNvPr id="19" name="Shape 17"/>
          <p:cNvSpPr/>
          <p:nvPr/>
        </p:nvSpPr>
        <p:spPr>
          <a:xfrm>
            <a:off x="7936992" y="3310128"/>
            <a:ext cx="3456432" cy="1874520"/>
          </a:xfrm>
          <a:prstGeom prst="roundRect">
            <a:avLst>
              <a:gd name="adj" fmla="val 2927"/>
            </a:avLst>
          </a:prstGeom>
          <a:solidFill>
            <a:srgbClr val="F2F5F4"/>
          </a:solidFill>
          <a:ln w="12700">
            <a:solidFill>
              <a:srgbClr val="F2F5F4"/>
            </a:solidFill>
            <a:prstDash val="solid"/>
          </a:ln>
        </p:spPr>
      </p:sp>
      <p:sp>
        <p:nvSpPr>
          <p:cNvPr id="20" name="Shape 18"/>
          <p:cNvSpPr/>
          <p:nvPr/>
        </p:nvSpPr>
        <p:spPr>
          <a:xfrm>
            <a:off x="8174736" y="3547872"/>
            <a:ext cx="384048" cy="384048"/>
          </a:xfrm>
          <a:prstGeom prst="ellipse">
            <a:avLst/>
          </a:prstGeom>
          <a:solidFill>
            <a:srgbClr val="1C5D66"/>
          </a:solidFill>
          <a:ln/>
        </p:spPr>
      </p:sp>
      <p:sp>
        <p:nvSpPr>
          <p:cNvPr id="21" name="Text 19"/>
          <p:cNvSpPr/>
          <p:nvPr/>
        </p:nvSpPr>
        <p:spPr>
          <a:xfrm>
            <a:off x="8174736" y="354787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22" name="Text 20"/>
          <p:cNvSpPr/>
          <p:nvPr/>
        </p:nvSpPr>
        <p:spPr>
          <a:xfrm>
            <a:off x="8686800" y="3566160"/>
            <a:ext cx="2450592" cy="365760"/>
          </a:xfrm>
          <a:prstGeom prst="rect">
            <a:avLst/>
          </a:prstGeom>
          <a:noFill/>
          <a:ln/>
        </p:spPr>
        <p:txBody>
          <a:bodyPr wrap="square" lIns="0" tIns="0" rIns="0" bIns="0" rtlCol="0" anchor="ctr"/>
          <a:lstStyle/>
          <a:p>
            <a:pPr indent="0" marL="0">
              <a:buNone/>
            </a:pPr>
            <a:r>
              <a:rPr lang="en-US" sz="1450" b="1" dirty="0">
                <a:solidFill>
                  <a:srgbClr val="12212B"/>
                </a:solidFill>
                <a:latin typeface="Cambria" pitchFamily="34" charset="0"/>
                <a:ea typeface="Cambria" pitchFamily="34" charset="-122"/>
                <a:cs typeface="Cambria" pitchFamily="34" charset="-120"/>
              </a:rPr>
              <a:t>No retrospective detection</a:t>
            </a:r>
            <a:endParaRPr lang="en-US" sz="1450" dirty="0"/>
          </a:p>
        </p:txBody>
      </p:sp>
      <p:sp>
        <p:nvSpPr>
          <p:cNvPr id="23" name="Text 21"/>
          <p:cNvSpPr/>
          <p:nvPr/>
        </p:nvSpPr>
        <p:spPr>
          <a:xfrm>
            <a:off x="8211312" y="4023360"/>
            <a:ext cx="2907792" cy="914400"/>
          </a:xfrm>
          <a:prstGeom prst="rect">
            <a:avLst/>
          </a:prstGeom>
          <a:noFill/>
          <a:ln/>
        </p:spPr>
        <p:txBody>
          <a:bodyPr wrap="square" lIns="0" tIns="0" rIns="0" bIns="0" rtlCol="0" anchor="t"/>
          <a:lstStyle/>
          <a:p>
            <a:pPr indent="0" marL="0">
              <a:buNone/>
            </a:pPr>
            <a:r>
              <a:rPr lang="en-US" sz="1150" dirty="0">
                <a:solidFill>
                  <a:srgbClr val="5A6B72"/>
                </a:solidFill>
                <a:latin typeface="Calibri" pitchFamily="34" charset="0"/>
                <a:ea typeface="Calibri" pitchFamily="34" charset="-122"/>
                <a:cs typeface="Calibri" pitchFamily="34" charset="-120"/>
              </a:rPr>
              <a:t>Peer review samples records at random. In a young, healthy population that finds almost nothing.</a:t>
            </a:r>
            <a:endParaRPr lang="en-US" sz="1150" dirty="0"/>
          </a:p>
        </p:txBody>
      </p:sp>
      <p:sp>
        <p:nvSpPr>
          <p:cNvPr id="24" name="Text 22"/>
          <p:cNvSpPr/>
          <p:nvPr/>
        </p:nvSpPr>
        <p:spPr>
          <a:xfrm>
            <a:off x="7936992" y="1737360"/>
            <a:ext cx="3511296" cy="256032"/>
          </a:xfrm>
          <a:prstGeom prst="rect">
            <a:avLst/>
          </a:prstGeom>
          <a:noFill/>
          <a:ln/>
        </p:spPr>
        <p:txBody>
          <a:bodyPr wrap="square" lIns="0" tIns="0" rIns="0" bIns="0" rtlCol="0" anchor="ctr"/>
          <a:lstStyle/>
          <a:p>
            <a:pPr indent="0" marL="0">
              <a:buNone/>
            </a:pPr>
            <a:r>
              <a:rPr lang="en-US" sz="1000" b="1" spc="140" kern="0" dirty="0">
                <a:solidFill>
                  <a:srgbClr val="C25E3A"/>
                </a:solidFill>
                <a:latin typeface="Calibri" pitchFamily="34" charset="0"/>
                <a:ea typeface="Calibri" pitchFamily="34" charset="-122"/>
                <a:cs typeface="Calibri" pitchFamily="34" charset="-120"/>
              </a:rPr>
              <a:t>MEASUREMENT GAP</a:t>
            </a:r>
            <a:endParaRPr lang="en-US" sz="1000" dirty="0"/>
          </a:p>
        </p:txBody>
      </p:sp>
      <p:sp>
        <p:nvSpPr>
          <p:cNvPr id="25" name="Text 23"/>
          <p:cNvSpPr/>
          <p:nvPr/>
        </p:nvSpPr>
        <p:spPr>
          <a:xfrm>
            <a:off x="7936992" y="2057400"/>
            <a:ext cx="3511296" cy="868680"/>
          </a:xfrm>
          <a:prstGeom prst="rect">
            <a:avLst/>
          </a:prstGeom>
          <a:noFill/>
          <a:ln/>
        </p:spPr>
        <p:txBody>
          <a:bodyPr wrap="square" lIns="0" tIns="0" rIns="0" bIns="0" rtlCol="0" anchor="ctr"/>
          <a:lstStyle/>
          <a:p>
            <a:pPr indent="0" marL="0">
              <a:lnSpc>
                <a:spcPts val="2200"/>
              </a:lnSpc>
              <a:buNone/>
            </a:pPr>
            <a:r>
              <a:rPr lang="en-US" sz="1600" b="1" dirty="0">
                <a:solidFill>
                  <a:srgbClr val="12212B"/>
                </a:solidFill>
                <a:latin typeface="Cambria" pitchFamily="34" charset="0"/>
                <a:ea typeface="Cambria" pitchFamily="34" charset="-122"/>
                <a:cs typeface="Cambria" pitchFamily="34" charset="-120"/>
              </a:rPr>
              <a:t>Every quality mechanism we own assumes the standard of care is fixed.</a:t>
            </a:r>
            <a:endParaRPr lang="en-US" sz="1600" dirty="0"/>
          </a:p>
        </p:txBody>
      </p:sp>
      <p:sp>
        <p:nvSpPr>
          <p:cNvPr id="26" name="Text 24"/>
          <p:cNvSpPr/>
          <p:nvPr/>
        </p:nvSpPr>
        <p:spPr>
          <a:xfrm>
            <a:off x="7936992" y="3218688"/>
            <a:ext cx="3511296" cy="310896"/>
          </a:xfrm>
          <a:prstGeom prst="rect">
            <a:avLst/>
          </a:prstGeom>
          <a:noFill/>
          <a:ln/>
        </p:spPr>
        <p:txBody>
          <a:bodyPr wrap="square" lIns="0" tIns="0" rIns="0" bIns="0" rtlCol="0" anchor="ctr"/>
          <a:lstStyle/>
          <a:p>
            <a:pPr indent="0" marL="0">
              <a:buNone/>
            </a:pPr>
            <a:r>
              <a:rPr lang="en-US" sz="1600" b="1" dirty="0">
                <a:solidFill>
                  <a:srgbClr val="C25E3A"/>
                </a:solidFill>
                <a:latin typeface="Cambria" pitchFamily="34" charset="0"/>
                <a:ea typeface="Cambria" pitchFamily="34" charset="-122"/>
                <a:cs typeface="Cambria" pitchFamily="34" charset="-120"/>
              </a:rPr>
              <a:t>In LSCO it is not.</a:t>
            </a:r>
            <a:endParaRPr lang="en-US" sz="1600" dirty="0"/>
          </a:p>
        </p:txBody>
      </p:sp>
      <p:sp>
        <p:nvSpPr>
          <p:cNvPr id="27" name="Text 25"/>
          <p:cNvSpPr/>
          <p:nvPr/>
        </p:nvSpPr>
        <p:spPr>
          <a:xfrm>
            <a:off x="566928" y="6382512"/>
            <a:ext cx="10515600" cy="219456"/>
          </a:xfrm>
          <a:prstGeom prst="rect">
            <a:avLst/>
          </a:prstGeom>
          <a:noFill/>
          <a:ln/>
        </p:spPr>
        <p:txBody>
          <a:bodyPr wrap="square" lIns="0" tIns="0" rIns="0" bIns="0" rtlCol="0" anchor="ctr"/>
          <a:lstStyle/>
          <a:p>
            <a:pPr indent="0" marL="0">
              <a:buNone/>
            </a:pPr>
            <a:r>
              <a:rPr lang="en-US" sz="900" i="1" dirty="0">
                <a:solidFill>
                  <a:srgbClr val="C9D6DB"/>
                </a:solidFill>
                <a:latin typeface="Calibri" pitchFamily="34" charset="0"/>
                <a:ea typeface="Calibri" pitchFamily="34" charset="-122"/>
                <a:cs typeface="Calibri" pitchFamily="34" charset="-120"/>
              </a:rPr>
              <a:t>Source: CSC PACE one-pager (09 May 2026); Measure Dx analysis, docs/01-why-random-review-fails.md</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37744"/>
          </a:xfrm>
          <a:prstGeom prst="rect">
            <a:avLst/>
          </a:prstGeom>
          <a:noFill/>
          <a:ln/>
        </p:spPr>
        <p:txBody>
          <a:bodyPr wrap="square" lIns="0" tIns="0" rIns="0" bIns="0" rtlCol="0" anchor="ctr"/>
          <a:lstStyle/>
          <a:p>
            <a:pPr indent="0" marL="0">
              <a:buNone/>
            </a:pPr>
            <a:r>
              <a:rPr lang="en-US" sz="1100" b="1" spc="160" kern="0" dirty="0">
                <a:solidFill>
                  <a:srgbClr val="C25E3A"/>
                </a:solidFill>
                <a:latin typeface="Calibri" pitchFamily="34" charset="0"/>
                <a:ea typeface="Calibri" pitchFamily="34" charset="-122"/>
                <a:cs typeface="Calibri" pitchFamily="34" charset="-120"/>
              </a:rPr>
              <a:t>HOW IT FITS TOGETHER</a:t>
            </a:r>
            <a:endParaRPr lang="en-US" sz="1100" dirty="0"/>
          </a:p>
        </p:txBody>
      </p:sp>
      <p:sp>
        <p:nvSpPr>
          <p:cNvPr id="3" name="Text 1"/>
          <p:cNvSpPr/>
          <p:nvPr/>
        </p:nvSpPr>
        <p:spPr>
          <a:xfrm>
            <a:off x="548640" y="640080"/>
            <a:ext cx="11064240" cy="749808"/>
          </a:xfrm>
          <a:prstGeom prst="rect">
            <a:avLst/>
          </a:prstGeom>
          <a:noFill/>
          <a:ln/>
        </p:spPr>
        <p:txBody>
          <a:bodyPr wrap="square" lIns="0" tIns="0" rIns="0" bIns="0" rtlCol="0" anchor="ctr"/>
          <a:lstStyle/>
          <a:p>
            <a:pPr indent="0" marL="0">
              <a:buNone/>
            </a:pPr>
            <a:r>
              <a:rPr lang="en-US" sz="3000" b="1" dirty="0">
                <a:solidFill>
                  <a:srgbClr val="12212B"/>
                </a:solidFill>
                <a:latin typeface="Cambria" pitchFamily="34" charset="0"/>
                <a:ea typeface="Cambria" pitchFamily="34" charset="-122"/>
                <a:cs typeface="Cambria" pitchFamily="34" charset="-120"/>
              </a:rPr>
              <a:t>Four efforts, one architecture</a:t>
            </a:r>
            <a:endParaRPr lang="en-US" sz="3000" dirty="0"/>
          </a:p>
        </p:txBody>
      </p:sp>
      <p:sp>
        <p:nvSpPr>
          <p:cNvPr id="4" name="Shape 2"/>
          <p:cNvSpPr/>
          <p:nvPr/>
        </p:nvSpPr>
        <p:spPr>
          <a:xfrm>
            <a:off x="566928" y="1389888"/>
            <a:ext cx="342900" cy="64008"/>
          </a:xfrm>
          <a:prstGeom prst="rect">
            <a:avLst/>
          </a:prstGeom>
          <a:solidFill>
            <a:srgbClr val="2E7D5B"/>
          </a:solidFill>
          <a:ln/>
        </p:spPr>
      </p:sp>
      <p:sp>
        <p:nvSpPr>
          <p:cNvPr id="5" name="Shape 3"/>
          <p:cNvSpPr/>
          <p:nvPr/>
        </p:nvSpPr>
        <p:spPr>
          <a:xfrm>
            <a:off x="909828" y="1389888"/>
            <a:ext cx="342900" cy="64008"/>
          </a:xfrm>
          <a:prstGeom prst="rect">
            <a:avLst/>
          </a:prstGeom>
          <a:solidFill>
            <a:srgbClr val="B8912F"/>
          </a:solidFill>
          <a:ln/>
        </p:spPr>
      </p:sp>
      <p:sp>
        <p:nvSpPr>
          <p:cNvPr id="6" name="Shape 4"/>
          <p:cNvSpPr/>
          <p:nvPr/>
        </p:nvSpPr>
        <p:spPr>
          <a:xfrm>
            <a:off x="1252728" y="1389888"/>
            <a:ext cx="342900" cy="64008"/>
          </a:xfrm>
          <a:prstGeom prst="rect">
            <a:avLst/>
          </a:prstGeom>
          <a:solidFill>
            <a:srgbClr val="C25E3A"/>
          </a:solidFill>
          <a:ln/>
        </p:spPr>
      </p:sp>
      <p:sp>
        <p:nvSpPr>
          <p:cNvPr id="7" name="Shape 5"/>
          <p:cNvSpPr/>
          <p:nvPr/>
        </p:nvSpPr>
        <p:spPr>
          <a:xfrm>
            <a:off x="1595628" y="1389888"/>
            <a:ext cx="342900" cy="64008"/>
          </a:xfrm>
          <a:prstGeom prst="rect">
            <a:avLst/>
          </a:prstGeom>
          <a:solidFill>
            <a:srgbClr val="9B2C2C"/>
          </a:solidFill>
          <a:ln/>
        </p:spPr>
      </p:sp>
      <p:sp>
        <p:nvSpPr>
          <p:cNvPr id="8" name="Text 6"/>
          <p:cNvSpPr/>
          <p:nvPr/>
        </p:nvSpPr>
        <p:spPr>
          <a:xfrm>
            <a:off x="566928" y="1664208"/>
            <a:ext cx="10881360" cy="457200"/>
          </a:xfrm>
          <a:prstGeom prst="rect">
            <a:avLst/>
          </a:prstGeom>
          <a:noFill/>
          <a:ln/>
        </p:spPr>
        <p:txBody>
          <a:bodyPr wrap="square" lIns="0" tIns="0" rIns="0" bIns="0" rtlCol="0" anchor="ctr"/>
          <a:lstStyle/>
          <a:p>
            <a:pPr indent="0" marL="0">
              <a:buNone/>
            </a:pPr>
            <a:r>
              <a:rPr lang="en-US" sz="1350" dirty="0">
                <a:solidFill>
                  <a:srgbClr val="5A6B72"/>
                </a:solidFill>
                <a:latin typeface="Calibri" pitchFamily="34" charset="0"/>
                <a:ea typeface="Calibri" pitchFamily="34" charset="-122"/>
                <a:cs typeface="Calibri" pitchFamily="34" charset="-120"/>
              </a:rPr>
              <a:t>Each effort answers a different question about the same problem. They share one currency — the PACE tier — and one measuring stick — the JTS CPGs.</a:t>
            </a:r>
            <a:endParaRPr lang="en-US" sz="1350" dirty="0"/>
          </a:p>
        </p:txBody>
      </p:sp>
      <p:sp>
        <p:nvSpPr>
          <p:cNvPr id="9" name="Shape 7"/>
          <p:cNvSpPr/>
          <p:nvPr/>
        </p:nvSpPr>
        <p:spPr>
          <a:xfrm>
            <a:off x="566928" y="2331720"/>
            <a:ext cx="2487168" cy="2514600"/>
          </a:xfrm>
          <a:prstGeom prst="roundRect">
            <a:avLst>
              <a:gd name="adj" fmla="val 2206"/>
            </a:avLst>
          </a:prstGeom>
          <a:solidFill>
            <a:srgbClr val="F2F5F4"/>
          </a:solidFill>
          <a:ln w="12700">
            <a:solidFill>
              <a:srgbClr val="F2F5F4"/>
            </a:solidFill>
            <a:prstDash val="solid"/>
          </a:ln>
        </p:spPr>
      </p:sp>
      <p:sp>
        <p:nvSpPr>
          <p:cNvPr id="10" name="Shape 8"/>
          <p:cNvSpPr/>
          <p:nvPr/>
        </p:nvSpPr>
        <p:spPr>
          <a:xfrm>
            <a:off x="822960" y="2606040"/>
            <a:ext cx="457200" cy="73152"/>
          </a:xfrm>
          <a:prstGeom prst="rect">
            <a:avLst/>
          </a:prstGeom>
          <a:solidFill>
            <a:srgbClr val="7FA99B"/>
          </a:solidFill>
          <a:ln/>
        </p:spPr>
      </p:sp>
      <p:sp>
        <p:nvSpPr>
          <p:cNvPr id="11" name="Text 9"/>
          <p:cNvSpPr/>
          <p:nvPr/>
        </p:nvSpPr>
        <p:spPr>
          <a:xfrm>
            <a:off x="822960" y="2761488"/>
            <a:ext cx="1975104" cy="201168"/>
          </a:xfrm>
          <a:prstGeom prst="rect">
            <a:avLst/>
          </a:prstGeom>
          <a:noFill/>
          <a:ln/>
        </p:spPr>
        <p:txBody>
          <a:bodyPr wrap="square" lIns="0" tIns="0" rIns="0" bIns="0" rtlCol="0" anchor="ctr"/>
          <a:lstStyle/>
          <a:p>
            <a:pPr indent="0" marL="0">
              <a:buNone/>
            </a:pPr>
            <a:r>
              <a:rPr lang="en-US" sz="850" b="1" spc="120" kern="0" dirty="0">
                <a:solidFill>
                  <a:srgbClr val="5A6B72"/>
                </a:solidFill>
                <a:latin typeface="Calibri" pitchFamily="34" charset="0"/>
                <a:ea typeface="Calibri" pitchFamily="34" charset="-122"/>
                <a:cs typeface="Calibri" pitchFamily="34" charset="-120"/>
              </a:rPr>
              <a:t>LOE 1</a:t>
            </a:r>
            <a:endParaRPr lang="en-US" sz="850" dirty="0"/>
          </a:p>
        </p:txBody>
      </p:sp>
      <p:sp>
        <p:nvSpPr>
          <p:cNvPr id="12" name="Text 10"/>
          <p:cNvSpPr/>
          <p:nvPr/>
        </p:nvSpPr>
        <p:spPr>
          <a:xfrm>
            <a:off x="822960" y="2980944"/>
            <a:ext cx="1975104" cy="411480"/>
          </a:xfrm>
          <a:prstGeom prst="rect">
            <a:avLst/>
          </a:prstGeom>
          <a:noFill/>
          <a:ln/>
        </p:spPr>
        <p:txBody>
          <a:bodyPr wrap="square" lIns="0" tIns="0" rIns="0" bIns="0" rtlCol="0" anchor="ctr"/>
          <a:lstStyle/>
          <a:p>
            <a:pPr indent="0" marL="0">
              <a:buNone/>
            </a:pPr>
            <a:r>
              <a:rPr lang="en-US" sz="1900" b="1" dirty="0">
                <a:solidFill>
                  <a:srgbClr val="12212B"/>
                </a:solidFill>
                <a:latin typeface="Cambria" pitchFamily="34" charset="0"/>
                <a:ea typeface="Cambria" pitchFamily="34" charset="-122"/>
                <a:cs typeface="Cambria" pitchFamily="34" charset="-120"/>
              </a:rPr>
              <a:t>EWP</a:t>
            </a:r>
            <a:endParaRPr lang="en-US" sz="1900" dirty="0"/>
          </a:p>
        </p:txBody>
      </p:sp>
      <p:sp>
        <p:nvSpPr>
          <p:cNvPr id="13" name="Text 11"/>
          <p:cNvSpPr/>
          <p:nvPr/>
        </p:nvSpPr>
        <p:spPr>
          <a:xfrm>
            <a:off x="822960" y="3456432"/>
            <a:ext cx="1975104" cy="731520"/>
          </a:xfrm>
          <a:prstGeom prst="rect">
            <a:avLst/>
          </a:prstGeom>
          <a:noFill/>
          <a:ln/>
        </p:spPr>
        <p:txBody>
          <a:bodyPr wrap="square" lIns="0" tIns="0" rIns="0" bIns="0" rtlCol="0" anchor="ctr"/>
          <a:lstStyle/>
          <a:p>
            <a:pPr indent="0" marL="0">
              <a:buNone/>
            </a:pPr>
            <a:r>
              <a:rPr lang="en-US" sz="1250" b="1" i="1" dirty="0">
                <a:solidFill>
                  <a:srgbClr val="7FA99B"/>
                </a:solidFill>
                <a:latin typeface="Calibri" pitchFamily="34" charset="0"/>
                <a:ea typeface="Calibri" pitchFamily="34" charset="-122"/>
                <a:cs typeface="Calibri" pitchFamily="34" charset="-120"/>
              </a:rPr>
              <a:t>Who may practice here, and at what scope?</a:t>
            </a:r>
            <a:endParaRPr lang="en-US" sz="1250" dirty="0"/>
          </a:p>
        </p:txBody>
      </p:sp>
      <p:sp>
        <p:nvSpPr>
          <p:cNvPr id="14" name="Text 12"/>
          <p:cNvSpPr/>
          <p:nvPr/>
        </p:nvSpPr>
        <p:spPr>
          <a:xfrm>
            <a:off x="822960" y="4279392"/>
            <a:ext cx="1975104" cy="411480"/>
          </a:xfrm>
          <a:prstGeom prst="rect">
            <a:avLst/>
          </a:prstGeom>
          <a:noFill/>
          <a:ln/>
        </p:spPr>
        <p:txBody>
          <a:bodyPr wrap="square" lIns="0" tIns="0" rIns="0" bIns="0" rtlCol="0" anchor="ctr"/>
          <a:lstStyle/>
          <a:p>
            <a:pPr indent="0" marL="0">
              <a:buNone/>
            </a:pPr>
            <a:r>
              <a:rPr lang="en-US" sz="1200" dirty="0">
                <a:solidFill>
                  <a:srgbClr val="5A6B72"/>
                </a:solidFill>
                <a:latin typeface="Calibri" pitchFamily="34" charset="0"/>
                <a:ea typeface="Calibri" pitchFamily="34" charset="-122"/>
                <a:cs typeface="Calibri" pitchFamily="34" charset="-120"/>
              </a:rPr>
              <a:t>Authorize the provider</a:t>
            </a:r>
            <a:endParaRPr lang="en-US" sz="1200" dirty="0"/>
          </a:p>
        </p:txBody>
      </p:sp>
      <p:sp>
        <p:nvSpPr>
          <p:cNvPr id="15" name="Text 13"/>
          <p:cNvSpPr/>
          <p:nvPr/>
        </p:nvSpPr>
        <p:spPr>
          <a:xfrm>
            <a:off x="3072384" y="3291840"/>
            <a:ext cx="347472" cy="365760"/>
          </a:xfrm>
          <a:prstGeom prst="rect">
            <a:avLst/>
          </a:prstGeom>
          <a:noFill/>
          <a:ln/>
        </p:spPr>
        <p:txBody>
          <a:bodyPr wrap="square" lIns="0" tIns="0" rIns="0" bIns="0" rtlCol="0" anchor="ctr"/>
          <a:lstStyle/>
          <a:p>
            <a:pPr algn="ctr" indent="0" marL="0">
              <a:buNone/>
            </a:pPr>
            <a:r>
              <a:rPr lang="en-US" sz="1700" dirty="0">
                <a:solidFill>
                  <a:srgbClr val="C9D6DB"/>
                </a:solidFill>
              </a:rPr>
              <a:t>→</a:t>
            </a:r>
            <a:endParaRPr lang="en-US" sz="1700" dirty="0"/>
          </a:p>
        </p:txBody>
      </p:sp>
      <p:sp>
        <p:nvSpPr>
          <p:cNvPr id="16" name="Shape 14"/>
          <p:cNvSpPr/>
          <p:nvPr/>
        </p:nvSpPr>
        <p:spPr>
          <a:xfrm>
            <a:off x="3438144" y="2331720"/>
            <a:ext cx="2487168" cy="2514600"/>
          </a:xfrm>
          <a:prstGeom prst="roundRect">
            <a:avLst>
              <a:gd name="adj" fmla="val 2206"/>
            </a:avLst>
          </a:prstGeom>
          <a:solidFill>
            <a:srgbClr val="F2F5F4"/>
          </a:solidFill>
          <a:ln w="12700">
            <a:solidFill>
              <a:srgbClr val="F2F5F4"/>
            </a:solidFill>
            <a:prstDash val="solid"/>
          </a:ln>
        </p:spPr>
      </p:sp>
      <p:sp>
        <p:nvSpPr>
          <p:cNvPr id="17" name="Shape 15"/>
          <p:cNvSpPr/>
          <p:nvPr/>
        </p:nvSpPr>
        <p:spPr>
          <a:xfrm>
            <a:off x="3694176" y="2606040"/>
            <a:ext cx="457200" cy="73152"/>
          </a:xfrm>
          <a:prstGeom prst="rect">
            <a:avLst/>
          </a:prstGeom>
          <a:solidFill>
            <a:srgbClr val="1C5D66"/>
          </a:solidFill>
          <a:ln/>
        </p:spPr>
      </p:sp>
      <p:sp>
        <p:nvSpPr>
          <p:cNvPr id="18" name="Text 16"/>
          <p:cNvSpPr/>
          <p:nvPr/>
        </p:nvSpPr>
        <p:spPr>
          <a:xfrm>
            <a:off x="3694176" y="2761488"/>
            <a:ext cx="1975104" cy="201168"/>
          </a:xfrm>
          <a:prstGeom prst="rect">
            <a:avLst/>
          </a:prstGeom>
          <a:noFill/>
          <a:ln/>
        </p:spPr>
        <p:txBody>
          <a:bodyPr wrap="square" lIns="0" tIns="0" rIns="0" bIns="0" rtlCol="0" anchor="ctr"/>
          <a:lstStyle/>
          <a:p>
            <a:pPr indent="0" marL="0">
              <a:buNone/>
            </a:pPr>
            <a:r>
              <a:rPr lang="en-US" sz="850" b="1" spc="120" kern="0" dirty="0">
                <a:solidFill>
                  <a:srgbClr val="5A6B72"/>
                </a:solidFill>
                <a:latin typeface="Calibri" pitchFamily="34" charset="0"/>
                <a:ea typeface="Calibri" pitchFamily="34" charset="-122"/>
                <a:cs typeface="Calibri" pitchFamily="34" charset="-120"/>
              </a:rPr>
              <a:t>LOE 2</a:t>
            </a:r>
            <a:endParaRPr lang="en-US" sz="850" dirty="0"/>
          </a:p>
        </p:txBody>
      </p:sp>
      <p:sp>
        <p:nvSpPr>
          <p:cNvPr id="19" name="Text 17"/>
          <p:cNvSpPr/>
          <p:nvPr/>
        </p:nvSpPr>
        <p:spPr>
          <a:xfrm>
            <a:off x="3694176" y="2980944"/>
            <a:ext cx="1975104" cy="411480"/>
          </a:xfrm>
          <a:prstGeom prst="rect">
            <a:avLst/>
          </a:prstGeom>
          <a:noFill/>
          <a:ln/>
        </p:spPr>
        <p:txBody>
          <a:bodyPr wrap="square" lIns="0" tIns="0" rIns="0" bIns="0" rtlCol="0" anchor="ctr"/>
          <a:lstStyle/>
          <a:p>
            <a:pPr indent="0" marL="0">
              <a:buNone/>
            </a:pPr>
            <a:r>
              <a:rPr lang="en-US" sz="1900" b="1" dirty="0">
                <a:solidFill>
                  <a:srgbClr val="12212B"/>
                </a:solidFill>
                <a:latin typeface="Cambria" pitchFamily="34" charset="0"/>
                <a:ea typeface="Cambria" pitchFamily="34" charset="-122"/>
                <a:cs typeface="Cambria" pitchFamily="34" charset="-120"/>
              </a:rPr>
              <a:t>CSC / PACE</a:t>
            </a:r>
            <a:endParaRPr lang="en-US" sz="1900" dirty="0"/>
          </a:p>
        </p:txBody>
      </p:sp>
      <p:sp>
        <p:nvSpPr>
          <p:cNvPr id="20" name="Text 18"/>
          <p:cNvSpPr/>
          <p:nvPr/>
        </p:nvSpPr>
        <p:spPr>
          <a:xfrm>
            <a:off x="3694176" y="3456432"/>
            <a:ext cx="1975104" cy="731520"/>
          </a:xfrm>
          <a:prstGeom prst="rect">
            <a:avLst/>
          </a:prstGeom>
          <a:noFill/>
          <a:ln/>
        </p:spPr>
        <p:txBody>
          <a:bodyPr wrap="square" lIns="0" tIns="0" rIns="0" bIns="0" rtlCol="0" anchor="ctr"/>
          <a:lstStyle/>
          <a:p>
            <a:pPr indent="0" marL="0">
              <a:buNone/>
            </a:pPr>
            <a:r>
              <a:rPr lang="en-US" sz="1250" b="1" i="1" dirty="0">
                <a:solidFill>
                  <a:srgbClr val="1C5D66"/>
                </a:solidFill>
                <a:latin typeface="Calibri" pitchFamily="34" charset="0"/>
                <a:ea typeface="Calibri" pitchFamily="34" charset="-122"/>
                <a:cs typeface="Calibri" pitchFamily="34" charset="-120"/>
              </a:rPr>
              <a:t>What is good care, right now?</a:t>
            </a:r>
            <a:endParaRPr lang="en-US" sz="1250" dirty="0"/>
          </a:p>
        </p:txBody>
      </p:sp>
      <p:sp>
        <p:nvSpPr>
          <p:cNvPr id="21" name="Text 19"/>
          <p:cNvSpPr/>
          <p:nvPr/>
        </p:nvSpPr>
        <p:spPr>
          <a:xfrm>
            <a:off x="3694176" y="4279392"/>
            <a:ext cx="1975104" cy="411480"/>
          </a:xfrm>
          <a:prstGeom prst="rect">
            <a:avLst/>
          </a:prstGeom>
          <a:noFill/>
          <a:ln/>
        </p:spPr>
        <p:txBody>
          <a:bodyPr wrap="square" lIns="0" tIns="0" rIns="0" bIns="0" rtlCol="0" anchor="ctr"/>
          <a:lstStyle/>
          <a:p>
            <a:pPr indent="0" marL="0">
              <a:buNone/>
            </a:pPr>
            <a:r>
              <a:rPr lang="en-US" sz="1200" dirty="0">
                <a:solidFill>
                  <a:srgbClr val="5A6B72"/>
                </a:solidFill>
                <a:latin typeface="Calibri" pitchFamily="34" charset="0"/>
                <a:ea typeface="Calibri" pitchFamily="34" charset="-122"/>
                <a:cs typeface="Calibri" pitchFamily="34" charset="-120"/>
              </a:rPr>
              <a:t>Define the standard</a:t>
            </a:r>
            <a:endParaRPr lang="en-US" sz="1200" dirty="0"/>
          </a:p>
        </p:txBody>
      </p:sp>
      <p:sp>
        <p:nvSpPr>
          <p:cNvPr id="22" name="Text 20"/>
          <p:cNvSpPr/>
          <p:nvPr/>
        </p:nvSpPr>
        <p:spPr>
          <a:xfrm>
            <a:off x="5943600" y="3291840"/>
            <a:ext cx="347472" cy="365760"/>
          </a:xfrm>
          <a:prstGeom prst="rect">
            <a:avLst/>
          </a:prstGeom>
          <a:noFill/>
          <a:ln/>
        </p:spPr>
        <p:txBody>
          <a:bodyPr wrap="square" lIns="0" tIns="0" rIns="0" bIns="0" rtlCol="0" anchor="ctr"/>
          <a:lstStyle/>
          <a:p>
            <a:pPr algn="ctr" indent="0" marL="0">
              <a:buNone/>
            </a:pPr>
            <a:r>
              <a:rPr lang="en-US" sz="1700" dirty="0">
                <a:solidFill>
                  <a:srgbClr val="C9D6DB"/>
                </a:solidFill>
              </a:rPr>
              <a:t>→</a:t>
            </a:r>
            <a:endParaRPr lang="en-US" sz="1700" dirty="0"/>
          </a:p>
        </p:txBody>
      </p:sp>
      <p:sp>
        <p:nvSpPr>
          <p:cNvPr id="23" name="Shape 21"/>
          <p:cNvSpPr/>
          <p:nvPr/>
        </p:nvSpPr>
        <p:spPr>
          <a:xfrm>
            <a:off x="6309360" y="2331720"/>
            <a:ext cx="2487168" cy="2514600"/>
          </a:xfrm>
          <a:prstGeom prst="roundRect">
            <a:avLst>
              <a:gd name="adj" fmla="val 2206"/>
            </a:avLst>
          </a:prstGeom>
          <a:solidFill>
            <a:srgbClr val="F2F5F4"/>
          </a:solidFill>
          <a:ln w="12700">
            <a:solidFill>
              <a:srgbClr val="F2F5F4"/>
            </a:solidFill>
            <a:prstDash val="solid"/>
          </a:ln>
        </p:spPr>
      </p:sp>
      <p:sp>
        <p:nvSpPr>
          <p:cNvPr id="24" name="Shape 22"/>
          <p:cNvSpPr/>
          <p:nvPr/>
        </p:nvSpPr>
        <p:spPr>
          <a:xfrm>
            <a:off x="6565392" y="2606040"/>
            <a:ext cx="457200" cy="73152"/>
          </a:xfrm>
          <a:prstGeom prst="rect">
            <a:avLst/>
          </a:prstGeom>
          <a:solidFill>
            <a:srgbClr val="C25E3A"/>
          </a:solidFill>
          <a:ln/>
        </p:spPr>
      </p:sp>
      <p:sp>
        <p:nvSpPr>
          <p:cNvPr id="25" name="Text 23"/>
          <p:cNvSpPr/>
          <p:nvPr/>
        </p:nvSpPr>
        <p:spPr>
          <a:xfrm>
            <a:off x="6565392" y="2761488"/>
            <a:ext cx="1975104" cy="201168"/>
          </a:xfrm>
          <a:prstGeom prst="rect">
            <a:avLst/>
          </a:prstGeom>
          <a:noFill/>
          <a:ln/>
        </p:spPr>
        <p:txBody>
          <a:bodyPr wrap="square" lIns="0" tIns="0" rIns="0" bIns="0" rtlCol="0" anchor="ctr"/>
          <a:lstStyle/>
          <a:p>
            <a:pPr indent="0" marL="0">
              <a:buNone/>
            </a:pPr>
            <a:r>
              <a:rPr lang="en-US" sz="850" b="1" spc="120" kern="0" dirty="0">
                <a:solidFill>
                  <a:srgbClr val="5A6B72"/>
                </a:solidFill>
                <a:latin typeface="Calibri" pitchFamily="34" charset="0"/>
                <a:ea typeface="Calibri" pitchFamily="34" charset="-122"/>
                <a:cs typeface="Calibri" pitchFamily="34" charset="-120"/>
              </a:rPr>
              <a:t>LOE 3</a:t>
            </a:r>
            <a:endParaRPr lang="en-US" sz="850" dirty="0"/>
          </a:p>
        </p:txBody>
      </p:sp>
      <p:sp>
        <p:nvSpPr>
          <p:cNvPr id="26" name="Text 24"/>
          <p:cNvSpPr/>
          <p:nvPr/>
        </p:nvSpPr>
        <p:spPr>
          <a:xfrm>
            <a:off x="6565392" y="2980944"/>
            <a:ext cx="1975104" cy="411480"/>
          </a:xfrm>
          <a:prstGeom prst="rect">
            <a:avLst/>
          </a:prstGeom>
          <a:noFill/>
          <a:ln/>
        </p:spPr>
        <p:txBody>
          <a:bodyPr wrap="square" lIns="0" tIns="0" rIns="0" bIns="0" rtlCol="0" anchor="ctr"/>
          <a:lstStyle/>
          <a:p>
            <a:pPr indent="0" marL="0">
              <a:buNone/>
            </a:pPr>
            <a:r>
              <a:rPr lang="en-US" sz="1900" b="1" dirty="0">
                <a:solidFill>
                  <a:srgbClr val="12212B"/>
                </a:solidFill>
                <a:latin typeface="Cambria" pitchFamily="34" charset="0"/>
                <a:ea typeface="Cambria" pitchFamily="34" charset="-122"/>
                <a:cs typeface="Cambria" pitchFamily="34" charset="-120"/>
              </a:rPr>
              <a:t>Simulation</a:t>
            </a:r>
            <a:endParaRPr lang="en-US" sz="1900" dirty="0"/>
          </a:p>
        </p:txBody>
      </p:sp>
      <p:sp>
        <p:nvSpPr>
          <p:cNvPr id="27" name="Text 25"/>
          <p:cNvSpPr/>
          <p:nvPr/>
        </p:nvSpPr>
        <p:spPr>
          <a:xfrm>
            <a:off x="6565392" y="3456432"/>
            <a:ext cx="1975104" cy="731520"/>
          </a:xfrm>
          <a:prstGeom prst="rect">
            <a:avLst/>
          </a:prstGeom>
          <a:noFill/>
          <a:ln/>
        </p:spPr>
        <p:txBody>
          <a:bodyPr wrap="square" lIns="0" tIns="0" rIns="0" bIns="0" rtlCol="0" anchor="ctr"/>
          <a:lstStyle/>
          <a:p>
            <a:pPr indent="0" marL="0">
              <a:buNone/>
            </a:pPr>
            <a:r>
              <a:rPr lang="en-US" sz="1250" b="1" i="1" dirty="0">
                <a:solidFill>
                  <a:srgbClr val="C25E3A"/>
                </a:solidFill>
                <a:latin typeface="Calibri" pitchFamily="34" charset="0"/>
                <a:ea typeface="Calibri" pitchFamily="34" charset="-122"/>
                <a:cs typeface="Calibri" pitchFamily="34" charset="-120"/>
              </a:rPr>
              <a:t>Where does the configuration break?</a:t>
            </a:r>
            <a:endParaRPr lang="en-US" sz="1250" dirty="0"/>
          </a:p>
        </p:txBody>
      </p:sp>
      <p:sp>
        <p:nvSpPr>
          <p:cNvPr id="28" name="Text 26"/>
          <p:cNvSpPr/>
          <p:nvPr/>
        </p:nvSpPr>
        <p:spPr>
          <a:xfrm>
            <a:off x="6565392" y="4279392"/>
            <a:ext cx="1975104" cy="411480"/>
          </a:xfrm>
          <a:prstGeom prst="rect">
            <a:avLst/>
          </a:prstGeom>
          <a:noFill/>
          <a:ln/>
        </p:spPr>
        <p:txBody>
          <a:bodyPr wrap="square" lIns="0" tIns="0" rIns="0" bIns="0" rtlCol="0" anchor="ctr"/>
          <a:lstStyle/>
          <a:p>
            <a:pPr indent="0" marL="0">
              <a:buNone/>
            </a:pPr>
            <a:r>
              <a:rPr lang="en-US" sz="1200" dirty="0">
                <a:solidFill>
                  <a:srgbClr val="5A6B72"/>
                </a:solidFill>
                <a:latin typeface="Calibri" pitchFamily="34" charset="0"/>
                <a:ea typeface="Calibri" pitchFamily="34" charset="-122"/>
                <a:cs typeface="Calibri" pitchFamily="34" charset="-120"/>
              </a:rPr>
              <a:t>Test before deploying</a:t>
            </a:r>
            <a:endParaRPr lang="en-US" sz="1200" dirty="0"/>
          </a:p>
        </p:txBody>
      </p:sp>
      <p:sp>
        <p:nvSpPr>
          <p:cNvPr id="29" name="Text 27"/>
          <p:cNvSpPr/>
          <p:nvPr/>
        </p:nvSpPr>
        <p:spPr>
          <a:xfrm>
            <a:off x="8814816" y="3291840"/>
            <a:ext cx="347472" cy="365760"/>
          </a:xfrm>
          <a:prstGeom prst="rect">
            <a:avLst/>
          </a:prstGeom>
          <a:noFill/>
          <a:ln/>
        </p:spPr>
        <p:txBody>
          <a:bodyPr wrap="square" lIns="0" tIns="0" rIns="0" bIns="0" rtlCol="0" anchor="ctr"/>
          <a:lstStyle/>
          <a:p>
            <a:pPr algn="ctr" indent="0" marL="0">
              <a:buNone/>
            </a:pPr>
            <a:r>
              <a:rPr lang="en-US" sz="1700" dirty="0">
                <a:solidFill>
                  <a:srgbClr val="C9D6DB"/>
                </a:solidFill>
              </a:rPr>
              <a:t>→</a:t>
            </a:r>
            <a:endParaRPr lang="en-US" sz="1700" dirty="0"/>
          </a:p>
        </p:txBody>
      </p:sp>
      <p:sp>
        <p:nvSpPr>
          <p:cNvPr id="30" name="Shape 28"/>
          <p:cNvSpPr/>
          <p:nvPr/>
        </p:nvSpPr>
        <p:spPr>
          <a:xfrm>
            <a:off x="9180576" y="2331720"/>
            <a:ext cx="2487168" cy="2514600"/>
          </a:xfrm>
          <a:prstGeom prst="roundRect">
            <a:avLst>
              <a:gd name="adj" fmla="val 2206"/>
            </a:avLst>
          </a:prstGeom>
          <a:solidFill>
            <a:srgbClr val="F2F5F4"/>
          </a:solidFill>
          <a:ln w="12700">
            <a:solidFill>
              <a:srgbClr val="F2F5F4"/>
            </a:solidFill>
            <a:prstDash val="solid"/>
          </a:ln>
        </p:spPr>
      </p:sp>
      <p:sp>
        <p:nvSpPr>
          <p:cNvPr id="31" name="Shape 29"/>
          <p:cNvSpPr/>
          <p:nvPr/>
        </p:nvSpPr>
        <p:spPr>
          <a:xfrm>
            <a:off x="9436608" y="2606040"/>
            <a:ext cx="457200" cy="73152"/>
          </a:xfrm>
          <a:prstGeom prst="rect">
            <a:avLst/>
          </a:prstGeom>
          <a:solidFill>
            <a:srgbClr val="12212B"/>
          </a:solidFill>
          <a:ln/>
        </p:spPr>
      </p:sp>
      <p:sp>
        <p:nvSpPr>
          <p:cNvPr id="32" name="Text 30"/>
          <p:cNvSpPr/>
          <p:nvPr/>
        </p:nvSpPr>
        <p:spPr>
          <a:xfrm>
            <a:off x="9436608" y="2761488"/>
            <a:ext cx="1975104" cy="201168"/>
          </a:xfrm>
          <a:prstGeom prst="rect">
            <a:avLst/>
          </a:prstGeom>
          <a:noFill/>
          <a:ln/>
        </p:spPr>
        <p:txBody>
          <a:bodyPr wrap="square" lIns="0" tIns="0" rIns="0" bIns="0" rtlCol="0" anchor="ctr"/>
          <a:lstStyle/>
          <a:p>
            <a:pPr indent="0" marL="0">
              <a:buNone/>
            </a:pPr>
            <a:r>
              <a:rPr lang="en-US" sz="850" b="1" spc="120" kern="0" dirty="0">
                <a:solidFill>
                  <a:srgbClr val="5A6B72"/>
                </a:solidFill>
                <a:latin typeface="Calibri" pitchFamily="34" charset="0"/>
                <a:ea typeface="Calibri" pitchFamily="34" charset="-122"/>
                <a:cs typeface="Calibri" pitchFamily="34" charset="-120"/>
              </a:rPr>
              <a:t>ENABLING</a:t>
            </a:r>
            <a:endParaRPr lang="en-US" sz="850" dirty="0"/>
          </a:p>
        </p:txBody>
      </p:sp>
      <p:sp>
        <p:nvSpPr>
          <p:cNvPr id="33" name="Text 31"/>
          <p:cNvSpPr/>
          <p:nvPr/>
        </p:nvSpPr>
        <p:spPr>
          <a:xfrm>
            <a:off x="9436608" y="2980944"/>
            <a:ext cx="1975104" cy="411480"/>
          </a:xfrm>
          <a:prstGeom prst="rect">
            <a:avLst/>
          </a:prstGeom>
          <a:noFill/>
          <a:ln/>
        </p:spPr>
        <p:txBody>
          <a:bodyPr wrap="square" lIns="0" tIns="0" rIns="0" bIns="0" rtlCol="0" anchor="ctr"/>
          <a:lstStyle/>
          <a:p>
            <a:pPr indent="0" marL="0">
              <a:buNone/>
            </a:pPr>
            <a:r>
              <a:rPr lang="en-US" sz="1900" b="1" dirty="0">
                <a:solidFill>
                  <a:srgbClr val="12212B"/>
                </a:solidFill>
                <a:latin typeface="Cambria" pitchFamily="34" charset="0"/>
                <a:ea typeface="Cambria" pitchFamily="34" charset="-122"/>
                <a:cs typeface="Cambria" pitchFamily="34" charset="-120"/>
              </a:rPr>
              <a:t>Measure Dx</a:t>
            </a:r>
            <a:endParaRPr lang="en-US" sz="1900" dirty="0"/>
          </a:p>
        </p:txBody>
      </p:sp>
      <p:sp>
        <p:nvSpPr>
          <p:cNvPr id="34" name="Text 32"/>
          <p:cNvSpPr/>
          <p:nvPr/>
        </p:nvSpPr>
        <p:spPr>
          <a:xfrm>
            <a:off x="9436608" y="3456432"/>
            <a:ext cx="1975104" cy="731520"/>
          </a:xfrm>
          <a:prstGeom prst="rect">
            <a:avLst/>
          </a:prstGeom>
          <a:noFill/>
          <a:ln/>
        </p:spPr>
        <p:txBody>
          <a:bodyPr wrap="square" lIns="0" tIns="0" rIns="0" bIns="0" rtlCol="0" anchor="ctr"/>
          <a:lstStyle/>
          <a:p>
            <a:pPr indent="0" marL="0">
              <a:buNone/>
            </a:pPr>
            <a:r>
              <a:rPr lang="en-US" sz="1250" b="1" i="1" dirty="0">
                <a:solidFill>
                  <a:srgbClr val="12212B"/>
                </a:solidFill>
                <a:latin typeface="Calibri" pitchFamily="34" charset="0"/>
                <a:ea typeface="Calibri" pitchFamily="34" charset="-122"/>
                <a:cs typeface="Calibri" pitchFamily="34" charset="-120"/>
              </a:rPr>
              <a:t>What did we actually miss?</a:t>
            </a:r>
            <a:endParaRPr lang="en-US" sz="1250" dirty="0"/>
          </a:p>
        </p:txBody>
      </p:sp>
      <p:sp>
        <p:nvSpPr>
          <p:cNvPr id="35" name="Text 33"/>
          <p:cNvSpPr/>
          <p:nvPr/>
        </p:nvSpPr>
        <p:spPr>
          <a:xfrm>
            <a:off x="9436608" y="4279392"/>
            <a:ext cx="1975104" cy="411480"/>
          </a:xfrm>
          <a:prstGeom prst="rect">
            <a:avLst/>
          </a:prstGeom>
          <a:noFill/>
          <a:ln/>
        </p:spPr>
        <p:txBody>
          <a:bodyPr wrap="square" lIns="0" tIns="0" rIns="0" bIns="0" rtlCol="0" anchor="ctr"/>
          <a:lstStyle/>
          <a:p>
            <a:pPr indent="0" marL="0">
              <a:buNone/>
            </a:pPr>
            <a:r>
              <a:rPr lang="en-US" sz="1200" dirty="0">
                <a:solidFill>
                  <a:srgbClr val="5A6B72"/>
                </a:solidFill>
                <a:latin typeface="Calibri" pitchFamily="34" charset="0"/>
                <a:ea typeface="Calibri" pitchFamily="34" charset="-122"/>
                <a:cs typeface="Calibri" pitchFamily="34" charset="-120"/>
              </a:rPr>
              <a:t>Detect in the record</a:t>
            </a:r>
            <a:endParaRPr lang="en-US" sz="1200" dirty="0"/>
          </a:p>
        </p:txBody>
      </p:sp>
      <p:sp>
        <p:nvSpPr>
          <p:cNvPr id="36" name="Shape 34"/>
          <p:cNvSpPr/>
          <p:nvPr/>
        </p:nvSpPr>
        <p:spPr>
          <a:xfrm>
            <a:off x="566928" y="5120640"/>
            <a:ext cx="10881360" cy="841248"/>
          </a:xfrm>
          <a:prstGeom prst="roundRect">
            <a:avLst>
              <a:gd name="adj" fmla="val 5435"/>
            </a:avLst>
          </a:prstGeom>
          <a:solidFill>
            <a:srgbClr val="12212B"/>
          </a:solidFill>
          <a:ln w="12700">
            <a:solidFill>
              <a:srgbClr val="12212B"/>
            </a:solidFill>
            <a:prstDash val="solid"/>
          </a:ln>
        </p:spPr>
      </p:sp>
      <p:sp>
        <p:nvSpPr>
          <p:cNvPr id="37" name="Text 35"/>
          <p:cNvSpPr/>
          <p:nvPr/>
        </p:nvSpPr>
        <p:spPr>
          <a:xfrm>
            <a:off x="914400" y="5120640"/>
            <a:ext cx="10149840" cy="84124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The loop closes.  </a:t>
            </a:r>
            <a:pPr indent="0" marL="0">
              <a:buNone/>
            </a:pPr>
            <a:r>
              <a:rPr lang="en-US" sz="1300" dirty="0">
                <a:solidFill>
                  <a:srgbClr val="C9D6DB"/>
                </a:solidFill>
                <a:latin typeface="Calibri" pitchFamily="34" charset="0"/>
                <a:ea typeface="Calibri" pitchFamily="34" charset="-122"/>
                <a:cs typeface="Calibri" pitchFamily="34" charset="-120"/>
              </a:rPr>
              <a:t>What Measure Dx detects in the record becomes the next scenario the simulation tests, and the next trigger the PACE framework names.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37744"/>
          </a:xfrm>
          <a:prstGeom prst="rect">
            <a:avLst/>
          </a:prstGeom>
          <a:noFill/>
          <a:ln/>
        </p:spPr>
        <p:txBody>
          <a:bodyPr wrap="square" lIns="0" tIns="0" rIns="0" bIns="0" rtlCol="0" anchor="ctr"/>
          <a:lstStyle/>
          <a:p>
            <a:pPr indent="0" marL="0">
              <a:buNone/>
            </a:pPr>
            <a:r>
              <a:rPr lang="en-US" sz="1100" b="1" spc="160" kern="0" dirty="0">
                <a:solidFill>
                  <a:srgbClr val="C25E3A"/>
                </a:solidFill>
                <a:latin typeface="Calibri" pitchFamily="34" charset="0"/>
                <a:ea typeface="Calibri" pitchFamily="34" charset="-122"/>
                <a:cs typeface="Calibri" pitchFamily="34" charset="-120"/>
              </a:rPr>
              <a:t>LINE OF EFFORT 1</a:t>
            </a:r>
            <a:endParaRPr lang="en-US" sz="1100" dirty="0"/>
          </a:p>
        </p:txBody>
      </p:sp>
      <p:sp>
        <p:nvSpPr>
          <p:cNvPr id="3" name="Text 1"/>
          <p:cNvSpPr/>
          <p:nvPr/>
        </p:nvSpPr>
        <p:spPr>
          <a:xfrm>
            <a:off x="548640" y="640080"/>
            <a:ext cx="11064240" cy="749808"/>
          </a:xfrm>
          <a:prstGeom prst="rect">
            <a:avLst/>
          </a:prstGeom>
          <a:noFill/>
          <a:ln/>
        </p:spPr>
        <p:txBody>
          <a:bodyPr wrap="square" lIns="0" tIns="0" rIns="0" bIns="0" rtlCol="0" anchor="ctr"/>
          <a:lstStyle/>
          <a:p>
            <a:pPr indent="0" marL="0">
              <a:buNone/>
            </a:pPr>
            <a:r>
              <a:rPr lang="en-US" sz="3000" b="1" dirty="0">
                <a:solidFill>
                  <a:srgbClr val="12212B"/>
                </a:solidFill>
                <a:latin typeface="Cambria" pitchFamily="34" charset="0"/>
                <a:ea typeface="Cambria" pitchFamily="34" charset="-122"/>
                <a:cs typeface="Cambria" pitchFamily="34" charset="-120"/>
              </a:rPr>
              <a:t>Enterprise-Wide Privileging</a:t>
            </a:r>
            <a:endParaRPr lang="en-US" sz="3000" dirty="0"/>
          </a:p>
        </p:txBody>
      </p:sp>
      <p:sp>
        <p:nvSpPr>
          <p:cNvPr id="4" name="Shape 2"/>
          <p:cNvSpPr/>
          <p:nvPr/>
        </p:nvSpPr>
        <p:spPr>
          <a:xfrm>
            <a:off x="566928" y="1389888"/>
            <a:ext cx="342900" cy="64008"/>
          </a:xfrm>
          <a:prstGeom prst="rect">
            <a:avLst/>
          </a:prstGeom>
          <a:solidFill>
            <a:srgbClr val="2E7D5B"/>
          </a:solidFill>
          <a:ln/>
        </p:spPr>
      </p:sp>
      <p:sp>
        <p:nvSpPr>
          <p:cNvPr id="5" name="Shape 3"/>
          <p:cNvSpPr/>
          <p:nvPr/>
        </p:nvSpPr>
        <p:spPr>
          <a:xfrm>
            <a:off x="909828" y="1389888"/>
            <a:ext cx="342900" cy="64008"/>
          </a:xfrm>
          <a:prstGeom prst="rect">
            <a:avLst/>
          </a:prstGeom>
          <a:solidFill>
            <a:srgbClr val="B8912F"/>
          </a:solidFill>
          <a:ln/>
        </p:spPr>
      </p:sp>
      <p:sp>
        <p:nvSpPr>
          <p:cNvPr id="6" name="Shape 4"/>
          <p:cNvSpPr/>
          <p:nvPr/>
        </p:nvSpPr>
        <p:spPr>
          <a:xfrm>
            <a:off x="1252728" y="1389888"/>
            <a:ext cx="342900" cy="64008"/>
          </a:xfrm>
          <a:prstGeom prst="rect">
            <a:avLst/>
          </a:prstGeom>
          <a:solidFill>
            <a:srgbClr val="C25E3A"/>
          </a:solidFill>
          <a:ln/>
        </p:spPr>
      </p:sp>
      <p:sp>
        <p:nvSpPr>
          <p:cNvPr id="7" name="Shape 5"/>
          <p:cNvSpPr/>
          <p:nvPr/>
        </p:nvSpPr>
        <p:spPr>
          <a:xfrm>
            <a:off x="1595628" y="1389888"/>
            <a:ext cx="342900" cy="64008"/>
          </a:xfrm>
          <a:prstGeom prst="rect">
            <a:avLst/>
          </a:prstGeom>
          <a:solidFill>
            <a:srgbClr val="9B2C2C"/>
          </a:solidFill>
          <a:ln/>
        </p:spPr>
      </p:sp>
      <p:sp>
        <p:nvSpPr>
          <p:cNvPr id="8" name="Text 6"/>
          <p:cNvSpPr/>
          <p:nvPr/>
        </p:nvSpPr>
        <p:spPr>
          <a:xfrm>
            <a:off x="566928" y="1691640"/>
            <a:ext cx="6903720" cy="1170432"/>
          </a:xfrm>
          <a:prstGeom prst="rect">
            <a:avLst/>
          </a:prstGeom>
          <a:noFill/>
          <a:ln/>
        </p:spPr>
        <p:txBody>
          <a:bodyPr wrap="square" lIns="0" tIns="0" rIns="0" bIns="0" rtlCol="0" anchor="ctr"/>
          <a:lstStyle/>
          <a:p>
            <a:pPr indent="0" marL="0">
              <a:lnSpc>
                <a:spcPts val="1800"/>
              </a:lnSpc>
              <a:buNone/>
            </a:pPr>
            <a:r>
              <a:rPr lang="en-US" sz="1250" dirty="0">
                <a:solidFill>
                  <a:srgbClr val="5A6B72"/>
                </a:solidFill>
                <a:latin typeface="Calibri" pitchFamily="34" charset="0"/>
                <a:ea typeface="Calibri" pitchFamily="34" charset="-122"/>
                <a:cs typeface="Calibri" pitchFamily="34" charset="-120"/>
              </a:rPr>
              <a:t>Privileges are now MHS privileges — portable across the enterprise without a re-privileging action, held to the top of the provider's training rather than to the gaining facility's scope. The gaining command no longer adjudicates competence; it authorizes practice. For I MEF that means inheriting privileged providers on a five-business-day clock and catching the exceptions before arrival, not after.</a:t>
            </a:r>
            <a:endParaRPr lang="en-US" sz="1250" dirty="0"/>
          </a:p>
        </p:txBody>
      </p:sp>
      <p:sp>
        <p:nvSpPr>
          <p:cNvPr id="9" name="Text 7"/>
          <p:cNvSpPr/>
          <p:nvPr/>
        </p:nvSpPr>
        <p:spPr>
          <a:xfrm>
            <a:off x="566928" y="3017520"/>
            <a:ext cx="6903720" cy="219456"/>
          </a:xfrm>
          <a:prstGeom prst="rect">
            <a:avLst/>
          </a:prstGeom>
          <a:noFill/>
          <a:ln/>
        </p:spPr>
        <p:txBody>
          <a:bodyPr wrap="square" lIns="0" tIns="0" rIns="0" bIns="0" rtlCol="0" anchor="ctr"/>
          <a:lstStyle/>
          <a:p>
            <a:pPr indent="0" marL="0">
              <a:buNone/>
            </a:pPr>
            <a:r>
              <a:rPr lang="en-US" sz="1000" b="1" spc="140" kern="0" dirty="0">
                <a:solidFill>
                  <a:srgbClr val="C25E3A"/>
                </a:solidFill>
                <a:latin typeface="Calibri" pitchFamily="34" charset="0"/>
                <a:ea typeface="Calibri" pitchFamily="34" charset="-122"/>
                <a:cs typeface="Calibri" pitchFamily="34" charset="-120"/>
              </a:rPr>
              <a:t>THE CLOCK</a:t>
            </a:r>
            <a:endParaRPr lang="en-US" sz="1000" dirty="0"/>
          </a:p>
        </p:txBody>
      </p:sp>
      <p:sp>
        <p:nvSpPr>
          <p:cNvPr id="10" name="Shape 8"/>
          <p:cNvSpPr/>
          <p:nvPr/>
        </p:nvSpPr>
        <p:spPr>
          <a:xfrm>
            <a:off x="566928" y="3383280"/>
            <a:ext cx="118872" cy="118872"/>
          </a:xfrm>
          <a:prstGeom prst="ellipse">
            <a:avLst/>
          </a:prstGeom>
          <a:solidFill>
            <a:srgbClr val="7FA99B"/>
          </a:solidFill>
          <a:ln/>
        </p:spPr>
      </p:sp>
      <p:sp>
        <p:nvSpPr>
          <p:cNvPr id="11" name="Text 9"/>
          <p:cNvSpPr/>
          <p:nvPr/>
        </p:nvSpPr>
        <p:spPr>
          <a:xfrm>
            <a:off x="841248" y="3310128"/>
            <a:ext cx="1755648" cy="274320"/>
          </a:xfrm>
          <a:prstGeom prst="rect">
            <a:avLst/>
          </a:prstGeom>
          <a:noFill/>
          <a:ln/>
        </p:spPr>
        <p:txBody>
          <a:bodyPr wrap="square" lIns="0" tIns="0" rIns="0" bIns="0" rtlCol="0" anchor="ctr"/>
          <a:lstStyle/>
          <a:p>
            <a:pPr indent="0" marL="0">
              <a:buNone/>
            </a:pPr>
            <a:r>
              <a:rPr lang="en-US" sz="1150" b="1" dirty="0">
                <a:solidFill>
                  <a:srgbClr val="12212B"/>
                </a:solidFill>
                <a:latin typeface="Calibri" pitchFamily="34" charset="0"/>
                <a:ea typeface="Calibri" pitchFamily="34" charset="-122"/>
                <a:cs typeface="Calibri" pitchFamily="34" charset="-120"/>
              </a:rPr>
              <a:t>1 calendar day</a:t>
            </a:r>
            <a:endParaRPr lang="en-US" sz="1150" dirty="0"/>
          </a:p>
        </p:txBody>
      </p:sp>
      <p:sp>
        <p:nvSpPr>
          <p:cNvPr id="12" name="Text 10"/>
          <p:cNvSpPr/>
          <p:nvPr/>
        </p:nvSpPr>
        <p:spPr>
          <a:xfrm>
            <a:off x="2670048" y="3310128"/>
            <a:ext cx="4800600" cy="274320"/>
          </a:xfrm>
          <a:prstGeom prst="rect">
            <a:avLst/>
          </a:prstGeom>
          <a:noFill/>
          <a:ln/>
        </p:spPr>
        <p:txBody>
          <a:bodyPr wrap="square" lIns="0" tIns="0" rIns="0" bIns="0" rtlCol="0" anchor="ctr"/>
          <a:lstStyle/>
          <a:p>
            <a:pPr indent="0" marL="0">
              <a:buNone/>
            </a:pPr>
            <a:r>
              <a:rPr lang="en-US" sz="1150" dirty="0">
                <a:solidFill>
                  <a:srgbClr val="5A6B72"/>
                </a:solidFill>
                <a:latin typeface="Calibri" pitchFamily="34" charset="0"/>
                <a:ea typeface="Calibri" pitchFamily="34" charset="-122"/>
                <a:cs typeface="Calibri" pitchFamily="34" charset="-120"/>
              </a:rPr>
              <a:t>Clinician notifies the PA of orders</a:t>
            </a:r>
            <a:endParaRPr lang="en-US" sz="1150" dirty="0"/>
          </a:p>
        </p:txBody>
      </p:sp>
      <p:sp>
        <p:nvSpPr>
          <p:cNvPr id="13" name="Shape 11"/>
          <p:cNvSpPr/>
          <p:nvPr/>
        </p:nvSpPr>
        <p:spPr>
          <a:xfrm>
            <a:off x="566928" y="3803904"/>
            <a:ext cx="118872" cy="118872"/>
          </a:xfrm>
          <a:prstGeom prst="ellipse">
            <a:avLst/>
          </a:prstGeom>
          <a:solidFill>
            <a:srgbClr val="7FA99B"/>
          </a:solidFill>
          <a:ln/>
        </p:spPr>
      </p:sp>
      <p:sp>
        <p:nvSpPr>
          <p:cNvPr id="14" name="Text 12"/>
          <p:cNvSpPr/>
          <p:nvPr/>
        </p:nvSpPr>
        <p:spPr>
          <a:xfrm>
            <a:off x="841248" y="3730752"/>
            <a:ext cx="1755648" cy="274320"/>
          </a:xfrm>
          <a:prstGeom prst="rect">
            <a:avLst/>
          </a:prstGeom>
          <a:noFill/>
          <a:ln/>
        </p:spPr>
        <p:txBody>
          <a:bodyPr wrap="square" lIns="0" tIns="0" rIns="0" bIns="0" rtlCol="0" anchor="ctr"/>
          <a:lstStyle/>
          <a:p>
            <a:pPr indent="0" marL="0">
              <a:buNone/>
            </a:pPr>
            <a:r>
              <a:rPr lang="en-US" sz="1150" b="1" dirty="0">
                <a:solidFill>
                  <a:srgbClr val="12212B"/>
                </a:solidFill>
                <a:latin typeface="Calibri" pitchFamily="34" charset="0"/>
                <a:ea typeface="Calibri" pitchFamily="34" charset="-122"/>
                <a:cs typeface="Calibri" pitchFamily="34" charset="-120"/>
              </a:rPr>
              <a:t>24 hours</a:t>
            </a:r>
            <a:endParaRPr lang="en-US" sz="1150" dirty="0"/>
          </a:p>
        </p:txBody>
      </p:sp>
      <p:sp>
        <p:nvSpPr>
          <p:cNvPr id="15" name="Text 13"/>
          <p:cNvSpPr/>
          <p:nvPr/>
        </p:nvSpPr>
        <p:spPr>
          <a:xfrm>
            <a:off x="2670048" y="3730752"/>
            <a:ext cx="4800600" cy="274320"/>
          </a:xfrm>
          <a:prstGeom prst="rect">
            <a:avLst/>
          </a:prstGeom>
          <a:noFill/>
          <a:ln/>
        </p:spPr>
        <p:txBody>
          <a:bodyPr wrap="square" lIns="0" tIns="0" rIns="0" bIns="0" rtlCol="0" anchor="ctr"/>
          <a:lstStyle/>
          <a:p>
            <a:pPr indent="0" marL="0">
              <a:buNone/>
            </a:pPr>
            <a:r>
              <a:rPr lang="en-US" sz="1150" dirty="0">
                <a:solidFill>
                  <a:srgbClr val="5A6B72"/>
                </a:solidFill>
                <a:latin typeface="Calibri" pitchFamily="34" charset="0"/>
                <a:ea typeface="Calibri" pitchFamily="34" charset="-122"/>
                <a:cs typeface="Calibri" pitchFamily="34" charset="-120"/>
              </a:rPr>
              <a:t>MSP office reviews the credentials record</a:t>
            </a:r>
            <a:endParaRPr lang="en-US" sz="1150" dirty="0"/>
          </a:p>
        </p:txBody>
      </p:sp>
      <p:sp>
        <p:nvSpPr>
          <p:cNvPr id="16" name="Shape 14"/>
          <p:cNvSpPr/>
          <p:nvPr/>
        </p:nvSpPr>
        <p:spPr>
          <a:xfrm>
            <a:off x="566928" y="4224528"/>
            <a:ext cx="118872" cy="118872"/>
          </a:xfrm>
          <a:prstGeom prst="ellipse">
            <a:avLst/>
          </a:prstGeom>
          <a:solidFill>
            <a:srgbClr val="7FA99B"/>
          </a:solidFill>
          <a:ln/>
        </p:spPr>
      </p:sp>
      <p:sp>
        <p:nvSpPr>
          <p:cNvPr id="17" name="Text 15"/>
          <p:cNvSpPr/>
          <p:nvPr/>
        </p:nvSpPr>
        <p:spPr>
          <a:xfrm>
            <a:off x="841248" y="4151376"/>
            <a:ext cx="1755648" cy="274320"/>
          </a:xfrm>
          <a:prstGeom prst="rect">
            <a:avLst/>
          </a:prstGeom>
          <a:noFill/>
          <a:ln/>
        </p:spPr>
        <p:txBody>
          <a:bodyPr wrap="square" lIns="0" tIns="0" rIns="0" bIns="0" rtlCol="0" anchor="ctr"/>
          <a:lstStyle/>
          <a:p>
            <a:pPr indent="0" marL="0">
              <a:buNone/>
            </a:pPr>
            <a:r>
              <a:rPr lang="en-US" sz="1150" b="1" dirty="0">
                <a:solidFill>
                  <a:srgbClr val="12212B"/>
                </a:solidFill>
                <a:latin typeface="Calibri" pitchFamily="34" charset="0"/>
                <a:ea typeface="Calibri" pitchFamily="34" charset="-122"/>
                <a:cs typeface="Calibri" pitchFamily="34" charset="-120"/>
              </a:rPr>
              <a:t>5 business days</a:t>
            </a:r>
            <a:endParaRPr lang="en-US" sz="1150" dirty="0"/>
          </a:p>
        </p:txBody>
      </p:sp>
      <p:sp>
        <p:nvSpPr>
          <p:cNvPr id="18" name="Text 16"/>
          <p:cNvSpPr/>
          <p:nvPr/>
        </p:nvSpPr>
        <p:spPr>
          <a:xfrm>
            <a:off x="2670048" y="4151376"/>
            <a:ext cx="4800600" cy="274320"/>
          </a:xfrm>
          <a:prstGeom prst="rect">
            <a:avLst/>
          </a:prstGeom>
          <a:noFill/>
          <a:ln/>
        </p:spPr>
        <p:txBody>
          <a:bodyPr wrap="square" lIns="0" tIns="0" rIns="0" bIns="0" rtlCol="0" anchor="ctr"/>
          <a:lstStyle/>
          <a:p>
            <a:pPr indent="0" marL="0">
              <a:buNone/>
            </a:pPr>
            <a:r>
              <a:rPr lang="en-US" sz="1150" dirty="0">
                <a:solidFill>
                  <a:srgbClr val="5A6B72"/>
                </a:solidFill>
                <a:latin typeface="Calibri" pitchFamily="34" charset="0"/>
                <a:ea typeface="Calibri" pitchFamily="34" charset="-122"/>
                <a:cs typeface="Calibri" pitchFamily="34" charset="-120"/>
              </a:rPr>
              <a:t>Authorization complete — and before arrival</a:t>
            </a:r>
            <a:endParaRPr lang="en-US" sz="1150" dirty="0"/>
          </a:p>
        </p:txBody>
      </p:sp>
      <p:sp>
        <p:nvSpPr>
          <p:cNvPr id="19" name="Shape 17"/>
          <p:cNvSpPr/>
          <p:nvPr/>
        </p:nvSpPr>
        <p:spPr>
          <a:xfrm>
            <a:off x="566928" y="4645152"/>
            <a:ext cx="118872" cy="118872"/>
          </a:xfrm>
          <a:prstGeom prst="ellipse">
            <a:avLst/>
          </a:prstGeom>
          <a:solidFill>
            <a:srgbClr val="7FA99B"/>
          </a:solidFill>
          <a:ln/>
        </p:spPr>
      </p:sp>
      <p:sp>
        <p:nvSpPr>
          <p:cNvPr id="20" name="Text 18"/>
          <p:cNvSpPr/>
          <p:nvPr/>
        </p:nvSpPr>
        <p:spPr>
          <a:xfrm>
            <a:off x="841248" y="4572000"/>
            <a:ext cx="1755648" cy="274320"/>
          </a:xfrm>
          <a:prstGeom prst="rect">
            <a:avLst/>
          </a:prstGeom>
          <a:noFill/>
          <a:ln/>
        </p:spPr>
        <p:txBody>
          <a:bodyPr wrap="square" lIns="0" tIns="0" rIns="0" bIns="0" rtlCol="0" anchor="ctr"/>
          <a:lstStyle/>
          <a:p>
            <a:pPr indent="0" marL="0">
              <a:buNone/>
            </a:pPr>
            <a:r>
              <a:rPr lang="en-US" sz="1150" b="1" dirty="0">
                <a:solidFill>
                  <a:srgbClr val="12212B"/>
                </a:solidFill>
                <a:latin typeface="Calibri" pitchFamily="34" charset="0"/>
                <a:ea typeface="Calibri" pitchFamily="34" charset="-122"/>
                <a:cs typeface="Calibri" pitchFamily="34" charset="-120"/>
              </a:rPr>
              <a:t>Monthly, NLT 16th</a:t>
            </a:r>
            <a:endParaRPr lang="en-US" sz="1150" dirty="0"/>
          </a:p>
        </p:txBody>
      </p:sp>
      <p:sp>
        <p:nvSpPr>
          <p:cNvPr id="21" name="Text 19"/>
          <p:cNvSpPr/>
          <p:nvPr/>
        </p:nvSpPr>
        <p:spPr>
          <a:xfrm>
            <a:off x="2670048" y="4572000"/>
            <a:ext cx="4800600" cy="274320"/>
          </a:xfrm>
          <a:prstGeom prst="rect">
            <a:avLst/>
          </a:prstGeom>
          <a:noFill/>
          <a:ln/>
        </p:spPr>
        <p:txBody>
          <a:bodyPr wrap="square" lIns="0" tIns="0" rIns="0" bIns="0" rtlCol="0" anchor="ctr"/>
          <a:lstStyle/>
          <a:p>
            <a:pPr indent="0" marL="0">
              <a:buNone/>
            </a:pPr>
            <a:r>
              <a:rPr lang="en-US" sz="1150" dirty="0">
                <a:solidFill>
                  <a:srgbClr val="5A6B72"/>
                </a:solidFill>
                <a:latin typeface="Calibri" pitchFamily="34" charset="0"/>
                <a:ea typeface="Calibri" pitchFamily="34" charset="-122"/>
                <a:cs typeface="Calibri" pitchFamily="34" charset="-120"/>
              </a:rPr>
              <a:t>Data call to the Network lead</a:t>
            </a:r>
            <a:endParaRPr lang="en-US" sz="1150" dirty="0"/>
          </a:p>
        </p:txBody>
      </p:sp>
      <p:sp>
        <p:nvSpPr>
          <p:cNvPr id="22" name="Shape 20"/>
          <p:cNvSpPr/>
          <p:nvPr/>
        </p:nvSpPr>
        <p:spPr>
          <a:xfrm>
            <a:off x="7699248" y="1691640"/>
            <a:ext cx="3749040" cy="2084832"/>
          </a:xfrm>
          <a:prstGeom prst="roundRect">
            <a:avLst>
              <a:gd name="adj" fmla="val 2632"/>
            </a:avLst>
          </a:prstGeom>
          <a:solidFill>
            <a:srgbClr val="FDF3EE"/>
          </a:solidFill>
          <a:ln w="12700">
            <a:solidFill>
              <a:srgbClr val="FDF3EE"/>
            </a:solidFill>
            <a:prstDash val="solid"/>
          </a:ln>
        </p:spPr>
      </p:sp>
      <p:sp>
        <p:nvSpPr>
          <p:cNvPr id="23" name="Text 21"/>
          <p:cNvSpPr/>
          <p:nvPr/>
        </p:nvSpPr>
        <p:spPr>
          <a:xfrm>
            <a:off x="7973568" y="1947672"/>
            <a:ext cx="3200400" cy="365760"/>
          </a:xfrm>
          <a:prstGeom prst="rect">
            <a:avLst/>
          </a:prstGeom>
          <a:noFill/>
          <a:ln/>
        </p:spPr>
        <p:txBody>
          <a:bodyPr wrap="square" lIns="0" tIns="0" rIns="0" bIns="0" rtlCol="0" anchor="ctr"/>
          <a:lstStyle/>
          <a:p>
            <a:pPr indent="0" marL="0">
              <a:buNone/>
            </a:pPr>
            <a:r>
              <a:rPr lang="en-US" sz="1400" b="1" dirty="0">
                <a:solidFill>
                  <a:srgbClr val="C25E3A"/>
                </a:solidFill>
                <a:latin typeface="Cambria" pitchFamily="34" charset="0"/>
                <a:ea typeface="Cambria" pitchFamily="34" charset="-122"/>
                <a:cs typeface="Cambria" pitchFamily="34" charset="-120"/>
              </a:rPr>
              <a:t>Two hard stops</a:t>
            </a:r>
            <a:endParaRPr lang="en-US" sz="1400" dirty="0"/>
          </a:p>
        </p:txBody>
      </p:sp>
      <p:sp>
        <p:nvSpPr>
          <p:cNvPr id="24" name="Text 22"/>
          <p:cNvSpPr/>
          <p:nvPr/>
        </p:nvSpPr>
        <p:spPr>
          <a:xfrm>
            <a:off x="7973568" y="2404872"/>
            <a:ext cx="3200400" cy="1124712"/>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5A6B72"/>
                </a:solidFill>
                <a:latin typeface="Calibri" pitchFamily="34" charset="0"/>
                <a:ea typeface="Calibri" pitchFamily="34" charset="-122"/>
                <a:cs typeface="Calibri" pitchFamily="34" charset="-120"/>
              </a:rPr>
              <a:t>Privileges expiring within 90 days — stop EWP, revert to legacy privileging</a:t>
            </a:r>
            <a:endParaRPr lang="en-US" sz="1050" dirty="0"/>
          </a:p>
          <a:p>
            <a:pPr marL="342900" indent="-342900">
              <a:spcAft>
                <a:spcPts val="500"/>
              </a:spcAft>
              <a:buSzPct val="100000"/>
              <a:buChar char="•"/>
            </a:pPr>
            <a:r>
              <a:rPr lang="en-US" sz="1050" dirty="0">
                <a:solidFill>
                  <a:srgbClr val="5A6B72"/>
                </a:solidFill>
                <a:latin typeface="Calibri" pitchFamily="34" charset="0"/>
                <a:ea typeface="Calibri" pitchFamily="34" charset="-122"/>
                <a:cs typeface="Calibri" pitchFamily="34" charset="-120"/>
              </a:rPr>
              <a:t>Supervised privileges bound for an operational assignment — operational platforms cannot host them</a:t>
            </a:r>
            <a:endParaRPr lang="en-US" sz="1050" dirty="0"/>
          </a:p>
        </p:txBody>
      </p:sp>
      <p:sp>
        <p:nvSpPr>
          <p:cNvPr id="25" name="Shape 23"/>
          <p:cNvSpPr/>
          <p:nvPr/>
        </p:nvSpPr>
        <p:spPr>
          <a:xfrm>
            <a:off x="7699248" y="3913632"/>
            <a:ext cx="3749040" cy="2048256"/>
          </a:xfrm>
          <a:prstGeom prst="roundRect">
            <a:avLst>
              <a:gd name="adj" fmla="val 2679"/>
            </a:avLst>
          </a:prstGeom>
          <a:solidFill>
            <a:srgbClr val="F2F5F4"/>
          </a:solidFill>
          <a:ln w="12700">
            <a:solidFill>
              <a:srgbClr val="F2F5F4"/>
            </a:solidFill>
            <a:prstDash val="solid"/>
          </a:ln>
        </p:spPr>
      </p:sp>
      <p:sp>
        <p:nvSpPr>
          <p:cNvPr id="26" name="Text 24"/>
          <p:cNvSpPr/>
          <p:nvPr/>
        </p:nvSpPr>
        <p:spPr>
          <a:xfrm>
            <a:off x="7973568" y="4169664"/>
            <a:ext cx="3200400" cy="365760"/>
          </a:xfrm>
          <a:prstGeom prst="rect">
            <a:avLst/>
          </a:prstGeom>
          <a:noFill/>
          <a:ln/>
        </p:spPr>
        <p:txBody>
          <a:bodyPr wrap="square" lIns="0" tIns="0" rIns="0" bIns="0" rtlCol="0" anchor="ctr"/>
          <a:lstStyle/>
          <a:p>
            <a:pPr indent="0" marL="0">
              <a:buNone/>
            </a:pPr>
            <a:r>
              <a:rPr lang="en-US" sz="1400" b="1" dirty="0">
                <a:solidFill>
                  <a:srgbClr val="1C5D66"/>
                </a:solidFill>
                <a:latin typeface="Cambria" pitchFamily="34" charset="0"/>
                <a:ea typeface="Cambria" pitchFamily="34" charset="-122"/>
                <a:cs typeface="Cambria" pitchFamily="34" charset="-120"/>
              </a:rPr>
              <a:t>I MEF posture</a:t>
            </a:r>
            <a:endParaRPr lang="en-US" sz="1400" dirty="0"/>
          </a:p>
        </p:txBody>
      </p:sp>
      <p:sp>
        <p:nvSpPr>
          <p:cNvPr id="27" name="Text 25"/>
          <p:cNvSpPr/>
          <p:nvPr/>
        </p:nvSpPr>
        <p:spPr>
          <a:xfrm>
            <a:off x="7973568" y="4626864"/>
            <a:ext cx="3200400" cy="1088136"/>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5A6B72"/>
                </a:solidFill>
                <a:latin typeface="Calibri" pitchFamily="34" charset="0"/>
                <a:ea typeface="Calibri" pitchFamily="34" charset="-122"/>
                <a:cs typeface="Calibri" pitchFamily="34" charset="-120"/>
              </a:rPr>
              <a:t>PA is the I MEF Surgeon, delegated from the Medical Officer of the Marine Corps</a:t>
            </a:r>
            <a:endParaRPr lang="en-US" sz="1050" dirty="0"/>
          </a:p>
          <a:p>
            <a:pPr marL="342900" indent="-342900">
              <a:spcAft>
                <a:spcPts val="500"/>
              </a:spcAft>
              <a:buSzPct val="100000"/>
              <a:buChar char="•"/>
            </a:pPr>
            <a:r>
              <a:rPr lang="en-US" sz="1050" dirty="0">
                <a:solidFill>
                  <a:srgbClr val="5A6B72"/>
                </a:solidFill>
                <a:latin typeface="Calibri" pitchFamily="34" charset="0"/>
                <a:ea typeface="Calibri" pitchFamily="34" charset="-122"/>
                <a:cs typeface="Calibri" pitchFamily="34" charset="-120"/>
              </a:rPr>
              <a:t>MEC is quarterly — not a fast path</a:t>
            </a:r>
            <a:endParaRPr lang="en-US" sz="1050" dirty="0"/>
          </a:p>
          <a:p>
            <a:pPr marL="342900" indent="-342900">
              <a:spcAft>
                <a:spcPts val="500"/>
              </a:spcAft>
              <a:buSzPct val="100000"/>
              <a:buChar char="•"/>
            </a:pPr>
            <a:r>
              <a:rPr lang="en-US" sz="1050" dirty="0">
                <a:solidFill>
                  <a:srgbClr val="5A6B72"/>
                </a:solidFill>
                <a:latin typeface="Calibri" pitchFamily="34" charset="0"/>
                <a:ea typeface="Calibri" pitchFamily="34" charset="-122"/>
                <a:cs typeface="Calibri" pitchFamily="34" charset="-120"/>
              </a:rPr>
              <a:t>No local bylaws modifying the DHA baseline</a:t>
            </a:r>
            <a:endParaRPr lang="en-US" sz="1050" dirty="0"/>
          </a:p>
          <a:p>
            <a:pPr marL="342900" indent="-342900">
              <a:spcAft>
                <a:spcPts val="500"/>
              </a:spcAft>
              <a:buSzPct val="100000"/>
              <a:buChar char="•"/>
            </a:pPr>
            <a:r>
              <a:rPr lang="en-US" sz="1050" dirty="0">
                <a:solidFill>
                  <a:srgbClr val="5A6B72"/>
                </a:solidFill>
                <a:latin typeface="Calibri" pitchFamily="34" charset="0"/>
                <a:ea typeface="Calibri" pitchFamily="34" charset="-122"/>
                <a:cs typeface="Calibri" pitchFamily="34" charset="-120"/>
              </a:rPr>
              <a:t>Reserve Component in scope since 27 May 2026</a:t>
            </a:r>
            <a:endParaRPr lang="en-US" sz="1050" dirty="0"/>
          </a:p>
        </p:txBody>
      </p:sp>
      <p:sp>
        <p:nvSpPr>
          <p:cNvPr id="28" name="Shape 26"/>
          <p:cNvSpPr/>
          <p:nvPr/>
        </p:nvSpPr>
        <p:spPr>
          <a:xfrm>
            <a:off x="566928" y="4919472"/>
            <a:ext cx="3328416" cy="1353312"/>
          </a:xfrm>
          <a:prstGeom prst="roundRect">
            <a:avLst>
              <a:gd name="adj" fmla="val 4054"/>
            </a:avLst>
          </a:prstGeom>
          <a:solidFill>
            <a:srgbClr val="F2F5F4"/>
          </a:solidFill>
          <a:ln w="12700">
            <a:solidFill>
              <a:srgbClr val="F2F5F4"/>
            </a:solidFill>
            <a:prstDash val="solid"/>
          </a:ln>
        </p:spPr>
      </p:sp>
      <p:sp>
        <p:nvSpPr>
          <p:cNvPr id="29" name="Text 27"/>
          <p:cNvSpPr/>
          <p:nvPr/>
        </p:nvSpPr>
        <p:spPr>
          <a:xfrm>
            <a:off x="841248" y="5175504"/>
            <a:ext cx="2779776" cy="365760"/>
          </a:xfrm>
          <a:prstGeom prst="rect">
            <a:avLst/>
          </a:prstGeom>
          <a:noFill/>
          <a:ln/>
        </p:spPr>
        <p:txBody>
          <a:bodyPr wrap="square" lIns="0" tIns="0" rIns="0" bIns="0" rtlCol="0" anchor="ctr"/>
          <a:lstStyle/>
          <a:p>
            <a:pPr indent="0" marL="0">
              <a:buNone/>
            </a:pPr>
            <a:r>
              <a:rPr lang="en-US" sz="1300" b="1" dirty="0">
                <a:solidFill>
                  <a:srgbClr val="1C5D66"/>
                </a:solidFill>
                <a:latin typeface="Cambria" pitchFamily="34" charset="0"/>
                <a:ea typeface="Cambria" pitchFamily="34" charset="-122"/>
                <a:cs typeface="Cambria" pitchFamily="34" charset="-120"/>
              </a:rPr>
              <a:t>DHA Form 456</a:t>
            </a:r>
            <a:endParaRPr lang="en-US" sz="1300" dirty="0"/>
          </a:p>
        </p:txBody>
      </p:sp>
      <p:sp>
        <p:nvSpPr>
          <p:cNvPr id="30" name="Text 28"/>
          <p:cNvSpPr/>
          <p:nvPr/>
        </p:nvSpPr>
        <p:spPr>
          <a:xfrm>
            <a:off x="841248" y="5632704"/>
            <a:ext cx="2779776" cy="393192"/>
          </a:xfrm>
          <a:prstGeom prst="rect">
            <a:avLst/>
          </a:prstGeom>
          <a:noFill/>
          <a:ln/>
        </p:spPr>
        <p:txBody>
          <a:bodyPr wrap="square" lIns="0" tIns="0" rIns="0" bIns="0" rtlCol="0" anchor="t"/>
          <a:lstStyle/>
          <a:p>
            <a:pPr indent="0" marL="0">
              <a:buNone/>
            </a:pPr>
            <a:r>
              <a:rPr lang="en-US" sz="950" dirty="0">
                <a:solidFill>
                  <a:srgbClr val="5A6B72"/>
                </a:solidFill>
                <a:latin typeface="Calibri" pitchFamily="34" charset="0"/>
                <a:ea typeface="Calibri" pitchFamily="34" charset="-122"/>
                <a:cs typeface="Calibri" pitchFamily="34" charset="-120"/>
              </a:rPr>
              <a:t>Authorization to practice + attestation, signed before arrival. No clinician practices without it; its signature date is the metrics completion marker.</a:t>
            </a:r>
            <a:endParaRPr lang="en-US" sz="950" dirty="0"/>
          </a:p>
        </p:txBody>
      </p:sp>
      <p:sp>
        <p:nvSpPr>
          <p:cNvPr id="31" name="Shape 29"/>
          <p:cNvSpPr/>
          <p:nvPr/>
        </p:nvSpPr>
        <p:spPr>
          <a:xfrm>
            <a:off x="4169664" y="4919472"/>
            <a:ext cx="3328416" cy="1353312"/>
          </a:xfrm>
          <a:prstGeom prst="roundRect">
            <a:avLst>
              <a:gd name="adj" fmla="val 4054"/>
            </a:avLst>
          </a:prstGeom>
          <a:solidFill>
            <a:srgbClr val="F2F5F4"/>
          </a:solidFill>
          <a:ln w="12700">
            <a:solidFill>
              <a:srgbClr val="F2F5F4"/>
            </a:solidFill>
            <a:prstDash val="solid"/>
          </a:ln>
        </p:spPr>
      </p:sp>
      <p:sp>
        <p:nvSpPr>
          <p:cNvPr id="32" name="Text 30"/>
          <p:cNvSpPr/>
          <p:nvPr/>
        </p:nvSpPr>
        <p:spPr>
          <a:xfrm>
            <a:off x="4443984" y="5175504"/>
            <a:ext cx="2779776" cy="365760"/>
          </a:xfrm>
          <a:prstGeom prst="rect">
            <a:avLst/>
          </a:prstGeom>
          <a:noFill/>
          <a:ln/>
        </p:spPr>
        <p:txBody>
          <a:bodyPr wrap="square" lIns="0" tIns="0" rIns="0" bIns="0" rtlCol="0" anchor="ctr"/>
          <a:lstStyle/>
          <a:p>
            <a:pPr indent="0" marL="0">
              <a:buNone/>
            </a:pPr>
            <a:r>
              <a:rPr lang="en-US" sz="1300" b="1" dirty="0">
                <a:solidFill>
                  <a:srgbClr val="C25E3A"/>
                </a:solidFill>
                <a:latin typeface="Cambria" pitchFamily="34" charset="0"/>
                <a:ea typeface="Cambria" pitchFamily="34" charset="-122"/>
                <a:cs typeface="Cambria" pitchFamily="34" charset="-120"/>
              </a:rPr>
              <a:t>DHA Form 455</a:t>
            </a:r>
            <a:endParaRPr lang="en-US" sz="1300" dirty="0"/>
          </a:p>
        </p:txBody>
      </p:sp>
      <p:sp>
        <p:nvSpPr>
          <p:cNvPr id="33" name="Text 31"/>
          <p:cNvSpPr/>
          <p:nvPr/>
        </p:nvSpPr>
        <p:spPr>
          <a:xfrm>
            <a:off x="4443984" y="5632704"/>
            <a:ext cx="2779776" cy="393192"/>
          </a:xfrm>
          <a:prstGeom prst="rect">
            <a:avLst/>
          </a:prstGeom>
          <a:noFill/>
          <a:ln/>
        </p:spPr>
        <p:txBody>
          <a:bodyPr wrap="square" lIns="0" tIns="0" rIns="0" bIns="0" rtlCol="0" anchor="t"/>
          <a:lstStyle/>
          <a:p>
            <a:pPr indent="0" marL="0">
              <a:buNone/>
            </a:pPr>
            <a:r>
              <a:rPr lang="en-US" sz="950" dirty="0">
                <a:solidFill>
                  <a:srgbClr val="5A6B72"/>
                </a:solidFill>
                <a:latin typeface="Calibri" pitchFamily="34" charset="0"/>
                <a:ea typeface="Calibri" pitchFamily="34" charset="-122"/>
                <a:cs typeface="Calibri" pitchFamily="34" charset="-120"/>
              </a:rPr>
              <a:t>The Performance Assessment Report. Clinical supervisor completes it on PCS or TDY over two weeks. Supersedes all MILDEP and CCQAS PARs — scaffold it, never author it.</a:t>
            </a:r>
            <a:endParaRPr lang="en-US" sz="950" dirty="0"/>
          </a:p>
        </p:txBody>
      </p:sp>
      <p:sp>
        <p:nvSpPr>
          <p:cNvPr id="34" name="Text 32"/>
          <p:cNvSpPr/>
          <p:nvPr/>
        </p:nvSpPr>
        <p:spPr>
          <a:xfrm>
            <a:off x="566928" y="6382512"/>
            <a:ext cx="10515600" cy="219456"/>
          </a:xfrm>
          <a:prstGeom prst="rect">
            <a:avLst/>
          </a:prstGeom>
          <a:noFill/>
          <a:ln/>
        </p:spPr>
        <p:txBody>
          <a:bodyPr wrap="square" lIns="0" tIns="0" rIns="0" bIns="0" rtlCol="0" anchor="ctr"/>
          <a:lstStyle/>
          <a:p>
            <a:pPr indent="0" marL="0">
              <a:buNone/>
            </a:pPr>
            <a:r>
              <a:rPr lang="en-US" sz="900" i="1" dirty="0">
                <a:solidFill>
                  <a:srgbClr val="C9D6DB"/>
                </a:solidFill>
                <a:latin typeface="Calibri" pitchFamily="34" charset="0"/>
                <a:ea typeface="Calibri" pitchFamily="34" charset="-122"/>
                <a:cs typeface="Calibri" pitchFamily="34" charset="-120"/>
              </a:rPr>
              <a:t>Source: DHA-PM 6025.13 Vol 8 (21 Oct 2025); BUMEDNOTE 6000 (25 Nov 2025); DHA Form 455 PAR fact sheet. All C&amp;P content is MQA information under 10 U.S.C. §1102 and CUI.</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37744"/>
          </a:xfrm>
          <a:prstGeom prst="rect">
            <a:avLst/>
          </a:prstGeom>
          <a:noFill/>
          <a:ln/>
        </p:spPr>
        <p:txBody>
          <a:bodyPr wrap="square" lIns="0" tIns="0" rIns="0" bIns="0" rtlCol="0" anchor="ctr"/>
          <a:lstStyle/>
          <a:p>
            <a:pPr indent="0" marL="0">
              <a:buNone/>
            </a:pPr>
            <a:r>
              <a:rPr lang="en-US" sz="1100" b="1" spc="160" kern="0" dirty="0">
                <a:solidFill>
                  <a:srgbClr val="C25E3A"/>
                </a:solidFill>
                <a:latin typeface="Calibri" pitchFamily="34" charset="0"/>
                <a:ea typeface="Calibri" pitchFamily="34" charset="-122"/>
                <a:cs typeface="Calibri" pitchFamily="34" charset="-120"/>
              </a:rPr>
              <a:t>LINE OF EFFORT 2</a:t>
            </a:r>
            <a:endParaRPr lang="en-US" sz="1100" dirty="0"/>
          </a:p>
        </p:txBody>
      </p:sp>
      <p:sp>
        <p:nvSpPr>
          <p:cNvPr id="3" name="Text 1"/>
          <p:cNvSpPr/>
          <p:nvPr/>
        </p:nvSpPr>
        <p:spPr>
          <a:xfrm>
            <a:off x="548640" y="640080"/>
            <a:ext cx="11064240" cy="749808"/>
          </a:xfrm>
          <a:prstGeom prst="rect">
            <a:avLst/>
          </a:prstGeom>
          <a:noFill/>
          <a:ln/>
        </p:spPr>
        <p:txBody>
          <a:bodyPr wrap="square" lIns="0" tIns="0" rIns="0" bIns="0" rtlCol="0" anchor="ctr"/>
          <a:lstStyle/>
          <a:p>
            <a:pPr indent="0" marL="0">
              <a:buNone/>
            </a:pPr>
            <a:r>
              <a:rPr lang="en-US" sz="3000" b="1" dirty="0">
                <a:solidFill>
                  <a:srgbClr val="12212B"/>
                </a:solidFill>
                <a:latin typeface="Cambria" pitchFamily="34" charset="0"/>
                <a:ea typeface="Cambria" pitchFamily="34" charset="-122"/>
                <a:cs typeface="Cambria" pitchFamily="34" charset="-120"/>
              </a:rPr>
              <a:t>Crisis Standards of Care — a PACE framework</a:t>
            </a:r>
            <a:endParaRPr lang="en-US" sz="3000" dirty="0"/>
          </a:p>
        </p:txBody>
      </p:sp>
      <p:sp>
        <p:nvSpPr>
          <p:cNvPr id="4" name="Shape 2"/>
          <p:cNvSpPr/>
          <p:nvPr/>
        </p:nvSpPr>
        <p:spPr>
          <a:xfrm>
            <a:off x="566928" y="1389888"/>
            <a:ext cx="342900" cy="64008"/>
          </a:xfrm>
          <a:prstGeom prst="rect">
            <a:avLst/>
          </a:prstGeom>
          <a:solidFill>
            <a:srgbClr val="2E7D5B"/>
          </a:solidFill>
          <a:ln/>
        </p:spPr>
      </p:sp>
      <p:sp>
        <p:nvSpPr>
          <p:cNvPr id="5" name="Shape 3"/>
          <p:cNvSpPr/>
          <p:nvPr/>
        </p:nvSpPr>
        <p:spPr>
          <a:xfrm>
            <a:off x="909828" y="1389888"/>
            <a:ext cx="342900" cy="64008"/>
          </a:xfrm>
          <a:prstGeom prst="rect">
            <a:avLst/>
          </a:prstGeom>
          <a:solidFill>
            <a:srgbClr val="B8912F"/>
          </a:solidFill>
          <a:ln/>
        </p:spPr>
      </p:sp>
      <p:sp>
        <p:nvSpPr>
          <p:cNvPr id="6" name="Shape 4"/>
          <p:cNvSpPr/>
          <p:nvPr/>
        </p:nvSpPr>
        <p:spPr>
          <a:xfrm>
            <a:off x="1252728" y="1389888"/>
            <a:ext cx="342900" cy="64008"/>
          </a:xfrm>
          <a:prstGeom prst="rect">
            <a:avLst/>
          </a:prstGeom>
          <a:solidFill>
            <a:srgbClr val="C25E3A"/>
          </a:solidFill>
          <a:ln/>
        </p:spPr>
      </p:sp>
      <p:sp>
        <p:nvSpPr>
          <p:cNvPr id="7" name="Shape 5"/>
          <p:cNvSpPr/>
          <p:nvPr/>
        </p:nvSpPr>
        <p:spPr>
          <a:xfrm>
            <a:off x="1595628" y="1389888"/>
            <a:ext cx="342900" cy="64008"/>
          </a:xfrm>
          <a:prstGeom prst="rect">
            <a:avLst/>
          </a:prstGeom>
          <a:solidFill>
            <a:srgbClr val="9B2C2C"/>
          </a:solidFill>
          <a:ln/>
        </p:spPr>
      </p:sp>
      <p:sp>
        <p:nvSpPr>
          <p:cNvPr id="8" name="Text 6"/>
          <p:cNvSpPr/>
          <p:nvPr/>
        </p:nvSpPr>
        <p:spPr>
          <a:xfrm>
            <a:off x="566928" y="1664208"/>
            <a:ext cx="10881360" cy="658368"/>
          </a:xfrm>
          <a:prstGeom prst="rect">
            <a:avLst/>
          </a:prstGeom>
          <a:noFill/>
          <a:ln/>
        </p:spPr>
        <p:txBody>
          <a:bodyPr wrap="square" lIns="0" tIns="0" rIns="0" bIns="0" rtlCol="0" anchor="ctr"/>
          <a:lstStyle/>
          <a:p>
            <a:pPr indent="0" marL="0">
              <a:lnSpc>
                <a:spcPts val="1800"/>
              </a:lnSpc>
              <a:buNone/>
            </a:pPr>
            <a:r>
              <a:rPr lang="en-US" sz="1250" dirty="0">
                <a:solidFill>
                  <a:srgbClr val="5A6B72"/>
                </a:solidFill>
                <a:latin typeface="Calibri" pitchFamily="34" charset="0"/>
                <a:ea typeface="Calibri" pitchFamily="34" charset="-122"/>
                <a:cs typeface="Calibri" pitchFamily="34" charset="-120"/>
              </a:rPr>
              <a:t>The USMC lacks a shared mental model for stepwise degradation of care standards during contested operations. JTS CPGs already tier recommendations. PACE supplies the decision framework that links those tiers to operational triggers — so every transition is planned, briefed, and recognized, not improvised.</a:t>
            </a:r>
            <a:endParaRPr lang="en-US" sz="12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2487168"/>
          <a:ext cx="10881360" cy="914400"/>
        </p:xfrm>
        <a:graphic>
          <a:graphicData uri="http://schemas.openxmlformats.org/drawingml/2006/table">
            <a:tbl>
              <a:tblPr/>
              <a:tblGrid>
                <a:gridCol w="1417320"/>
                <a:gridCol w="1417320"/>
                <a:gridCol w="3063240"/>
                <a:gridCol w="3200400"/>
                <a:gridCol w="1783080"/>
              </a:tblGrid>
              <a:tr h="310896">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PACE LEVEL</a:t>
                      </a:r>
                      <a:endParaRPr lang="en-US" sz="1000" dirty="0">
                        <a:latin typeface="Calibri" charset="0"/>
                        <a:ea typeface="Calibri" charset="0"/>
                        <a:cs typeface="Calibri" charset="0"/>
                      </a:endParaRPr>
                    </a:p>
                  </a:txBody>
                  <a:tcPr marL="88900" marR="88900" marT="50800" marB="50800" anchor="ctr">
                    <a:lnL w="12700" cap="flat" cmpd="sng" algn="ctr">
                      <a:solidFill>
                        <a:srgbClr val="E2E8E7"/>
                      </a:solidFill>
                      <a:prstDash val="solid"/>
                      <a:round/>
                      <a:headEnd type="none" w="med" len="med"/>
                      <a:tailEnd type="none" w="med" len="med"/>
                    </a:lnL>
                    <a:lnR w="12700" cap="flat" cmpd="sng" algn="ctr">
                      <a:solidFill>
                        <a:srgbClr val="E2E8E7"/>
                      </a:solidFill>
                      <a:prstDash val="solid"/>
                      <a:round/>
                      <a:headEnd type="none" w="med" len="med"/>
                      <a:tailEnd type="none" w="med" len="med"/>
                    </a:lnR>
                    <a:lnT w="12700" cap="flat" cmpd="sng" algn="ctr">
                      <a:solidFill>
                        <a:srgbClr val="E2E8E7"/>
                      </a:solidFill>
                      <a:prstDash val="solid"/>
                      <a:round/>
                      <a:headEnd type="none" w="med" len="med"/>
                      <a:tailEnd type="none" w="med" len="med"/>
                    </a:lnT>
                    <a:lnB w="12700" cap="flat" cmpd="sng" algn="ctr">
                      <a:solidFill>
                        <a:srgbClr val="E2E8E7"/>
                      </a:solidFill>
                      <a:prstDash val="solid"/>
                      <a:round/>
                      <a:headEnd type="none" w="med" len="med"/>
                      <a:tailEnd type="none" w="med" len="med"/>
                    </a:lnB>
                    <a:solidFill>
                      <a:srgbClr val="12212B"/>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JTS CPG TIER</a:t>
                      </a:r>
                      <a:endParaRPr lang="en-US" sz="1000" dirty="0">
                        <a:latin typeface="Calibri" charset="0"/>
                        <a:ea typeface="Calibri" charset="0"/>
                        <a:cs typeface="Calibri" charset="0"/>
                      </a:endParaRPr>
                    </a:p>
                  </a:txBody>
                  <a:tcPr marL="88900" marR="88900" marT="50800" marB="50800" anchor="ctr">
                    <a:lnL w="12700" cap="flat" cmpd="sng" algn="ctr">
                      <a:solidFill>
                        <a:srgbClr val="E2E8E7"/>
                      </a:solidFill>
                      <a:prstDash val="solid"/>
                      <a:round/>
                      <a:headEnd type="none" w="med" len="med"/>
                      <a:tailEnd type="none" w="med" len="med"/>
                    </a:lnL>
                    <a:lnR w="12700" cap="flat" cmpd="sng" algn="ctr">
                      <a:solidFill>
                        <a:srgbClr val="E2E8E7"/>
                      </a:solidFill>
                      <a:prstDash val="solid"/>
                      <a:round/>
                      <a:headEnd type="none" w="med" len="med"/>
                      <a:tailEnd type="none" w="med" len="med"/>
                    </a:lnR>
                    <a:lnT w="12700" cap="flat" cmpd="sng" algn="ctr">
                      <a:solidFill>
                        <a:srgbClr val="E2E8E7"/>
                      </a:solidFill>
                      <a:prstDash val="solid"/>
                      <a:round/>
                      <a:headEnd type="none" w="med" len="med"/>
                      <a:tailEnd type="none" w="med" len="med"/>
                    </a:lnT>
                    <a:lnB w="12700" cap="flat" cmpd="sng" algn="ctr">
                      <a:solidFill>
                        <a:srgbClr val="E2E8E7"/>
                      </a:solidFill>
                      <a:prstDash val="solid"/>
                      <a:round/>
                      <a:headEnd type="none" w="med" len="med"/>
                      <a:tailEnd type="none" w="med" len="med"/>
                    </a:lnB>
                    <a:solidFill>
                      <a:srgbClr val="12212B"/>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CLINICAL POSTURE</a:t>
                      </a:r>
                      <a:endParaRPr lang="en-US" sz="1000" dirty="0">
                        <a:latin typeface="Calibri" charset="0"/>
                        <a:ea typeface="Calibri" charset="0"/>
                        <a:cs typeface="Calibri" charset="0"/>
                      </a:endParaRPr>
                    </a:p>
                  </a:txBody>
                  <a:tcPr marL="88900" marR="88900" marT="50800" marB="50800" anchor="ctr">
                    <a:lnL w="12700" cap="flat" cmpd="sng" algn="ctr">
                      <a:solidFill>
                        <a:srgbClr val="E2E8E7"/>
                      </a:solidFill>
                      <a:prstDash val="solid"/>
                      <a:round/>
                      <a:headEnd type="none" w="med" len="med"/>
                      <a:tailEnd type="none" w="med" len="med"/>
                    </a:lnL>
                    <a:lnR w="12700" cap="flat" cmpd="sng" algn="ctr">
                      <a:solidFill>
                        <a:srgbClr val="E2E8E7"/>
                      </a:solidFill>
                      <a:prstDash val="solid"/>
                      <a:round/>
                      <a:headEnd type="none" w="med" len="med"/>
                      <a:tailEnd type="none" w="med" len="med"/>
                    </a:lnR>
                    <a:lnT w="12700" cap="flat" cmpd="sng" algn="ctr">
                      <a:solidFill>
                        <a:srgbClr val="E2E8E7"/>
                      </a:solidFill>
                      <a:prstDash val="solid"/>
                      <a:round/>
                      <a:headEnd type="none" w="med" len="med"/>
                      <a:tailEnd type="none" w="med" len="med"/>
                    </a:lnT>
                    <a:lnB w="12700" cap="flat" cmpd="sng" algn="ctr">
                      <a:solidFill>
                        <a:srgbClr val="E2E8E7"/>
                      </a:solidFill>
                      <a:prstDash val="solid"/>
                      <a:round/>
                      <a:headEnd type="none" w="med" len="med"/>
                      <a:tailEnd type="none" w="med" len="med"/>
                    </a:lnB>
                    <a:solidFill>
                      <a:srgbClr val="12212B"/>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TRANSITION TRIGGER</a:t>
                      </a:r>
                      <a:endParaRPr lang="en-US" sz="1000" dirty="0">
                        <a:latin typeface="Calibri" charset="0"/>
                        <a:ea typeface="Calibri" charset="0"/>
                        <a:cs typeface="Calibri" charset="0"/>
                      </a:endParaRPr>
                    </a:p>
                  </a:txBody>
                  <a:tcPr marL="88900" marR="88900" marT="50800" marB="50800" anchor="ctr">
                    <a:lnL w="12700" cap="flat" cmpd="sng" algn="ctr">
                      <a:solidFill>
                        <a:srgbClr val="E2E8E7"/>
                      </a:solidFill>
                      <a:prstDash val="solid"/>
                      <a:round/>
                      <a:headEnd type="none" w="med" len="med"/>
                      <a:tailEnd type="none" w="med" len="med"/>
                    </a:lnL>
                    <a:lnR w="12700" cap="flat" cmpd="sng" algn="ctr">
                      <a:solidFill>
                        <a:srgbClr val="E2E8E7"/>
                      </a:solidFill>
                      <a:prstDash val="solid"/>
                      <a:round/>
                      <a:headEnd type="none" w="med" len="med"/>
                      <a:tailEnd type="none" w="med" len="med"/>
                    </a:lnR>
                    <a:lnT w="12700" cap="flat" cmpd="sng" algn="ctr">
                      <a:solidFill>
                        <a:srgbClr val="E2E8E7"/>
                      </a:solidFill>
                      <a:prstDash val="solid"/>
                      <a:round/>
                      <a:headEnd type="none" w="med" len="med"/>
                      <a:tailEnd type="none" w="med" len="med"/>
                    </a:lnT>
                    <a:lnB w="12700" cap="flat" cmpd="sng" algn="ctr">
                      <a:solidFill>
                        <a:srgbClr val="E2E8E7"/>
                      </a:solidFill>
                      <a:prstDash val="solid"/>
                      <a:round/>
                      <a:headEnd type="none" w="med" len="med"/>
                      <a:tailEnd type="none" w="med" len="med"/>
                    </a:lnB>
                    <a:solidFill>
                      <a:srgbClr val="12212B"/>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ETHICAL FRAME</a:t>
                      </a:r>
                      <a:endParaRPr lang="en-US" sz="1000" dirty="0">
                        <a:latin typeface="Calibri" charset="0"/>
                        <a:ea typeface="Calibri" charset="0"/>
                        <a:cs typeface="Calibri" charset="0"/>
                      </a:endParaRPr>
                    </a:p>
                  </a:txBody>
                  <a:tcPr marL="88900" marR="88900" marT="50800" marB="50800" anchor="ctr">
                    <a:lnL w="12700" cap="flat" cmpd="sng" algn="ctr">
                      <a:solidFill>
                        <a:srgbClr val="E2E8E7"/>
                      </a:solidFill>
                      <a:prstDash val="solid"/>
                      <a:round/>
                      <a:headEnd type="none" w="med" len="med"/>
                      <a:tailEnd type="none" w="med" len="med"/>
                    </a:lnL>
                    <a:lnR w="12700" cap="flat" cmpd="sng" algn="ctr">
                      <a:solidFill>
                        <a:srgbClr val="E2E8E7"/>
                      </a:solidFill>
                      <a:prstDash val="solid"/>
                      <a:round/>
                      <a:headEnd type="none" w="med" len="med"/>
                      <a:tailEnd type="none" w="med" len="med"/>
                    </a:lnR>
                    <a:lnT w="12700" cap="flat" cmpd="sng" algn="ctr">
                      <a:solidFill>
                        <a:srgbClr val="E2E8E7"/>
                      </a:solidFill>
                      <a:prstDash val="solid"/>
                      <a:round/>
                      <a:headEnd type="none" w="med" len="med"/>
                      <a:tailEnd type="none" w="med" len="med"/>
                    </a:lnT>
                    <a:lnB w="12700" cap="flat" cmpd="sng" algn="ctr">
                      <a:solidFill>
                        <a:srgbClr val="E2E8E7"/>
                      </a:solidFill>
                      <a:prstDash val="solid"/>
                      <a:round/>
                      <a:headEnd type="none" w="med" len="med"/>
                      <a:tailEnd type="none" w="med" len="med"/>
                    </a:lnB>
                    <a:solidFill>
                      <a:srgbClr val="12212B"/>
                    </a:solidFill>
                  </a:tcPr>
                </a:tc>
              </a:tr>
              <a:tr h="658368">
                <a:tc>
                  <a:txBody>
                    <a:bodyPr/>
                    <a:lstStyle/>
                    <a:p>
                      <a:pPr indent="0" marL="0">
                        <a:buNone/>
                      </a:pPr>
                      <a:r>
                        <a:rPr lang="en-US" sz="1000" b="1" dirty="0">
                          <a:solidFill>
                            <a:srgbClr val="2E7D5B"/>
                          </a:solidFill>
                          <a:latin typeface="Calibri" pitchFamily="34" charset="0"/>
                          <a:ea typeface="Calibri" pitchFamily="34" charset="-122"/>
                          <a:cs typeface="Calibri" pitchFamily="34" charset="-120"/>
                        </a:rPr>
                        <a:t>PRIMARY</a:t>
                      </a:r>
                      <a:endParaRPr lang="en-US" sz="1000" dirty="0">
                        <a:latin typeface="Calibri" charset="0"/>
                        <a:ea typeface="Calibri" charset="0"/>
                        <a:cs typeface="Calibri" charset="0"/>
                      </a:endParaRPr>
                    </a:p>
                  </a:txBody>
                  <a:tcPr marL="88900" marR="88900" marT="50800" marB="50800" anchor="ctr">
                    <a:lnL w="12700" cap="flat" cmpd="sng" algn="ctr">
                      <a:solidFill>
                        <a:srgbClr val="E2E8E7"/>
                      </a:solidFill>
                      <a:prstDash val="solid"/>
                      <a:round/>
                      <a:headEnd type="none" w="med" len="med"/>
                      <a:tailEnd type="none" w="med" len="med"/>
                    </a:lnL>
                    <a:lnR w="12700" cap="flat" cmpd="sng" algn="ctr">
                      <a:solidFill>
                        <a:srgbClr val="E2E8E7"/>
                      </a:solidFill>
                      <a:prstDash val="solid"/>
                      <a:round/>
                      <a:headEnd type="none" w="med" len="med"/>
                      <a:tailEnd type="none" w="med" len="med"/>
                    </a:lnR>
                    <a:lnT w="12700" cap="flat" cmpd="sng" algn="ctr">
                      <a:solidFill>
                        <a:srgbClr val="E2E8E7"/>
                      </a:solidFill>
                      <a:prstDash val="solid"/>
                      <a:round/>
                      <a:headEnd type="none" w="med" len="med"/>
                      <a:tailEnd type="none" w="med" len="med"/>
                    </a:lnT>
                    <a:lnB w="12700" cap="flat" cmpd="sng" algn="ctr">
                      <a:solidFill>
                        <a:srgbClr val="E2E8E7"/>
                      </a:solidFill>
                      <a:prstDash val="solid"/>
                      <a:round/>
                      <a:headEnd type="none" w="med" len="med"/>
                      <a:tailEnd type="none" w="med" len="med"/>
                    </a:lnB>
                    <a:solidFill>
                      <a:srgbClr val="FFFFFF"/>
                    </a:solidFill>
                  </a:tcPr>
                </a:tc>
                <a:tc>
                  <a:txBody>
                    <a:bodyPr/>
                    <a:lstStyle/>
                    <a:p>
                      <a:pPr indent="0" marL="0">
                        <a:buNone/>
                      </a:pPr>
                      <a:r>
                        <a:rPr lang="en-US" sz="1000" dirty="0">
                          <a:solidFill>
                            <a:srgbClr val="5A6B72"/>
                          </a:solidFill>
                          <a:latin typeface="Calibri" pitchFamily="34" charset="0"/>
                          <a:ea typeface="Calibri" pitchFamily="34" charset="-122"/>
                          <a:cs typeface="Calibri" pitchFamily="34" charset="-120"/>
                        </a:rPr>
                        <a:t>Preferred (Best)</a:t>
                      </a:r>
                      <a:endParaRPr lang="en-US" sz="1000" dirty="0">
                        <a:latin typeface="Calibri" charset="0"/>
                        <a:ea typeface="Calibri" charset="0"/>
                        <a:cs typeface="Calibri" charset="0"/>
                      </a:endParaRPr>
                    </a:p>
                  </a:txBody>
                  <a:tcPr marL="88900" marR="88900" marT="50800" marB="50800" anchor="ctr">
                    <a:lnL w="12700" cap="flat" cmpd="sng" algn="ctr">
                      <a:solidFill>
                        <a:srgbClr val="E2E8E7"/>
                      </a:solidFill>
                      <a:prstDash val="solid"/>
                      <a:round/>
                      <a:headEnd type="none" w="med" len="med"/>
                      <a:tailEnd type="none" w="med" len="med"/>
                    </a:lnL>
                    <a:lnR w="12700" cap="flat" cmpd="sng" algn="ctr">
                      <a:solidFill>
                        <a:srgbClr val="E2E8E7"/>
                      </a:solidFill>
                      <a:prstDash val="solid"/>
                      <a:round/>
                      <a:headEnd type="none" w="med" len="med"/>
                      <a:tailEnd type="none" w="med" len="med"/>
                    </a:lnR>
                    <a:lnT w="12700" cap="flat" cmpd="sng" algn="ctr">
                      <a:solidFill>
                        <a:srgbClr val="E2E8E7"/>
                      </a:solidFill>
                      <a:prstDash val="solid"/>
                      <a:round/>
                      <a:headEnd type="none" w="med" len="med"/>
                      <a:tailEnd type="none" w="med" len="med"/>
                    </a:lnT>
                    <a:lnB w="12700" cap="flat" cmpd="sng" algn="ctr">
                      <a:solidFill>
                        <a:srgbClr val="E2E8E7"/>
                      </a:solidFill>
                      <a:prstDash val="solid"/>
                      <a:round/>
                      <a:headEnd type="none" w="med" len="med"/>
                      <a:tailEnd type="none" w="med" len="med"/>
                    </a:lnB>
                    <a:solidFill>
                      <a:srgbClr val="FFFFFF"/>
                    </a:solidFill>
                  </a:tcPr>
                </a:tc>
                <a:tc>
                  <a:txBody>
                    <a:bodyPr/>
                    <a:lstStyle/>
                    <a:p>
                      <a:pPr indent="0" marL="0">
                        <a:buNone/>
                      </a:pPr>
                      <a:r>
                        <a:rPr lang="en-US" sz="1000" dirty="0">
                          <a:solidFill>
                            <a:srgbClr val="5A6B72"/>
                          </a:solidFill>
                          <a:latin typeface="Calibri" pitchFamily="34" charset="0"/>
                          <a:ea typeface="Calibri" pitchFamily="34" charset="-122"/>
                          <a:cs typeface="Calibri" pitchFamily="34" charset="-120"/>
                        </a:rPr>
                        <a:t>Full Role 2 capability; component blood therapy, dual surgical teams, complete AMAL</a:t>
                      </a:r>
                      <a:endParaRPr lang="en-US" sz="1000" dirty="0">
                        <a:latin typeface="Calibri" charset="0"/>
                        <a:ea typeface="Calibri" charset="0"/>
                        <a:cs typeface="Calibri" charset="0"/>
                      </a:endParaRPr>
                    </a:p>
                  </a:txBody>
                  <a:tcPr marL="88900" marR="88900" marT="50800" marB="50800" anchor="ctr">
                    <a:lnL w="12700" cap="flat" cmpd="sng" algn="ctr">
                      <a:solidFill>
                        <a:srgbClr val="E2E8E7"/>
                      </a:solidFill>
                      <a:prstDash val="solid"/>
                      <a:round/>
                      <a:headEnd type="none" w="med" len="med"/>
                      <a:tailEnd type="none" w="med" len="med"/>
                    </a:lnL>
                    <a:lnR w="12700" cap="flat" cmpd="sng" algn="ctr">
                      <a:solidFill>
                        <a:srgbClr val="E2E8E7"/>
                      </a:solidFill>
                      <a:prstDash val="solid"/>
                      <a:round/>
                      <a:headEnd type="none" w="med" len="med"/>
                      <a:tailEnd type="none" w="med" len="med"/>
                    </a:lnR>
                    <a:lnT w="12700" cap="flat" cmpd="sng" algn="ctr">
                      <a:solidFill>
                        <a:srgbClr val="E2E8E7"/>
                      </a:solidFill>
                      <a:prstDash val="solid"/>
                      <a:round/>
                      <a:headEnd type="none" w="med" len="med"/>
                      <a:tailEnd type="none" w="med" len="med"/>
                    </a:lnT>
                    <a:lnB w="12700" cap="flat" cmpd="sng" algn="ctr">
                      <a:solidFill>
                        <a:srgbClr val="E2E8E7"/>
                      </a:solidFill>
                      <a:prstDash val="solid"/>
                      <a:round/>
                      <a:headEnd type="none" w="med" len="med"/>
                      <a:tailEnd type="none" w="med" len="med"/>
                    </a:lnB>
                    <a:solidFill>
                      <a:srgbClr val="FFFFFF"/>
                    </a:solidFill>
                  </a:tcPr>
                </a:tc>
                <a:tc>
                  <a:txBody>
                    <a:bodyPr/>
                    <a:lstStyle/>
                    <a:p>
                      <a:pPr indent="0" marL="0">
                        <a:buNone/>
                      </a:pPr>
                      <a:r>
                        <a:rPr lang="en-US" sz="1000" dirty="0">
                          <a:solidFill>
                            <a:srgbClr val="5A6B72"/>
                          </a:solidFill>
                          <a:latin typeface="Calibri" pitchFamily="34" charset="0"/>
                          <a:ea typeface="Calibri" pitchFamily="34" charset="-122"/>
                          <a:cs typeface="Calibri" pitchFamily="34" charset="-120"/>
                        </a:rPr>
                        <a:t>Class VIII resupply &lt; 24 h; evacuation within doctrinal timelines</a:t>
                      </a:r>
                      <a:endParaRPr lang="en-US" sz="1000" dirty="0">
                        <a:latin typeface="Calibri" charset="0"/>
                        <a:ea typeface="Calibri" charset="0"/>
                        <a:cs typeface="Calibri" charset="0"/>
                      </a:endParaRPr>
                    </a:p>
                  </a:txBody>
                  <a:tcPr marL="88900" marR="88900" marT="50800" marB="50800" anchor="ctr">
                    <a:lnL w="12700" cap="flat" cmpd="sng" algn="ctr">
                      <a:solidFill>
                        <a:srgbClr val="E2E8E7"/>
                      </a:solidFill>
                      <a:prstDash val="solid"/>
                      <a:round/>
                      <a:headEnd type="none" w="med" len="med"/>
                      <a:tailEnd type="none" w="med" len="med"/>
                    </a:lnL>
                    <a:lnR w="12700" cap="flat" cmpd="sng" algn="ctr">
                      <a:solidFill>
                        <a:srgbClr val="E2E8E7"/>
                      </a:solidFill>
                      <a:prstDash val="solid"/>
                      <a:round/>
                      <a:headEnd type="none" w="med" len="med"/>
                      <a:tailEnd type="none" w="med" len="med"/>
                    </a:lnR>
                    <a:lnT w="12700" cap="flat" cmpd="sng" algn="ctr">
                      <a:solidFill>
                        <a:srgbClr val="E2E8E7"/>
                      </a:solidFill>
                      <a:prstDash val="solid"/>
                      <a:round/>
                      <a:headEnd type="none" w="med" len="med"/>
                      <a:tailEnd type="none" w="med" len="med"/>
                    </a:lnT>
                    <a:lnB w="12700" cap="flat" cmpd="sng" algn="ctr">
                      <a:solidFill>
                        <a:srgbClr val="E2E8E7"/>
                      </a:solidFill>
                      <a:prstDash val="solid"/>
                      <a:round/>
                      <a:headEnd type="none" w="med" len="med"/>
                      <a:tailEnd type="none" w="med" len="med"/>
                    </a:lnB>
                    <a:solidFill>
                      <a:srgbClr val="FFFFFF"/>
                    </a:solidFill>
                  </a:tcPr>
                </a:tc>
                <a:tc>
                  <a:txBody>
                    <a:bodyPr/>
                    <a:lstStyle/>
                    <a:p>
                      <a:pPr indent="0" marL="0">
                        <a:buNone/>
                      </a:pPr>
                      <a:r>
                        <a:rPr lang="en-US" sz="1000" i="1" dirty="0">
                          <a:solidFill>
                            <a:srgbClr val="5A6B72"/>
                          </a:solidFill>
                          <a:latin typeface="Calibri" pitchFamily="34" charset="0"/>
                          <a:ea typeface="Calibri" pitchFamily="34" charset="-122"/>
                          <a:cs typeface="Calibri" pitchFamily="34" charset="-120"/>
                        </a:rPr>
                        <a:t>Prudence</a:t>
                      </a:r>
                      <a:endParaRPr lang="en-US" sz="1000" dirty="0">
                        <a:latin typeface="Calibri" charset="0"/>
                        <a:ea typeface="Calibri" charset="0"/>
                        <a:cs typeface="Calibri" charset="0"/>
                      </a:endParaRPr>
                    </a:p>
                  </a:txBody>
                  <a:tcPr marL="88900" marR="88900" marT="50800" marB="50800" anchor="ctr">
                    <a:lnL w="12700" cap="flat" cmpd="sng" algn="ctr">
                      <a:solidFill>
                        <a:srgbClr val="E2E8E7"/>
                      </a:solidFill>
                      <a:prstDash val="solid"/>
                      <a:round/>
                      <a:headEnd type="none" w="med" len="med"/>
                      <a:tailEnd type="none" w="med" len="med"/>
                    </a:lnL>
                    <a:lnR w="12700" cap="flat" cmpd="sng" algn="ctr">
                      <a:solidFill>
                        <a:srgbClr val="E2E8E7"/>
                      </a:solidFill>
                      <a:prstDash val="solid"/>
                      <a:round/>
                      <a:headEnd type="none" w="med" len="med"/>
                      <a:tailEnd type="none" w="med" len="med"/>
                    </a:lnR>
                    <a:lnT w="12700" cap="flat" cmpd="sng" algn="ctr">
                      <a:solidFill>
                        <a:srgbClr val="E2E8E7"/>
                      </a:solidFill>
                      <a:prstDash val="solid"/>
                      <a:round/>
                      <a:headEnd type="none" w="med" len="med"/>
                      <a:tailEnd type="none" w="med" len="med"/>
                    </a:lnT>
                    <a:lnB w="12700" cap="flat" cmpd="sng" algn="ctr">
                      <a:solidFill>
                        <a:srgbClr val="E2E8E7"/>
                      </a:solidFill>
                      <a:prstDash val="solid"/>
                      <a:round/>
                      <a:headEnd type="none" w="med" len="med"/>
                      <a:tailEnd type="none" w="med" len="med"/>
                    </a:lnB>
                    <a:solidFill>
                      <a:srgbClr val="FFFFFF"/>
                    </a:solidFill>
                  </a:tcPr>
                </a:tc>
              </a:tr>
              <a:tr h="658368">
                <a:tc>
                  <a:txBody>
                    <a:bodyPr/>
                    <a:lstStyle/>
                    <a:p>
                      <a:pPr indent="0" marL="0">
                        <a:buNone/>
                      </a:pPr>
                      <a:r>
                        <a:rPr lang="en-US" sz="1000" b="1" dirty="0">
                          <a:solidFill>
                            <a:srgbClr val="B8912F"/>
                          </a:solidFill>
                          <a:latin typeface="Calibri" pitchFamily="34" charset="0"/>
                          <a:ea typeface="Calibri" pitchFamily="34" charset="-122"/>
                          <a:cs typeface="Calibri" pitchFamily="34" charset="-120"/>
                        </a:rPr>
                        <a:t>ALTERNATE</a:t>
                      </a:r>
                      <a:endParaRPr lang="en-US" sz="1000" dirty="0">
                        <a:latin typeface="Calibri" charset="0"/>
                        <a:ea typeface="Calibri" charset="0"/>
                        <a:cs typeface="Calibri" charset="0"/>
                      </a:endParaRPr>
                    </a:p>
                  </a:txBody>
                  <a:tcPr marL="88900" marR="88900" marT="50800" marB="50800" anchor="ctr">
                    <a:lnL w="12700" cap="flat" cmpd="sng" algn="ctr">
                      <a:solidFill>
                        <a:srgbClr val="E2E8E7"/>
                      </a:solidFill>
                      <a:prstDash val="solid"/>
                      <a:round/>
                      <a:headEnd type="none" w="med" len="med"/>
                      <a:tailEnd type="none" w="med" len="med"/>
                    </a:lnL>
                    <a:lnR w="12700" cap="flat" cmpd="sng" algn="ctr">
                      <a:solidFill>
                        <a:srgbClr val="E2E8E7"/>
                      </a:solidFill>
                      <a:prstDash val="solid"/>
                      <a:round/>
                      <a:headEnd type="none" w="med" len="med"/>
                      <a:tailEnd type="none" w="med" len="med"/>
                    </a:lnR>
                    <a:lnT w="12700" cap="flat" cmpd="sng" algn="ctr">
                      <a:solidFill>
                        <a:srgbClr val="E2E8E7"/>
                      </a:solidFill>
                      <a:prstDash val="solid"/>
                      <a:round/>
                      <a:headEnd type="none" w="med" len="med"/>
                      <a:tailEnd type="none" w="med" len="med"/>
                    </a:lnT>
                    <a:lnB w="12700" cap="flat" cmpd="sng" algn="ctr">
                      <a:solidFill>
                        <a:srgbClr val="E2E8E7"/>
                      </a:solidFill>
                      <a:prstDash val="solid"/>
                      <a:round/>
                      <a:headEnd type="none" w="med" len="med"/>
                      <a:tailEnd type="none" w="med" len="med"/>
                    </a:lnB>
                    <a:solidFill>
                      <a:srgbClr val="FFFFFF"/>
                    </a:solidFill>
                  </a:tcPr>
                </a:tc>
                <a:tc>
                  <a:txBody>
                    <a:bodyPr/>
                    <a:lstStyle/>
                    <a:p>
                      <a:pPr indent="0" marL="0">
                        <a:buNone/>
                      </a:pPr>
                      <a:r>
                        <a:rPr lang="en-US" sz="1000" dirty="0">
                          <a:solidFill>
                            <a:srgbClr val="5A6B72"/>
                          </a:solidFill>
                          <a:latin typeface="Calibri" pitchFamily="34" charset="0"/>
                          <a:ea typeface="Calibri" pitchFamily="34" charset="-122"/>
                          <a:cs typeface="Calibri" pitchFamily="34" charset="-120"/>
                        </a:rPr>
                        <a:t>Acceptable (Better)</a:t>
                      </a:r>
                      <a:endParaRPr lang="en-US" sz="1000" dirty="0">
                        <a:latin typeface="Calibri" charset="0"/>
                        <a:ea typeface="Calibri" charset="0"/>
                        <a:cs typeface="Calibri" charset="0"/>
                      </a:endParaRPr>
                    </a:p>
                  </a:txBody>
                  <a:tcPr marL="88900" marR="88900" marT="50800" marB="50800" anchor="ctr">
                    <a:lnL w="12700" cap="flat" cmpd="sng" algn="ctr">
                      <a:solidFill>
                        <a:srgbClr val="E2E8E7"/>
                      </a:solidFill>
                      <a:prstDash val="solid"/>
                      <a:round/>
                      <a:headEnd type="none" w="med" len="med"/>
                      <a:tailEnd type="none" w="med" len="med"/>
                    </a:lnL>
                    <a:lnR w="12700" cap="flat" cmpd="sng" algn="ctr">
                      <a:solidFill>
                        <a:srgbClr val="E2E8E7"/>
                      </a:solidFill>
                      <a:prstDash val="solid"/>
                      <a:round/>
                      <a:headEnd type="none" w="med" len="med"/>
                      <a:tailEnd type="none" w="med" len="med"/>
                    </a:lnR>
                    <a:lnT w="12700" cap="flat" cmpd="sng" algn="ctr">
                      <a:solidFill>
                        <a:srgbClr val="E2E8E7"/>
                      </a:solidFill>
                      <a:prstDash val="solid"/>
                      <a:round/>
                      <a:headEnd type="none" w="med" len="med"/>
                      <a:tailEnd type="none" w="med" len="med"/>
                    </a:lnT>
                    <a:lnB w="12700" cap="flat" cmpd="sng" algn="ctr">
                      <a:solidFill>
                        <a:srgbClr val="E2E8E7"/>
                      </a:solidFill>
                      <a:prstDash val="solid"/>
                      <a:round/>
                      <a:headEnd type="none" w="med" len="med"/>
                      <a:tailEnd type="none" w="med" len="med"/>
                    </a:lnB>
                    <a:solidFill>
                      <a:srgbClr val="FFFFFF"/>
                    </a:solidFill>
                  </a:tcPr>
                </a:tc>
                <a:tc>
                  <a:txBody>
                    <a:bodyPr/>
                    <a:lstStyle/>
                    <a:p>
                      <a:pPr indent="0" marL="0">
                        <a:buNone/>
                      </a:pPr>
                      <a:r>
                        <a:rPr lang="en-US" sz="1000" dirty="0">
                          <a:solidFill>
                            <a:srgbClr val="5A6B72"/>
                          </a:solidFill>
                          <a:latin typeface="Calibri" pitchFamily="34" charset="0"/>
                          <a:ea typeface="Calibri" pitchFamily="34" charset="-122"/>
                          <a:cs typeface="Calibri" pitchFamily="34" charset="-120"/>
                        </a:rPr>
                        <a:t>Degraded but capable; known substitutions within CPG</a:t>
                      </a:r>
                      <a:endParaRPr lang="en-US" sz="1000" dirty="0">
                        <a:latin typeface="Calibri" charset="0"/>
                        <a:ea typeface="Calibri" charset="0"/>
                        <a:cs typeface="Calibri" charset="0"/>
                      </a:endParaRPr>
                    </a:p>
                  </a:txBody>
                  <a:tcPr marL="88900" marR="88900" marT="50800" marB="50800" anchor="ctr">
                    <a:lnL w="12700" cap="flat" cmpd="sng" algn="ctr">
                      <a:solidFill>
                        <a:srgbClr val="E2E8E7"/>
                      </a:solidFill>
                      <a:prstDash val="solid"/>
                      <a:round/>
                      <a:headEnd type="none" w="med" len="med"/>
                      <a:tailEnd type="none" w="med" len="med"/>
                    </a:lnL>
                    <a:lnR w="12700" cap="flat" cmpd="sng" algn="ctr">
                      <a:solidFill>
                        <a:srgbClr val="E2E8E7"/>
                      </a:solidFill>
                      <a:prstDash val="solid"/>
                      <a:round/>
                      <a:headEnd type="none" w="med" len="med"/>
                      <a:tailEnd type="none" w="med" len="med"/>
                    </a:lnR>
                    <a:lnT w="12700" cap="flat" cmpd="sng" algn="ctr">
                      <a:solidFill>
                        <a:srgbClr val="E2E8E7"/>
                      </a:solidFill>
                      <a:prstDash val="solid"/>
                      <a:round/>
                      <a:headEnd type="none" w="med" len="med"/>
                      <a:tailEnd type="none" w="med" len="med"/>
                    </a:lnT>
                    <a:lnB w="12700" cap="flat" cmpd="sng" algn="ctr">
                      <a:solidFill>
                        <a:srgbClr val="E2E8E7"/>
                      </a:solidFill>
                      <a:prstDash val="solid"/>
                      <a:round/>
                      <a:headEnd type="none" w="med" len="med"/>
                      <a:tailEnd type="none" w="med" len="med"/>
                    </a:lnB>
                    <a:solidFill>
                      <a:srgbClr val="FFFFFF"/>
                    </a:solidFill>
                  </a:tcPr>
                </a:tc>
                <a:tc>
                  <a:txBody>
                    <a:bodyPr/>
                    <a:lstStyle/>
                    <a:p>
                      <a:pPr indent="0" marL="0">
                        <a:buNone/>
                      </a:pPr>
                      <a:r>
                        <a:rPr lang="en-US" sz="1000" dirty="0">
                          <a:solidFill>
                            <a:srgbClr val="5A6B72"/>
                          </a:solidFill>
                          <a:latin typeface="Calibri" pitchFamily="34" charset="0"/>
                          <a:ea typeface="Calibri" pitchFamily="34" charset="-122"/>
                          <a:cs typeface="Calibri" pitchFamily="34" charset="-120"/>
                        </a:rPr>
                        <a:t>Resupply 24–72 h; evacuation delayed but functional; key billets gapped</a:t>
                      </a:r>
                      <a:endParaRPr lang="en-US" sz="1000" dirty="0">
                        <a:latin typeface="Calibri" charset="0"/>
                        <a:ea typeface="Calibri" charset="0"/>
                        <a:cs typeface="Calibri" charset="0"/>
                      </a:endParaRPr>
                    </a:p>
                  </a:txBody>
                  <a:tcPr marL="88900" marR="88900" marT="50800" marB="50800" anchor="ctr">
                    <a:lnL w="12700" cap="flat" cmpd="sng" algn="ctr">
                      <a:solidFill>
                        <a:srgbClr val="E2E8E7"/>
                      </a:solidFill>
                      <a:prstDash val="solid"/>
                      <a:round/>
                      <a:headEnd type="none" w="med" len="med"/>
                      <a:tailEnd type="none" w="med" len="med"/>
                    </a:lnL>
                    <a:lnR w="12700" cap="flat" cmpd="sng" algn="ctr">
                      <a:solidFill>
                        <a:srgbClr val="E2E8E7"/>
                      </a:solidFill>
                      <a:prstDash val="solid"/>
                      <a:round/>
                      <a:headEnd type="none" w="med" len="med"/>
                      <a:tailEnd type="none" w="med" len="med"/>
                    </a:lnR>
                    <a:lnT w="12700" cap="flat" cmpd="sng" algn="ctr">
                      <a:solidFill>
                        <a:srgbClr val="E2E8E7"/>
                      </a:solidFill>
                      <a:prstDash val="solid"/>
                      <a:round/>
                      <a:headEnd type="none" w="med" len="med"/>
                      <a:tailEnd type="none" w="med" len="med"/>
                    </a:lnT>
                    <a:lnB w="12700" cap="flat" cmpd="sng" algn="ctr">
                      <a:solidFill>
                        <a:srgbClr val="E2E8E7"/>
                      </a:solidFill>
                      <a:prstDash val="solid"/>
                      <a:round/>
                      <a:headEnd type="none" w="med" len="med"/>
                      <a:tailEnd type="none" w="med" len="med"/>
                    </a:lnB>
                    <a:solidFill>
                      <a:srgbClr val="FFFFFF"/>
                    </a:solidFill>
                  </a:tcPr>
                </a:tc>
                <a:tc>
                  <a:txBody>
                    <a:bodyPr/>
                    <a:lstStyle/>
                    <a:p>
                      <a:pPr indent="0" marL="0">
                        <a:buNone/>
                      </a:pPr>
                      <a:r>
                        <a:rPr lang="en-US" sz="1000" i="1" dirty="0">
                          <a:solidFill>
                            <a:srgbClr val="5A6B72"/>
                          </a:solidFill>
                          <a:latin typeface="Calibri" pitchFamily="34" charset="0"/>
                          <a:ea typeface="Calibri" pitchFamily="34" charset="-122"/>
                          <a:cs typeface="Calibri" pitchFamily="34" charset="-120"/>
                        </a:rPr>
                        <a:t>Prudence + Justice</a:t>
                      </a:r>
                      <a:endParaRPr lang="en-US" sz="1000" dirty="0">
                        <a:latin typeface="Calibri" charset="0"/>
                        <a:ea typeface="Calibri" charset="0"/>
                        <a:cs typeface="Calibri" charset="0"/>
                      </a:endParaRPr>
                    </a:p>
                  </a:txBody>
                  <a:tcPr marL="88900" marR="88900" marT="50800" marB="50800" anchor="ctr">
                    <a:lnL w="12700" cap="flat" cmpd="sng" algn="ctr">
                      <a:solidFill>
                        <a:srgbClr val="E2E8E7"/>
                      </a:solidFill>
                      <a:prstDash val="solid"/>
                      <a:round/>
                      <a:headEnd type="none" w="med" len="med"/>
                      <a:tailEnd type="none" w="med" len="med"/>
                    </a:lnL>
                    <a:lnR w="12700" cap="flat" cmpd="sng" algn="ctr">
                      <a:solidFill>
                        <a:srgbClr val="E2E8E7"/>
                      </a:solidFill>
                      <a:prstDash val="solid"/>
                      <a:round/>
                      <a:headEnd type="none" w="med" len="med"/>
                      <a:tailEnd type="none" w="med" len="med"/>
                    </a:lnR>
                    <a:lnT w="12700" cap="flat" cmpd="sng" algn="ctr">
                      <a:solidFill>
                        <a:srgbClr val="E2E8E7"/>
                      </a:solidFill>
                      <a:prstDash val="solid"/>
                      <a:round/>
                      <a:headEnd type="none" w="med" len="med"/>
                      <a:tailEnd type="none" w="med" len="med"/>
                    </a:lnT>
                    <a:lnB w="12700" cap="flat" cmpd="sng" algn="ctr">
                      <a:solidFill>
                        <a:srgbClr val="E2E8E7"/>
                      </a:solidFill>
                      <a:prstDash val="solid"/>
                      <a:round/>
                      <a:headEnd type="none" w="med" len="med"/>
                      <a:tailEnd type="none" w="med" len="med"/>
                    </a:lnB>
                    <a:solidFill>
                      <a:srgbClr val="FFFFFF"/>
                    </a:solidFill>
                  </a:tcPr>
                </a:tc>
              </a:tr>
              <a:tr h="658368">
                <a:tc>
                  <a:txBody>
                    <a:bodyPr/>
                    <a:lstStyle/>
                    <a:p>
                      <a:pPr indent="0" marL="0">
                        <a:buNone/>
                      </a:pPr>
                      <a:r>
                        <a:rPr lang="en-US" sz="1000" b="1" dirty="0">
                          <a:solidFill>
                            <a:srgbClr val="C25E3A"/>
                          </a:solidFill>
                          <a:latin typeface="Calibri" pitchFamily="34" charset="0"/>
                          <a:ea typeface="Calibri" pitchFamily="34" charset="-122"/>
                          <a:cs typeface="Calibri" pitchFamily="34" charset="-120"/>
                        </a:rPr>
                        <a:t>CONTINGENCY</a:t>
                      </a:r>
                      <a:endParaRPr lang="en-US" sz="1000" dirty="0">
                        <a:latin typeface="Calibri" charset="0"/>
                        <a:ea typeface="Calibri" charset="0"/>
                        <a:cs typeface="Calibri" charset="0"/>
                      </a:endParaRPr>
                    </a:p>
                  </a:txBody>
                  <a:tcPr marL="88900" marR="88900" marT="50800" marB="50800" anchor="ctr">
                    <a:lnL w="12700" cap="flat" cmpd="sng" algn="ctr">
                      <a:solidFill>
                        <a:srgbClr val="E2E8E7"/>
                      </a:solidFill>
                      <a:prstDash val="solid"/>
                      <a:round/>
                      <a:headEnd type="none" w="med" len="med"/>
                      <a:tailEnd type="none" w="med" len="med"/>
                    </a:lnL>
                    <a:lnR w="12700" cap="flat" cmpd="sng" algn="ctr">
                      <a:solidFill>
                        <a:srgbClr val="E2E8E7"/>
                      </a:solidFill>
                      <a:prstDash val="solid"/>
                      <a:round/>
                      <a:headEnd type="none" w="med" len="med"/>
                      <a:tailEnd type="none" w="med" len="med"/>
                    </a:lnR>
                    <a:lnT w="12700" cap="flat" cmpd="sng" algn="ctr">
                      <a:solidFill>
                        <a:srgbClr val="E2E8E7"/>
                      </a:solidFill>
                      <a:prstDash val="solid"/>
                      <a:round/>
                      <a:headEnd type="none" w="med" len="med"/>
                      <a:tailEnd type="none" w="med" len="med"/>
                    </a:lnT>
                    <a:lnB w="12700" cap="flat" cmpd="sng" algn="ctr">
                      <a:solidFill>
                        <a:srgbClr val="E2E8E7"/>
                      </a:solidFill>
                      <a:prstDash val="solid"/>
                      <a:round/>
                      <a:headEnd type="none" w="med" len="med"/>
                      <a:tailEnd type="none" w="med" len="med"/>
                    </a:lnB>
                    <a:solidFill>
                      <a:srgbClr val="FFFFFF"/>
                    </a:solidFill>
                  </a:tcPr>
                </a:tc>
                <a:tc>
                  <a:txBody>
                    <a:bodyPr/>
                    <a:lstStyle/>
                    <a:p>
                      <a:pPr indent="0" marL="0">
                        <a:buNone/>
                      </a:pPr>
                      <a:r>
                        <a:rPr lang="en-US" sz="1000" dirty="0">
                          <a:solidFill>
                            <a:srgbClr val="5A6B72"/>
                          </a:solidFill>
                          <a:latin typeface="Calibri" pitchFamily="34" charset="0"/>
                          <a:ea typeface="Calibri" pitchFamily="34" charset="-122"/>
                          <a:cs typeface="Calibri" pitchFamily="34" charset="-120"/>
                        </a:rPr>
                        <a:t>Minimum standard</a:t>
                      </a:r>
                      <a:endParaRPr lang="en-US" sz="1000" dirty="0">
                        <a:latin typeface="Calibri" charset="0"/>
                        <a:ea typeface="Calibri" charset="0"/>
                        <a:cs typeface="Calibri" charset="0"/>
                      </a:endParaRPr>
                    </a:p>
                  </a:txBody>
                  <a:tcPr marL="88900" marR="88900" marT="50800" marB="50800" anchor="ctr">
                    <a:lnL w="12700" cap="flat" cmpd="sng" algn="ctr">
                      <a:solidFill>
                        <a:srgbClr val="E2E8E7"/>
                      </a:solidFill>
                      <a:prstDash val="solid"/>
                      <a:round/>
                      <a:headEnd type="none" w="med" len="med"/>
                      <a:tailEnd type="none" w="med" len="med"/>
                    </a:lnL>
                    <a:lnR w="12700" cap="flat" cmpd="sng" algn="ctr">
                      <a:solidFill>
                        <a:srgbClr val="E2E8E7"/>
                      </a:solidFill>
                      <a:prstDash val="solid"/>
                      <a:round/>
                      <a:headEnd type="none" w="med" len="med"/>
                      <a:tailEnd type="none" w="med" len="med"/>
                    </a:lnR>
                    <a:lnT w="12700" cap="flat" cmpd="sng" algn="ctr">
                      <a:solidFill>
                        <a:srgbClr val="E2E8E7"/>
                      </a:solidFill>
                      <a:prstDash val="solid"/>
                      <a:round/>
                      <a:headEnd type="none" w="med" len="med"/>
                      <a:tailEnd type="none" w="med" len="med"/>
                    </a:lnT>
                    <a:lnB w="12700" cap="flat" cmpd="sng" algn="ctr">
                      <a:solidFill>
                        <a:srgbClr val="E2E8E7"/>
                      </a:solidFill>
                      <a:prstDash val="solid"/>
                      <a:round/>
                      <a:headEnd type="none" w="med" len="med"/>
                      <a:tailEnd type="none" w="med" len="med"/>
                    </a:lnB>
                    <a:solidFill>
                      <a:srgbClr val="FFFFFF"/>
                    </a:solidFill>
                  </a:tcPr>
                </a:tc>
                <a:tc>
                  <a:txBody>
                    <a:bodyPr/>
                    <a:lstStyle/>
                    <a:p>
                      <a:pPr indent="0" marL="0">
                        <a:buNone/>
                      </a:pPr>
                      <a:r>
                        <a:rPr lang="en-US" sz="1000" dirty="0">
                          <a:solidFill>
                            <a:srgbClr val="5A6B72"/>
                          </a:solidFill>
                          <a:latin typeface="Calibri" pitchFamily="34" charset="0"/>
                          <a:ea typeface="Calibri" pitchFamily="34" charset="-122"/>
                          <a:cs typeface="Calibri" pitchFamily="34" charset="-120"/>
                        </a:rPr>
                        <a:t>Capability gaps present; triage shifts to reverse triage protocols</a:t>
                      </a:r>
                      <a:endParaRPr lang="en-US" sz="1000" dirty="0">
                        <a:latin typeface="Calibri" charset="0"/>
                        <a:ea typeface="Calibri" charset="0"/>
                        <a:cs typeface="Calibri" charset="0"/>
                      </a:endParaRPr>
                    </a:p>
                  </a:txBody>
                  <a:tcPr marL="88900" marR="88900" marT="50800" marB="50800" anchor="ctr">
                    <a:lnL w="12700" cap="flat" cmpd="sng" algn="ctr">
                      <a:solidFill>
                        <a:srgbClr val="E2E8E7"/>
                      </a:solidFill>
                      <a:prstDash val="solid"/>
                      <a:round/>
                      <a:headEnd type="none" w="med" len="med"/>
                      <a:tailEnd type="none" w="med" len="med"/>
                    </a:lnL>
                    <a:lnR w="12700" cap="flat" cmpd="sng" algn="ctr">
                      <a:solidFill>
                        <a:srgbClr val="E2E8E7"/>
                      </a:solidFill>
                      <a:prstDash val="solid"/>
                      <a:round/>
                      <a:headEnd type="none" w="med" len="med"/>
                      <a:tailEnd type="none" w="med" len="med"/>
                    </a:lnR>
                    <a:lnT w="12700" cap="flat" cmpd="sng" algn="ctr">
                      <a:solidFill>
                        <a:srgbClr val="E2E8E7"/>
                      </a:solidFill>
                      <a:prstDash val="solid"/>
                      <a:round/>
                      <a:headEnd type="none" w="med" len="med"/>
                      <a:tailEnd type="none" w="med" len="med"/>
                    </a:lnT>
                    <a:lnB w="12700" cap="flat" cmpd="sng" algn="ctr">
                      <a:solidFill>
                        <a:srgbClr val="E2E8E7"/>
                      </a:solidFill>
                      <a:prstDash val="solid"/>
                      <a:round/>
                      <a:headEnd type="none" w="med" len="med"/>
                      <a:tailEnd type="none" w="med" len="med"/>
                    </a:lnB>
                    <a:solidFill>
                      <a:srgbClr val="FFFFFF"/>
                    </a:solidFill>
                  </a:tcPr>
                </a:tc>
                <a:tc>
                  <a:txBody>
                    <a:bodyPr/>
                    <a:lstStyle/>
                    <a:p>
                      <a:pPr indent="0" marL="0">
                        <a:buNone/>
                      </a:pPr>
                      <a:r>
                        <a:rPr lang="en-US" sz="1000" dirty="0">
                          <a:solidFill>
                            <a:srgbClr val="5A6B72"/>
                          </a:solidFill>
                          <a:latin typeface="Calibri" pitchFamily="34" charset="0"/>
                          <a:ea typeface="Calibri" pitchFamily="34" charset="-122"/>
                          <a:cs typeface="Calibri" pitchFamily="34" charset="-120"/>
                        </a:rPr>
                        <a:t>Resupply &gt; 72 h or interdicted; evacuation non-functional; MASCAL</a:t>
                      </a:r>
                      <a:endParaRPr lang="en-US" sz="1000" dirty="0">
                        <a:latin typeface="Calibri" charset="0"/>
                        <a:ea typeface="Calibri" charset="0"/>
                        <a:cs typeface="Calibri" charset="0"/>
                      </a:endParaRPr>
                    </a:p>
                  </a:txBody>
                  <a:tcPr marL="88900" marR="88900" marT="50800" marB="50800" anchor="ctr">
                    <a:lnL w="12700" cap="flat" cmpd="sng" algn="ctr">
                      <a:solidFill>
                        <a:srgbClr val="E2E8E7"/>
                      </a:solidFill>
                      <a:prstDash val="solid"/>
                      <a:round/>
                      <a:headEnd type="none" w="med" len="med"/>
                      <a:tailEnd type="none" w="med" len="med"/>
                    </a:lnL>
                    <a:lnR w="12700" cap="flat" cmpd="sng" algn="ctr">
                      <a:solidFill>
                        <a:srgbClr val="E2E8E7"/>
                      </a:solidFill>
                      <a:prstDash val="solid"/>
                      <a:round/>
                      <a:headEnd type="none" w="med" len="med"/>
                      <a:tailEnd type="none" w="med" len="med"/>
                    </a:lnR>
                    <a:lnT w="12700" cap="flat" cmpd="sng" algn="ctr">
                      <a:solidFill>
                        <a:srgbClr val="E2E8E7"/>
                      </a:solidFill>
                      <a:prstDash val="solid"/>
                      <a:round/>
                      <a:headEnd type="none" w="med" len="med"/>
                      <a:tailEnd type="none" w="med" len="med"/>
                    </a:lnT>
                    <a:lnB w="12700" cap="flat" cmpd="sng" algn="ctr">
                      <a:solidFill>
                        <a:srgbClr val="E2E8E7"/>
                      </a:solidFill>
                      <a:prstDash val="solid"/>
                      <a:round/>
                      <a:headEnd type="none" w="med" len="med"/>
                      <a:tailEnd type="none" w="med" len="med"/>
                    </a:lnB>
                    <a:solidFill>
                      <a:srgbClr val="FFFFFF"/>
                    </a:solidFill>
                  </a:tcPr>
                </a:tc>
                <a:tc>
                  <a:txBody>
                    <a:bodyPr/>
                    <a:lstStyle/>
                    <a:p>
                      <a:pPr indent="0" marL="0">
                        <a:buNone/>
                      </a:pPr>
                      <a:r>
                        <a:rPr lang="en-US" sz="1000" i="1" dirty="0">
                          <a:solidFill>
                            <a:srgbClr val="5A6B72"/>
                          </a:solidFill>
                          <a:latin typeface="Calibri" pitchFamily="34" charset="0"/>
                          <a:ea typeface="Calibri" pitchFamily="34" charset="-122"/>
                          <a:cs typeface="Calibri" pitchFamily="34" charset="-120"/>
                        </a:rPr>
                        <a:t>Justice + Courage</a:t>
                      </a:r>
                      <a:endParaRPr lang="en-US" sz="1000" dirty="0">
                        <a:latin typeface="Calibri" charset="0"/>
                        <a:ea typeface="Calibri" charset="0"/>
                        <a:cs typeface="Calibri" charset="0"/>
                      </a:endParaRPr>
                    </a:p>
                  </a:txBody>
                  <a:tcPr marL="88900" marR="88900" marT="50800" marB="50800" anchor="ctr">
                    <a:lnL w="12700" cap="flat" cmpd="sng" algn="ctr">
                      <a:solidFill>
                        <a:srgbClr val="E2E8E7"/>
                      </a:solidFill>
                      <a:prstDash val="solid"/>
                      <a:round/>
                      <a:headEnd type="none" w="med" len="med"/>
                      <a:tailEnd type="none" w="med" len="med"/>
                    </a:lnL>
                    <a:lnR w="12700" cap="flat" cmpd="sng" algn="ctr">
                      <a:solidFill>
                        <a:srgbClr val="E2E8E7"/>
                      </a:solidFill>
                      <a:prstDash val="solid"/>
                      <a:round/>
                      <a:headEnd type="none" w="med" len="med"/>
                      <a:tailEnd type="none" w="med" len="med"/>
                    </a:lnR>
                    <a:lnT w="12700" cap="flat" cmpd="sng" algn="ctr">
                      <a:solidFill>
                        <a:srgbClr val="E2E8E7"/>
                      </a:solidFill>
                      <a:prstDash val="solid"/>
                      <a:round/>
                      <a:headEnd type="none" w="med" len="med"/>
                      <a:tailEnd type="none" w="med" len="med"/>
                    </a:lnT>
                    <a:lnB w="12700" cap="flat" cmpd="sng" algn="ctr">
                      <a:solidFill>
                        <a:srgbClr val="E2E8E7"/>
                      </a:solidFill>
                      <a:prstDash val="solid"/>
                      <a:round/>
                      <a:headEnd type="none" w="med" len="med"/>
                      <a:tailEnd type="none" w="med" len="med"/>
                    </a:lnB>
                    <a:solidFill>
                      <a:srgbClr val="FFFFFF"/>
                    </a:solidFill>
                  </a:tcPr>
                </a:tc>
              </a:tr>
              <a:tr h="658368">
                <a:tc>
                  <a:txBody>
                    <a:bodyPr/>
                    <a:lstStyle/>
                    <a:p>
                      <a:pPr indent="0" marL="0">
                        <a:buNone/>
                      </a:pPr>
                      <a:r>
                        <a:rPr lang="en-US" sz="1000" b="1" dirty="0">
                          <a:solidFill>
                            <a:srgbClr val="9B2C2C"/>
                          </a:solidFill>
                          <a:latin typeface="Calibri" pitchFamily="34" charset="0"/>
                          <a:ea typeface="Calibri" pitchFamily="34" charset="-122"/>
                          <a:cs typeface="Calibri" pitchFamily="34" charset="-120"/>
                        </a:rPr>
                        <a:t>EMERGENCY</a:t>
                      </a:r>
                      <a:endParaRPr lang="en-US" sz="1000" dirty="0">
                        <a:latin typeface="Calibri" charset="0"/>
                        <a:ea typeface="Calibri" charset="0"/>
                        <a:cs typeface="Calibri" charset="0"/>
                      </a:endParaRPr>
                    </a:p>
                  </a:txBody>
                  <a:tcPr marL="88900" marR="88900" marT="50800" marB="50800" anchor="ctr">
                    <a:lnL w="12700" cap="flat" cmpd="sng" algn="ctr">
                      <a:solidFill>
                        <a:srgbClr val="E2E8E7"/>
                      </a:solidFill>
                      <a:prstDash val="solid"/>
                      <a:round/>
                      <a:headEnd type="none" w="med" len="med"/>
                      <a:tailEnd type="none" w="med" len="med"/>
                    </a:lnL>
                    <a:lnR w="12700" cap="flat" cmpd="sng" algn="ctr">
                      <a:solidFill>
                        <a:srgbClr val="E2E8E7"/>
                      </a:solidFill>
                      <a:prstDash val="solid"/>
                      <a:round/>
                      <a:headEnd type="none" w="med" len="med"/>
                      <a:tailEnd type="none" w="med" len="med"/>
                    </a:lnR>
                    <a:lnT w="12700" cap="flat" cmpd="sng" algn="ctr">
                      <a:solidFill>
                        <a:srgbClr val="E2E8E7"/>
                      </a:solidFill>
                      <a:prstDash val="solid"/>
                      <a:round/>
                      <a:headEnd type="none" w="med" len="med"/>
                      <a:tailEnd type="none" w="med" len="med"/>
                    </a:lnT>
                    <a:lnB w="12700" cap="flat" cmpd="sng" algn="ctr">
                      <a:solidFill>
                        <a:srgbClr val="E2E8E7"/>
                      </a:solidFill>
                      <a:prstDash val="solid"/>
                      <a:round/>
                      <a:headEnd type="none" w="med" len="med"/>
                      <a:tailEnd type="none" w="med" len="med"/>
                    </a:lnB>
                    <a:solidFill>
                      <a:srgbClr val="FFFFFF"/>
                    </a:solidFill>
                  </a:tcPr>
                </a:tc>
                <a:tc>
                  <a:txBody>
                    <a:bodyPr/>
                    <a:lstStyle/>
                    <a:p>
                      <a:pPr indent="0" marL="0">
                        <a:buNone/>
                      </a:pPr>
                      <a:r>
                        <a:rPr lang="en-US" sz="1000" dirty="0">
                          <a:solidFill>
                            <a:srgbClr val="5A6B72"/>
                          </a:solidFill>
                          <a:latin typeface="Calibri" pitchFamily="34" charset="0"/>
                          <a:ea typeface="Calibri" pitchFamily="34" charset="-122"/>
                          <a:cs typeface="Calibri" pitchFamily="34" charset="-120"/>
                        </a:rPr>
                        <a:t>Below minimum</a:t>
                      </a:r>
                      <a:endParaRPr lang="en-US" sz="1000" dirty="0">
                        <a:latin typeface="Calibri" charset="0"/>
                        <a:ea typeface="Calibri" charset="0"/>
                        <a:cs typeface="Calibri" charset="0"/>
                      </a:endParaRPr>
                    </a:p>
                  </a:txBody>
                  <a:tcPr marL="88900" marR="88900" marT="50800" marB="50800" anchor="ctr">
                    <a:lnL w="12700" cap="flat" cmpd="sng" algn="ctr">
                      <a:solidFill>
                        <a:srgbClr val="E2E8E7"/>
                      </a:solidFill>
                      <a:prstDash val="solid"/>
                      <a:round/>
                      <a:headEnd type="none" w="med" len="med"/>
                      <a:tailEnd type="none" w="med" len="med"/>
                    </a:lnL>
                    <a:lnR w="12700" cap="flat" cmpd="sng" algn="ctr">
                      <a:solidFill>
                        <a:srgbClr val="E2E8E7"/>
                      </a:solidFill>
                      <a:prstDash val="solid"/>
                      <a:round/>
                      <a:headEnd type="none" w="med" len="med"/>
                      <a:tailEnd type="none" w="med" len="med"/>
                    </a:lnR>
                    <a:lnT w="12700" cap="flat" cmpd="sng" algn="ctr">
                      <a:solidFill>
                        <a:srgbClr val="E2E8E7"/>
                      </a:solidFill>
                      <a:prstDash val="solid"/>
                      <a:round/>
                      <a:headEnd type="none" w="med" len="med"/>
                      <a:tailEnd type="none" w="med" len="med"/>
                    </a:lnT>
                    <a:lnB w="12700" cap="flat" cmpd="sng" algn="ctr">
                      <a:solidFill>
                        <a:srgbClr val="E2E8E7"/>
                      </a:solidFill>
                      <a:prstDash val="solid"/>
                      <a:round/>
                      <a:headEnd type="none" w="med" len="med"/>
                      <a:tailEnd type="none" w="med" len="med"/>
                    </a:lnB>
                    <a:solidFill>
                      <a:srgbClr val="FFFFFF"/>
                    </a:solidFill>
                  </a:tcPr>
                </a:tc>
                <a:tc>
                  <a:txBody>
                    <a:bodyPr/>
                    <a:lstStyle/>
                    <a:p>
                      <a:pPr indent="0" marL="0">
                        <a:buNone/>
                      </a:pPr>
                      <a:r>
                        <a:rPr lang="en-US" sz="1000" dirty="0">
                          <a:solidFill>
                            <a:srgbClr val="5A6B72"/>
                          </a:solidFill>
                          <a:latin typeface="Calibri" pitchFamily="34" charset="0"/>
                          <a:ea typeface="Calibri" pitchFamily="34" charset="-122"/>
                          <a:cs typeface="Calibri" pitchFamily="34" charset="-120"/>
                        </a:rPr>
                        <a:t>Survivability focus for the unit; reverse triage to sustain the force</a:t>
                      </a:r>
                      <a:endParaRPr lang="en-US" sz="1000" dirty="0">
                        <a:latin typeface="Calibri" charset="0"/>
                        <a:ea typeface="Calibri" charset="0"/>
                        <a:cs typeface="Calibri" charset="0"/>
                      </a:endParaRPr>
                    </a:p>
                  </a:txBody>
                  <a:tcPr marL="88900" marR="88900" marT="50800" marB="50800" anchor="ctr">
                    <a:lnL w="12700" cap="flat" cmpd="sng" algn="ctr">
                      <a:solidFill>
                        <a:srgbClr val="E2E8E7"/>
                      </a:solidFill>
                      <a:prstDash val="solid"/>
                      <a:round/>
                      <a:headEnd type="none" w="med" len="med"/>
                      <a:tailEnd type="none" w="med" len="med"/>
                    </a:lnL>
                    <a:lnR w="12700" cap="flat" cmpd="sng" algn="ctr">
                      <a:solidFill>
                        <a:srgbClr val="E2E8E7"/>
                      </a:solidFill>
                      <a:prstDash val="solid"/>
                      <a:round/>
                      <a:headEnd type="none" w="med" len="med"/>
                      <a:tailEnd type="none" w="med" len="med"/>
                    </a:lnR>
                    <a:lnT w="12700" cap="flat" cmpd="sng" algn="ctr">
                      <a:solidFill>
                        <a:srgbClr val="E2E8E7"/>
                      </a:solidFill>
                      <a:prstDash val="solid"/>
                      <a:round/>
                      <a:headEnd type="none" w="med" len="med"/>
                      <a:tailEnd type="none" w="med" len="med"/>
                    </a:lnT>
                    <a:lnB w="12700" cap="flat" cmpd="sng" algn="ctr">
                      <a:solidFill>
                        <a:srgbClr val="E2E8E7"/>
                      </a:solidFill>
                      <a:prstDash val="solid"/>
                      <a:round/>
                      <a:headEnd type="none" w="med" len="med"/>
                      <a:tailEnd type="none" w="med" len="med"/>
                    </a:lnB>
                    <a:solidFill>
                      <a:srgbClr val="FFFFFF"/>
                    </a:solidFill>
                  </a:tcPr>
                </a:tc>
                <a:tc>
                  <a:txBody>
                    <a:bodyPr/>
                    <a:lstStyle/>
                    <a:p>
                      <a:pPr indent="0" marL="0">
                        <a:buNone/>
                      </a:pPr>
                      <a:r>
                        <a:rPr lang="en-US" sz="1000" dirty="0">
                          <a:solidFill>
                            <a:srgbClr val="5A6B72"/>
                          </a:solidFill>
                          <a:latin typeface="Calibri" pitchFamily="34" charset="0"/>
                          <a:ea typeface="Calibri" pitchFamily="34" charset="-122"/>
                          <a:cs typeface="Calibri" pitchFamily="34" charset="-120"/>
                        </a:rPr>
                        <a:t>Supply chain severed; no movement possible; comms degraded or lost</a:t>
                      </a:r>
                      <a:endParaRPr lang="en-US" sz="1000" dirty="0">
                        <a:latin typeface="Calibri" charset="0"/>
                        <a:ea typeface="Calibri" charset="0"/>
                        <a:cs typeface="Calibri" charset="0"/>
                      </a:endParaRPr>
                    </a:p>
                  </a:txBody>
                  <a:tcPr marL="88900" marR="88900" marT="50800" marB="50800" anchor="ctr">
                    <a:lnL w="12700" cap="flat" cmpd="sng" algn="ctr">
                      <a:solidFill>
                        <a:srgbClr val="E2E8E7"/>
                      </a:solidFill>
                      <a:prstDash val="solid"/>
                      <a:round/>
                      <a:headEnd type="none" w="med" len="med"/>
                      <a:tailEnd type="none" w="med" len="med"/>
                    </a:lnL>
                    <a:lnR w="12700" cap="flat" cmpd="sng" algn="ctr">
                      <a:solidFill>
                        <a:srgbClr val="E2E8E7"/>
                      </a:solidFill>
                      <a:prstDash val="solid"/>
                      <a:round/>
                      <a:headEnd type="none" w="med" len="med"/>
                      <a:tailEnd type="none" w="med" len="med"/>
                    </a:lnR>
                    <a:lnT w="12700" cap="flat" cmpd="sng" algn="ctr">
                      <a:solidFill>
                        <a:srgbClr val="E2E8E7"/>
                      </a:solidFill>
                      <a:prstDash val="solid"/>
                      <a:round/>
                      <a:headEnd type="none" w="med" len="med"/>
                      <a:tailEnd type="none" w="med" len="med"/>
                    </a:lnT>
                    <a:lnB w="12700" cap="flat" cmpd="sng" algn="ctr">
                      <a:solidFill>
                        <a:srgbClr val="E2E8E7"/>
                      </a:solidFill>
                      <a:prstDash val="solid"/>
                      <a:round/>
                      <a:headEnd type="none" w="med" len="med"/>
                      <a:tailEnd type="none" w="med" len="med"/>
                    </a:lnB>
                    <a:solidFill>
                      <a:srgbClr val="FFFFFF"/>
                    </a:solidFill>
                  </a:tcPr>
                </a:tc>
                <a:tc>
                  <a:txBody>
                    <a:bodyPr/>
                    <a:lstStyle/>
                    <a:p>
                      <a:pPr indent="0" marL="0">
                        <a:buNone/>
                      </a:pPr>
                      <a:r>
                        <a:rPr lang="en-US" sz="1000" i="1" dirty="0">
                          <a:solidFill>
                            <a:srgbClr val="5A6B72"/>
                          </a:solidFill>
                          <a:latin typeface="Calibri" pitchFamily="34" charset="0"/>
                          <a:ea typeface="Calibri" pitchFamily="34" charset="-122"/>
                          <a:cs typeface="Calibri" pitchFamily="34" charset="-120"/>
                        </a:rPr>
                        <a:t>Courage + Temperance</a:t>
                      </a:r>
                      <a:endParaRPr lang="en-US" sz="1000" dirty="0">
                        <a:latin typeface="Calibri" charset="0"/>
                        <a:ea typeface="Calibri" charset="0"/>
                        <a:cs typeface="Calibri" charset="0"/>
                      </a:endParaRPr>
                    </a:p>
                  </a:txBody>
                  <a:tcPr marL="88900" marR="88900" marT="50800" marB="50800" anchor="ctr">
                    <a:lnL w="12700" cap="flat" cmpd="sng" algn="ctr">
                      <a:solidFill>
                        <a:srgbClr val="E2E8E7"/>
                      </a:solidFill>
                      <a:prstDash val="solid"/>
                      <a:round/>
                      <a:headEnd type="none" w="med" len="med"/>
                      <a:tailEnd type="none" w="med" len="med"/>
                    </a:lnL>
                    <a:lnR w="12700" cap="flat" cmpd="sng" algn="ctr">
                      <a:solidFill>
                        <a:srgbClr val="E2E8E7"/>
                      </a:solidFill>
                      <a:prstDash val="solid"/>
                      <a:round/>
                      <a:headEnd type="none" w="med" len="med"/>
                      <a:tailEnd type="none" w="med" len="med"/>
                    </a:lnR>
                    <a:lnT w="12700" cap="flat" cmpd="sng" algn="ctr">
                      <a:solidFill>
                        <a:srgbClr val="E2E8E7"/>
                      </a:solidFill>
                      <a:prstDash val="solid"/>
                      <a:round/>
                      <a:headEnd type="none" w="med" len="med"/>
                      <a:tailEnd type="none" w="med" len="med"/>
                    </a:lnT>
                    <a:lnB w="12700" cap="flat" cmpd="sng" algn="ctr">
                      <a:solidFill>
                        <a:srgbClr val="E2E8E7"/>
                      </a:solidFill>
                      <a:prstDash val="solid"/>
                      <a:round/>
                      <a:headEnd type="none" w="med" len="med"/>
                      <a:tailEnd type="none" w="med" len="med"/>
                    </a:lnB>
                    <a:solidFill>
                      <a:srgbClr val="FFFFFF"/>
                    </a:solidFill>
                  </a:tcPr>
                </a:tc>
              </a:tr>
            </a:tbl>
          </a:graphicData>
        </a:graphic>
      </p:graphicFrame>
      <p:sp>
        <p:nvSpPr>
          <p:cNvPr id="10" name="Text 7"/>
          <p:cNvSpPr/>
          <p:nvPr/>
        </p:nvSpPr>
        <p:spPr>
          <a:xfrm>
            <a:off x="566928" y="6382512"/>
            <a:ext cx="10515600" cy="219456"/>
          </a:xfrm>
          <a:prstGeom prst="rect">
            <a:avLst/>
          </a:prstGeom>
          <a:noFill/>
          <a:ln/>
        </p:spPr>
        <p:txBody>
          <a:bodyPr wrap="square" lIns="0" tIns="0" rIns="0" bIns="0" rtlCol="0" anchor="ctr"/>
          <a:lstStyle/>
          <a:p>
            <a:pPr indent="0" marL="0">
              <a:buNone/>
            </a:pPr>
            <a:r>
              <a:rPr lang="en-US" sz="900" i="1" dirty="0">
                <a:solidFill>
                  <a:srgbClr val="C9D6DB"/>
                </a:solidFill>
                <a:latin typeface="Calibri" pitchFamily="34" charset="0"/>
                <a:ea typeface="Calibri" pitchFamily="34" charset="-122"/>
                <a:cs typeface="Calibri" pitchFamily="34" charset="-120"/>
              </a:rPr>
              <a:t>Source: CSC PACE one-pager v2 (09 May 2026). Co-authors: Dan Hanfling, MD and John L. Hick, MD — the architects of the civilian CSC field.</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37744"/>
          </a:xfrm>
          <a:prstGeom prst="rect">
            <a:avLst/>
          </a:prstGeom>
          <a:noFill/>
          <a:ln/>
        </p:spPr>
        <p:txBody>
          <a:bodyPr wrap="square" lIns="0" tIns="0" rIns="0" bIns="0" rtlCol="0" anchor="ctr"/>
          <a:lstStyle/>
          <a:p>
            <a:pPr indent="0" marL="0">
              <a:buNone/>
            </a:pPr>
            <a:r>
              <a:rPr lang="en-US" sz="1100" b="1" spc="160" kern="0" dirty="0">
                <a:solidFill>
                  <a:srgbClr val="C25E3A"/>
                </a:solidFill>
                <a:latin typeface="Calibri" pitchFamily="34" charset="0"/>
                <a:ea typeface="Calibri" pitchFamily="34" charset="-122"/>
                <a:cs typeface="Calibri" pitchFamily="34" charset="-120"/>
              </a:rPr>
              <a:t>LINE OF EFFORT 2 · STATUS</a:t>
            </a:r>
            <a:endParaRPr lang="en-US" sz="1100" dirty="0"/>
          </a:p>
        </p:txBody>
      </p:sp>
      <p:sp>
        <p:nvSpPr>
          <p:cNvPr id="3" name="Text 1"/>
          <p:cNvSpPr/>
          <p:nvPr/>
        </p:nvSpPr>
        <p:spPr>
          <a:xfrm>
            <a:off x="548640" y="640080"/>
            <a:ext cx="11064240" cy="749808"/>
          </a:xfrm>
          <a:prstGeom prst="rect">
            <a:avLst/>
          </a:prstGeom>
          <a:noFill/>
          <a:ln/>
        </p:spPr>
        <p:txBody>
          <a:bodyPr wrap="square" lIns="0" tIns="0" rIns="0" bIns="0" rtlCol="0" anchor="ctr"/>
          <a:lstStyle/>
          <a:p>
            <a:pPr indent="0" marL="0">
              <a:buNone/>
            </a:pPr>
            <a:r>
              <a:rPr lang="en-US" sz="3000" b="1" dirty="0">
                <a:solidFill>
                  <a:srgbClr val="12212B"/>
                </a:solidFill>
                <a:latin typeface="Cambria" pitchFamily="34" charset="0"/>
                <a:ea typeface="Cambria" pitchFamily="34" charset="-122"/>
                <a:cs typeface="Cambria" pitchFamily="34" charset="-120"/>
              </a:rPr>
              <a:t>Path to HSOAG, October 2026</a:t>
            </a:r>
            <a:endParaRPr lang="en-US" sz="3000" dirty="0"/>
          </a:p>
        </p:txBody>
      </p:sp>
      <p:sp>
        <p:nvSpPr>
          <p:cNvPr id="4" name="Shape 2"/>
          <p:cNvSpPr/>
          <p:nvPr/>
        </p:nvSpPr>
        <p:spPr>
          <a:xfrm>
            <a:off x="566928" y="1389888"/>
            <a:ext cx="342900" cy="64008"/>
          </a:xfrm>
          <a:prstGeom prst="rect">
            <a:avLst/>
          </a:prstGeom>
          <a:solidFill>
            <a:srgbClr val="2E7D5B"/>
          </a:solidFill>
          <a:ln/>
        </p:spPr>
      </p:sp>
      <p:sp>
        <p:nvSpPr>
          <p:cNvPr id="5" name="Shape 3"/>
          <p:cNvSpPr/>
          <p:nvPr/>
        </p:nvSpPr>
        <p:spPr>
          <a:xfrm>
            <a:off x="909828" y="1389888"/>
            <a:ext cx="342900" cy="64008"/>
          </a:xfrm>
          <a:prstGeom prst="rect">
            <a:avLst/>
          </a:prstGeom>
          <a:solidFill>
            <a:srgbClr val="B8912F"/>
          </a:solidFill>
          <a:ln/>
        </p:spPr>
      </p:sp>
      <p:sp>
        <p:nvSpPr>
          <p:cNvPr id="6" name="Shape 4"/>
          <p:cNvSpPr/>
          <p:nvPr/>
        </p:nvSpPr>
        <p:spPr>
          <a:xfrm>
            <a:off x="1252728" y="1389888"/>
            <a:ext cx="342900" cy="64008"/>
          </a:xfrm>
          <a:prstGeom prst="rect">
            <a:avLst/>
          </a:prstGeom>
          <a:solidFill>
            <a:srgbClr val="C25E3A"/>
          </a:solidFill>
          <a:ln/>
        </p:spPr>
      </p:sp>
      <p:sp>
        <p:nvSpPr>
          <p:cNvPr id="7" name="Shape 5"/>
          <p:cNvSpPr/>
          <p:nvPr/>
        </p:nvSpPr>
        <p:spPr>
          <a:xfrm>
            <a:off x="1595628" y="1389888"/>
            <a:ext cx="342900" cy="64008"/>
          </a:xfrm>
          <a:prstGeom prst="rect">
            <a:avLst/>
          </a:prstGeom>
          <a:solidFill>
            <a:srgbClr val="9B2C2C"/>
          </a:solidFill>
          <a:ln/>
        </p:spPr>
      </p:sp>
      <p:sp>
        <p:nvSpPr>
          <p:cNvPr id="8" name="Shape 6"/>
          <p:cNvSpPr/>
          <p:nvPr/>
        </p:nvSpPr>
        <p:spPr>
          <a:xfrm>
            <a:off x="566928" y="1783080"/>
            <a:ext cx="5257800" cy="2697480"/>
          </a:xfrm>
          <a:prstGeom prst="roundRect">
            <a:avLst>
              <a:gd name="adj" fmla="val 2034"/>
            </a:avLst>
          </a:prstGeom>
          <a:solidFill>
            <a:srgbClr val="F2F5F4"/>
          </a:solidFill>
          <a:ln w="12700">
            <a:solidFill>
              <a:srgbClr val="F2F5F4"/>
            </a:solidFill>
            <a:prstDash val="solid"/>
          </a:ln>
        </p:spPr>
      </p:sp>
      <p:sp>
        <p:nvSpPr>
          <p:cNvPr id="9" name="Text 7"/>
          <p:cNvSpPr/>
          <p:nvPr/>
        </p:nvSpPr>
        <p:spPr>
          <a:xfrm>
            <a:off x="841248" y="2039112"/>
            <a:ext cx="4709160" cy="365760"/>
          </a:xfrm>
          <a:prstGeom prst="rect">
            <a:avLst/>
          </a:prstGeom>
          <a:noFill/>
          <a:ln/>
        </p:spPr>
        <p:txBody>
          <a:bodyPr wrap="square" lIns="0" tIns="0" rIns="0" bIns="0" rtlCol="0" anchor="ctr"/>
          <a:lstStyle/>
          <a:p>
            <a:pPr indent="0" marL="0">
              <a:buNone/>
            </a:pPr>
            <a:r>
              <a:rPr lang="en-US" sz="1600" b="1" dirty="0">
                <a:solidFill>
                  <a:srgbClr val="1C5D66"/>
                </a:solidFill>
                <a:latin typeface="Cambria" pitchFamily="34" charset="0"/>
                <a:ea typeface="Cambria" pitchFamily="34" charset="-122"/>
                <a:cs typeface="Cambria" pitchFamily="34" charset="-120"/>
              </a:rPr>
              <a:t>Confirmed</a:t>
            </a:r>
            <a:endParaRPr lang="en-US" sz="1600" dirty="0"/>
          </a:p>
        </p:txBody>
      </p:sp>
      <p:sp>
        <p:nvSpPr>
          <p:cNvPr id="10" name="Text 8"/>
          <p:cNvSpPr/>
          <p:nvPr/>
        </p:nvSpPr>
        <p:spPr>
          <a:xfrm>
            <a:off x="841248" y="2496312"/>
            <a:ext cx="4709160" cy="173736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5A6B72"/>
                </a:solidFill>
                <a:latin typeface="Calibri" pitchFamily="34" charset="0"/>
                <a:ea typeface="Calibri" pitchFamily="34" charset="-122"/>
                <a:cs typeface="Calibri" pitchFamily="34" charset="-120"/>
              </a:rPr>
              <a:t>Three-imperative thesis (operational / moral / ethical)</a:t>
            </a:r>
            <a:endParaRPr lang="en-US" sz="1150" dirty="0"/>
          </a:p>
          <a:p>
            <a:pPr marL="342900" indent="-342900">
              <a:spcAft>
                <a:spcPts val="500"/>
              </a:spcAft>
              <a:buSzPct val="100000"/>
              <a:buChar char="•"/>
            </a:pPr>
            <a:r>
              <a:rPr lang="en-US" sz="1150" dirty="0">
                <a:solidFill>
                  <a:srgbClr val="5A6B72"/>
                </a:solidFill>
                <a:latin typeface="Calibri" pitchFamily="34" charset="0"/>
                <a:ea typeface="Calibri" pitchFamily="34" charset="-122"/>
                <a:cs typeface="Calibri" pitchFamily="34" charset="-120"/>
              </a:rPr>
              <a:t>Co-authors secured — Hanfling and Hick</a:t>
            </a:r>
            <a:endParaRPr lang="en-US" sz="1150" dirty="0"/>
          </a:p>
          <a:p>
            <a:pPr marL="342900" indent="-342900">
              <a:spcAft>
                <a:spcPts val="500"/>
              </a:spcAft>
              <a:buSzPct val="100000"/>
              <a:buChar char="•"/>
            </a:pPr>
            <a:r>
              <a:rPr lang="en-US" sz="1150" dirty="0">
                <a:solidFill>
                  <a:srgbClr val="5A6B72"/>
                </a:solidFill>
                <a:latin typeface="Calibri" pitchFamily="34" charset="0"/>
                <a:ea typeface="Calibri" pitchFamily="34" charset="-122"/>
                <a:cs typeface="Calibri" pitchFamily="34" charset="-120"/>
              </a:rPr>
              <a:t>PACE → JTS CPG → virtue-ethics mapping complete</a:t>
            </a:r>
            <a:endParaRPr lang="en-US" sz="1150" dirty="0"/>
          </a:p>
          <a:p>
            <a:pPr marL="342900" indent="-342900">
              <a:spcAft>
                <a:spcPts val="500"/>
              </a:spcAft>
              <a:buSzPct val="100000"/>
              <a:buChar char="•"/>
            </a:pPr>
            <a:r>
              <a:rPr lang="en-US" sz="1150" dirty="0">
                <a:solidFill>
                  <a:srgbClr val="5A6B72"/>
                </a:solidFill>
                <a:latin typeface="Calibri" pitchFamily="34" charset="0"/>
                <a:ea typeface="Calibri" pitchFamily="34" charset="-122"/>
                <a:cs typeface="Calibri" pitchFamily="34" charset="-120"/>
              </a:rPr>
              <a:t>Rev 3 outline complete; ~30–35 references staged</a:t>
            </a:r>
            <a:endParaRPr lang="en-US" sz="1150" dirty="0"/>
          </a:p>
          <a:p>
            <a:pPr marL="342900" indent="-342900">
              <a:spcAft>
                <a:spcPts val="500"/>
              </a:spcAft>
              <a:buSzPct val="100000"/>
              <a:buChar char="•"/>
            </a:pPr>
            <a:r>
              <a:rPr lang="en-US" sz="1150" dirty="0">
                <a:solidFill>
                  <a:srgbClr val="5A6B72"/>
                </a:solidFill>
                <a:latin typeface="Calibri" pitchFamily="34" charset="0"/>
                <a:ea typeface="Calibri" pitchFamily="34" charset="-122"/>
                <a:cs typeface="Calibri" pitchFamily="34" charset="-120"/>
              </a:rPr>
              <a:t>Worked vignette drafted; one-pager in circulation</a:t>
            </a:r>
            <a:endParaRPr lang="en-US" sz="1150" dirty="0"/>
          </a:p>
          <a:p>
            <a:pPr marL="342900" indent="-342900">
              <a:spcAft>
                <a:spcPts val="500"/>
              </a:spcAft>
              <a:buSzPct val="100000"/>
              <a:buChar char="•"/>
            </a:pPr>
            <a:r>
              <a:rPr lang="en-US" sz="1150" dirty="0">
                <a:solidFill>
                  <a:srgbClr val="5A6B72"/>
                </a:solidFill>
                <a:latin typeface="Calibri" pitchFamily="34" charset="0"/>
                <a:ea typeface="Calibri" pitchFamily="34" charset="-122"/>
                <a:cs typeface="Calibri" pitchFamily="34" charset="-120"/>
              </a:rPr>
              <a:t>MAVEN / MedCOP institutional hook identified</a:t>
            </a:r>
            <a:endParaRPr lang="en-US" sz="1150" dirty="0"/>
          </a:p>
        </p:txBody>
      </p:sp>
      <p:sp>
        <p:nvSpPr>
          <p:cNvPr id="11" name="Text 9"/>
          <p:cNvSpPr/>
          <p:nvPr/>
        </p:nvSpPr>
        <p:spPr>
          <a:xfrm>
            <a:off x="6199632" y="2039112"/>
            <a:ext cx="5248656" cy="219456"/>
          </a:xfrm>
          <a:prstGeom prst="rect">
            <a:avLst/>
          </a:prstGeom>
          <a:noFill/>
          <a:ln/>
        </p:spPr>
        <p:txBody>
          <a:bodyPr wrap="square" lIns="0" tIns="0" rIns="0" bIns="0" rtlCol="0" anchor="ctr"/>
          <a:lstStyle/>
          <a:p>
            <a:pPr indent="0" marL="0">
              <a:buNone/>
            </a:pPr>
            <a:r>
              <a:rPr lang="en-US" sz="1000" b="1" spc="140" kern="0" dirty="0">
                <a:solidFill>
                  <a:srgbClr val="C25E3A"/>
                </a:solidFill>
                <a:latin typeface="Calibri" pitchFamily="34" charset="0"/>
                <a:ea typeface="Calibri" pitchFamily="34" charset="-122"/>
                <a:cs typeface="Calibri" pitchFamily="34" charset="-120"/>
              </a:rPr>
              <a:t>MILESTONES</a:t>
            </a:r>
            <a:endParaRPr lang="en-US" sz="1000" dirty="0"/>
          </a:p>
        </p:txBody>
      </p:sp>
      <p:sp>
        <p:nvSpPr>
          <p:cNvPr id="12" name="Shape 10"/>
          <p:cNvSpPr/>
          <p:nvPr/>
        </p:nvSpPr>
        <p:spPr>
          <a:xfrm>
            <a:off x="6199632" y="2478024"/>
            <a:ext cx="128016" cy="128016"/>
          </a:xfrm>
          <a:prstGeom prst="ellipse">
            <a:avLst/>
          </a:prstGeom>
          <a:solidFill>
            <a:srgbClr val="7FA99B"/>
          </a:solidFill>
          <a:ln/>
        </p:spPr>
      </p:sp>
      <p:sp>
        <p:nvSpPr>
          <p:cNvPr id="13" name="Text 11"/>
          <p:cNvSpPr/>
          <p:nvPr/>
        </p:nvSpPr>
        <p:spPr>
          <a:xfrm>
            <a:off x="6473952" y="2395728"/>
            <a:ext cx="1371600" cy="292608"/>
          </a:xfrm>
          <a:prstGeom prst="rect">
            <a:avLst/>
          </a:prstGeom>
          <a:noFill/>
          <a:ln/>
        </p:spPr>
        <p:txBody>
          <a:bodyPr wrap="square" lIns="0" tIns="0" rIns="0" bIns="0" rtlCol="0" anchor="ctr"/>
          <a:lstStyle/>
          <a:p>
            <a:pPr indent="0" marL="0">
              <a:buNone/>
            </a:pPr>
            <a:r>
              <a:rPr lang="en-US" sz="1100" b="1" dirty="0">
                <a:solidFill>
                  <a:srgbClr val="12212B"/>
                </a:solidFill>
                <a:latin typeface="Calibri" pitchFamily="34" charset="0"/>
                <a:ea typeface="Calibri" pitchFamily="34" charset="-122"/>
                <a:cs typeface="Calibri" pitchFamily="34" charset="-120"/>
              </a:rPr>
              <a:t>Late Jun 2026</a:t>
            </a:r>
            <a:endParaRPr lang="en-US" sz="1100" dirty="0"/>
          </a:p>
        </p:txBody>
      </p:sp>
      <p:sp>
        <p:nvSpPr>
          <p:cNvPr id="14" name="Text 12"/>
          <p:cNvSpPr/>
          <p:nvPr/>
        </p:nvSpPr>
        <p:spPr>
          <a:xfrm>
            <a:off x="7863840" y="2395728"/>
            <a:ext cx="3584448" cy="292608"/>
          </a:xfrm>
          <a:prstGeom prst="rect">
            <a:avLst/>
          </a:prstGeom>
          <a:noFill/>
          <a:ln/>
        </p:spPr>
        <p:txBody>
          <a:bodyPr wrap="square" lIns="0" tIns="0" rIns="0" bIns="0" rtlCol="0" anchor="ctr"/>
          <a:lstStyle/>
          <a:p>
            <a:pPr indent="0" marL="0">
              <a:buNone/>
            </a:pPr>
            <a:r>
              <a:rPr lang="en-US" sz="1100" dirty="0">
                <a:solidFill>
                  <a:srgbClr val="5A6B72"/>
                </a:solidFill>
                <a:latin typeface="Calibri" pitchFamily="34" charset="0"/>
                <a:ea typeface="Calibri" pitchFamily="34" charset="-122"/>
                <a:cs typeface="Calibri" pitchFamily="34" charset="-120"/>
              </a:rPr>
              <a:t>Military Medicine Perspective submitted</a:t>
            </a:r>
            <a:endParaRPr lang="en-US" sz="1100" dirty="0"/>
          </a:p>
        </p:txBody>
      </p:sp>
      <p:sp>
        <p:nvSpPr>
          <p:cNvPr id="15" name="Shape 13"/>
          <p:cNvSpPr/>
          <p:nvPr/>
        </p:nvSpPr>
        <p:spPr>
          <a:xfrm>
            <a:off x="6199632" y="3008376"/>
            <a:ext cx="128016" cy="128016"/>
          </a:xfrm>
          <a:prstGeom prst="ellipse">
            <a:avLst/>
          </a:prstGeom>
          <a:solidFill>
            <a:srgbClr val="7FA99B"/>
          </a:solidFill>
          <a:ln/>
        </p:spPr>
      </p:sp>
      <p:sp>
        <p:nvSpPr>
          <p:cNvPr id="16" name="Text 14"/>
          <p:cNvSpPr/>
          <p:nvPr/>
        </p:nvSpPr>
        <p:spPr>
          <a:xfrm>
            <a:off x="6473952" y="2926080"/>
            <a:ext cx="1371600" cy="292608"/>
          </a:xfrm>
          <a:prstGeom prst="rect">
            <a:avLst/>
          </a:prstGeom>
          <a:noFill/>
          <a:ln/>
        </p:spPr>
        <p:txBody>
          <a:bodyPr wrap="square" lIns="0" tIns="0" rIns="0" bIns="0" rtlCol="0" anchor="ctr"/>
          <a:lstStyle/>
          <a:p>
            <a:pPr indent="0" marL="0">
              <a:buNone/>
            </a:pPr>
            <a:r>
              <a:rPr lang="en-US" sz="1100" b="1" dirty="0">
                <a:solidFill>
                  <a:srgbClr val="12212B"/>
                </a:solidFill>
                <a:latin typeface="Calibri" pitchFamily="34" charset="0"/>
                <a:ea typeface="Calibri" pitchFamily="34" charset="-122"/>
                <a:cs typeface="Calibri" pitchFamily="34" charset="-120"/>
              </a:rPr>
              <a:t>Aug 2026</a:t>
            </a:r>
            <a:endParaRPr lang="en-US" sz="1100" dirty="0"/>
          </a:p>
        </p:txBody>
      </p:sp>
      <p:sp>
        <p:nvSpPr>
          <p:cNvPr id="17" name="Text 15"/>
          <p:cNvSpPr/>
          <p:nvPr/>
        </p:nvSpPr>
        <p:spPr>
          <a:xfrm>
            <a:off x="7863840" y="2926080"/>
            <a:ext cx="3584448" cy="292608"/>
          </a:xfrm>
          <a:prstGeom prst="rect">
            <a:avLst/>
          </a:prstGeom>
          <a:noFill/>
          <a:ln/>
        </p:spPr>
        <p:txBody>
          <a:bodyPr wrap="square" lIns="0" tIns="0" rIns="0" bIns="0" rtlCol="0" anchor="ctr"/>
          <a:lstStyle/>
          <a:p>
            <a:pPr indent="0" marL="0">
              <a:buNone/>
            </a:pPr>
            <a:r>
              <a:rPr lang="en-US" sz="1100" dirty="0">
                <a:solidFill>
                  <a:srgbClr val="5A6B72"/>
                </a:solidFill>
                <a:latin typeface="Calibri" pitchFamily="34" charset="0"/>
                <a:ea typeface="Calibri" pitchFamily="34" charset="-122"/>
                <a:cs typeface="Calibri" pitchFamily="34" charset="-120"/>
              </a:rPr>
              <a:t>White paper draft v1</a:t>
            </a:r>
            <a:endParaRPr lang="en-US" sz="1100" dirty="0"/>
          </a:p>
        </p:txBody>
      </p:sp>
      <p:sp>
        <p:nvSpPr>
          <p:cNvPr id="18" name="Shape 16"/>
          <p:cNvSpPr/>
          <p:nvPr/>
        </p:nvSpPr>
        <p:spPr>
          <a:xfrm>
            <a:off x="6199632" y="3538728"/>
            <a:ext cx="128016" cy="128016"/>
          </a:xfrm>
          <a:prstGeom prst="ellipse">
            <a:avLst/>
          </a:prstGeom>
          <a:solidFill>
            <a:srgbClr val="7FA99B"/>
          </a:solidFill>
          <a:ln/>
        </p:spPr>
      </p:sp>
      <p:sp>
        <p:nvSpPr>
          <p:cNvPr id="19" name="Text 17"/>
          <p:cNvSpPr/>
          <p:nvPr/>
        </p:nvSpPr>
        <p:spPr>
          <a:xfrm>
            <a:off x="6473952" y="3456432"/>
            <a:ext cx="1371600" cy="292608"/>
          </a:xfrm>
          <a:prstGeom prst="rect">
            <a:avLst/>
          </a:prstGeom>
          <a:noFill/>
          <a:ln/>
        </p:spPr>
        <p:txBody>
          <a:bodyPr wrap="square" lIns="0" tIns="0" rIns="0" bIns="0" rtlCol="0" anchor="ctr"/>
          <a:lstStyle/>
          <a:p>
            <a:pPr indent="0" marL="0">
              <a:buNone/>
            </a:pPr>
            <a:r>
              <a:rPr lang="en-US" sz="1100" b="1" dirty="0">
                <a:solidFill>
                  <a:srgbClr val="12212B"/>
                </a:solidFill>
                <a:latin typeface="Calibri" pitchFamily="34" charset="0"/>
                <a:ea typeface="Calibri" pitchFamily="34" charset="-122"/>
                <a:cs typeface="Calibri" pitchFamily="34" charset="-120"/>
              </a:rPr>
              <a:t>Sep 2026</a:t>
            </a:r>
            <a:endParaRPr lang="en-US" sz="1100" dirty="0"/>
          </a:p>
        </p:txBody>
      </p:sp>
      <p:sp>
        <p:nvSpPr>
          <p:cNvPr id="20" name="Text 18"/>
          <p:cNvSpPr/>
          <p:nvPr/>
        </p:nvSpPr>
        <p:spPr>
          <a:xfrm>
            <a:off x="7863840" y="3456432"/>
            <a:ext cx="3584448" cy="292608"/>
          </a:xfrm>
          <a:prstGeom prst="rect">
            <a:avLst/>
          </a:prstGeom>
          <a:noFill/>
          <a:ln/>
        </p:spPr>
        <p:txBody>
          <a:bodyPr wrap="square" lIns="0" tIns="0" rIns="0" bIns="0" rtlCol="0" anchor="ctr"/>
          <a:lstStyle/>
          <a:p>
            <a:pPr indent="0" marL="0">
              <a:buNone/>
            </a:pPr>
            <a:r>
              <a:rPr lang="en-US" sz="1100" dirty="0">
                <a:solidFill>
                  <a:srgbClr val="5A6B72"/>
                </a:solidFill>
                <a:latin typeface="Calibri" pitchFamily="34" charset="0"/>
                <a:ea typeface="Calibri" pitchFamily="34" charset="-122"/>
                <a:cs typeface="Calibri" pitchFamily="34" charset="-120"/>
              </a:rPr>
              <a:t>Internal review — TMO, BUMED, JTS</a:t>
            </a:r>
            <a:endParaRPr lang="en-US" sz="1100" dirty="0"/>
          </a:p>
        </p:txBody>
      </p:sp>
      <p:sp>
        <p:nvSpPr>
          <p:cNvPr id="21" name="Shape 19"/>
          <p:cNvSpPr/>
          <p:nvPr/>
        </p:nvSpPr>
        <p:spPr>
          <a:xfrm>
            <a:off x="6199632" y="4069080"/>
            <a:ext cx="128016" cy="128016"/>
          </a:xfrm>
          <a:prstGeom prst="ellipse">
            <a:avLst/>
          </a:prstGeom>
          <a:solidFill>
            <a:srgbClr val="C25E3A"/>
          </a:solidFill>
          <a:ln/>
        </p:spPr>
      </p:sp>
      <p:sp>
        <p:nvSpPr>
          <p:cNvPr id="22" name="Text 20"/>
          <p:cNvSpPr/>
          <p:nvPr/>
        </p:nvSpPr>
        <p:spPr>
          <a:xfrm>
            <a:off x="6473952" y="3986784"/>
            <a:ext cx="1371600" cy="292608"/>
          </a:xfrm>
          <a:prstGeom prst="rect">
            <a:avLst/>
          </a:prstGeom>
          <a:noFill/>
          <a:ln/>
        </p:spPr>
        <p:txBody>
          <a:bodyPr wrap="square" lIns="0" tIns="0" rIns="0" bIns="0" rtlCol="0" anchor="ctr"/>
          <a:lstStyle/>
          <a:p>
            <a:pPr indent="0" marL="0">
              <a:buNone/>
            </a:pPr>
            <a:r>
              <a:rPr lang="en-US" sz="1100" b="1" dirty="0">
                <a:solidFill>
                  <a:srgbClr val="12212B"/>
                </a:solidFill>
                <a:latin typeface="Calibri" pitchFamily="34" charset="0"/>
                <a:ea typeface="Calibri" pitchFamily="34" charset="-122"/>
                <a:cs typeface="Calibri" pitchFamily="34" charset="-120"/>
              </a:rPr>
              <a:t>Oct 2026</a:t>
            </a:r>
            <a:endParaRPr lang="en-US" sz="1100" dirty="0"/>
          </a:p>
        </p:txBody>
      </p:sp>
      <p:sp>
        <p:nvSpPr>
          <p:cNvPr id="23" name="Text 21"/>
          <p:cNvSpPr/>
          <p:nvPr/>
        </p:nvSpPr>
        <p:spPr>
          <a:xfrm>
            <a:off x="7863840" y="3986784"/>
            <a:ext cx="3584448" cy="292608"/>
          </a:xfrm>
          <a:prstGeom prst="rect">
            <a:avLst/>
          </a:prstGeom>
          <a:noFill/>
          <a:ln/>
        </p:spPr>
        <p:txBody>
          <a:bodyPr wrap="square" lIns="0" tIns="0" rIns="0" bIns="0" rtlCol="0" anchor="ctr"/>
          <a:lstStyle/>
          <a:p>
            <a:pPr indent="0" marL="0">
              <a:buNone/>
            </a:pPr>
            <a:r>
              <a:rPr lang="en-US" sz="1100" dirty="0">
                <a:solidFill>
                  <a:srgbClr val="5A6B72"/>
                </a:solidFill>
                <a:latin typeface="Calibri" pitchFamily="34" charset="0"/>
                <a:ea typeface="Calibri" pitchFamily="34" charset="-122"/>
                <a:cs typeface="Calibri" pitchFamily="34" charset="-120"/>
              </a:rPr>
              <a:t>White paper delivered to HSOAG</a:t>
            </a:r>
            <a:endParaRPr lang="en-US" sz="1100" dirty="0"/>
          </a:p>
        </p:txBody>
      </p:sp>
      <p:sp>
        <p:nvSpPr>
          <p:cNvPr id="24" name="Shape 22"/>
          <p:cNvSpPr/>
          <p:nvPr/>
        </p:nvSpPr>
        <p:spPr>
          <a:xfrm>
            <a:off x="566928" y="4736592"/>
            <a:ext cx="10881360" cy="1234440"/>
          </a:xfrm>
          <a:prstGeom prst="roundRect">
            <a:avLst>
              <a:gd name="adj" fmla="val 3704"/>
            </a:avLst>
          </a:prstGeom>
          <a:solidFill>
            <a:srgbClr val="FDF3EE"/>
          </a:solidFill>
          <a:ln w="12700">
            <a:solidFill>
              <a:srgbClr val="C25E3A"/>
            </a:solidFill>
            <a:prstDash val="solid"/>
          </a:ln>
        </p:spPr>
      </p:sp>
      <p:sp>
        <p:nvSpPr>
          <p:cNvPr id="25" name="Text 23"/>
          <p:cNvSpPr/>
          <p:nvPr/>
        </p:nvSpPr>
        <p:spPr>
          <a:xfrm>
            <a:off x="914400" y="4736592"/>
            <a:ext cx="10149840" cy="1234440"/>
          </a:xfrm>
          <a:prstGeom prst="rect">
            <a:avLst/>
          </a:prstGeom>
          <a:noFill/>
          <a:ln/>
        </p:spPr>
        <p:txBody>
          <a:bodyPr wrap="square" lIns="0" tIns="0" rIns="0" bIns="0" rtlCol="0" anchor="ctr"/>
          <a:lstStyle/>
          <a:p>
            <a:pPr indent="0" marL="0">
              <a:lnSpc>
                <a:spcPts val="1800"/>
              </a:lnSpc>
              <a:buNone/>
            </a:pPr>
            <a:r>
              <a:rPr lang="en-US" sz="1250" b="1" dirty="0">
                <a:solidFill>
                  <a:srgbClr val="C25E3A"/>
                </a:solidFill>
                <a:latin typeface="Calibri" pitchFamily="34" charset="0"/>
                <a:ea typeface="Calibri" pitchFamily="34" charset="-122"/>
                <a:cs typeface="Calibri" pitchFamily="34" charset="-120"/>
              </a:rPr>
              <a:t>Critical path risk.  </a:t>
            </a:r>
            <a:pPr indent="0" marL="0">
              <a:lnSpc>
                <a:spcPts val="1800"/>
              </a:lnSpc>
              <a:buNone/>
            </a:pPr>
            <a:r>
              <a:rPr lang="en-US" sz="1250" dirty="0">
                <a:solidFill>
                  <a:srgbClr val="5A6B72"/>
                </a:solidFill>
                <a:latin typeface="Calibri" pitchFamily="34" charset="0"/>
                <a:ea typeface="Calibri" pitchFamily="34" charset="-122"/>
                <a:cs typeface="Calibri" pitchFamily="34" charset="-120"/>
              </a:rPr>
              <a:t>Military Medicine review-to-publication for Perspectives typically runs 4–8 months. Submission by late June is required for “in press” status by the October HSOAG.  </a:t>
            </a:r>
            <a:pPr indent="0" marL="0">
              <a:lnSpc>
                <a:spcPts val="1800"/>
              </a:lnSpc>
              <a:buNone/>
            </a:pPr>
            <a:r>
              <a:rPr lang="en-US" sz="1250" b="1" dirty="0">
                <a:solidFill>
                  <a:srgbClr val="12212B"/>
                </a:solidFill>
                <a:latin typeface="Calibri" pitchFamily="34" charset="0"/>
                <a:ea typeface="Calibri" pitchFamily="34" charset="-122"/>
                <a:cs typeface="Calibri" pitchFamily="34" charset="-120"/>
              </a:rPr>
              <a:t>Decision needed: does “accepted / in press” suffice for TMO, or is full publication required?</a:t>
            </a:r>
            <a:endParaRPr lang="en-US" sz="1250" dirty="0"/>
          </a:p>
        </p:txBody>
      </p:sp>
      <p:sp>
        <p:nvSpPr>
          <p:cNvPr id="26" name="Text 24"/>
          <p:cNvSpPr/>
          <p:nvPr/>
        </p:nvSpPr>
        <p:spPr>
          <a:xfrm>
            <a:off x="566928" y="6382512"/>
            <a:ext cx="10515600" cy="219456"/>
          </a:xfrm>
          <a:prstGeom prst="rect">
            <a:avLst/>
          </a:prstGeom>
          <a:noFill/>
          <a:ln/>
        </p:spPr>
        <p:txBody>
          <a:bodyPr wrap="square" lIns="0" tIns="0" rIns="0" bIns="0" rtlCol="0" anchor="ctr"/>
          <a:lstStyle/>
          <a:p>
            <a:pPr indent="0" marL="0">
              <a:buNone/>
            </a:pPr>
            <a:r>
              <a:rPr lang="en-US" sz="900" i="1" dirty="0">
                <a:solidFill>
                  <a:srgbClr val="C9D6DB"/>
                </a:solidFill>
                <a:latin typeface="Calibri" pitchFamily="34" charset="0"/>
                <a:ea typeface="Calibri" pitchFamily="34" charset="-122"/>
                <a:cs typeface="Calibri" pitchFamily="34" charset="-120"/>
              </a:rPr>
              <a:t>Recipient: DC I&amp;L via The Medical Officer of the Marine Corps. CSC adoption is a logistics and resource-allocation policy decision.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37744"/>
          </a:xfrm>
          <a:prstGeom prst="rect">
            <a:avLst/>
          </a:prstGeom>
          <a:noFill/>
          <a:ln/>
        </p:spPr>
        <p:txBody>
          <a:bodyPr wrap="square" lIns="0" tIns="0" rIns="0" bIns="0" rtlCol="0" anchor="ctr"/>
          <a:lstStyle/>
          <a:p>
            <a:pPr indent="0" marL="0">
              <a:buNone/>
            </a:pPr>
            <a:r>
              <a:rPr lang="en-US" sz="1100" b="1" spc="160" kern="0" dirty="0">
                <a:solidFill>
                  <a:srgbClr val="C25E3A"/>
                </a:solidFill>
                <a:latin typeface="Calibri" pitchFamily="34" charset="0"/>
                <a:ea typeface="Calibri" pitchFamily="34" charset="-122"/>
                <a:cs typeface="Calibri" pitchFamily="34" charset="-120"/>
              </a:rPr>
              <a:t>LINE OF EFFORT 3</a:t>
            </a:r>
            <a:endParaRPr lang="en-US" sz="1100" dirty="0"/>
          </a:p>
        </p:txBody>
      </p:sp>
      <p:sp>
        <p:nvSpPr>
          <p:cNvPr id="3" name="Text 1"/>
          <p:cNvSpPr/>
          <p:nvPr/>
        </p:nvSpPr>
        <p:spPr>
          <a:xfrm>
            <a:off x="548640" y="640080"/>
            <a:ext cx="11064240" cy="749808"/>
          </a:xfrm>
          <a:prstGeom prst="rect">
            <a:avLst/>
          </a:prstGeom>
          <a:noFill/>
          <a:ln/>
        </p:spPr>
        <p:txBody>
          <a:bodyPr wrap="square" lIns="0" tIns="0" rIns="0" bIns="0" rtlCol="0" anchor="ctr"/>
          <a:lstStyle/>
          <a:p>
            <a:pPr indent="0" marL="0">
              <a:buNone/>
            </a:pPr>
            <a:r>
              <a:rPr lang="en-US" sz="3000" b="1" dirty="0">
                <a:solidFill>
                  <a:srgbClr val="12212B"/>
                </a:solidFill>
                <a:latin typeface="Cambria" pitchFamily="34" charset="0"/>
                <a:ea typeface="Cambria" pitchFamily="34" charset="-122"/>
                <a:cs typeface="Cambria" pitchFamily="34" charset="-120"/>
              </a:rPr>
              <a:t>Testing the configuration before it deploys</a:t>
            </a:r>
            <a:endParaRPr lang="en-US" sz="3000" dirty="0"/>
          </a:p>
        </p:txBody>
      </p:sp>
      <p:sp>
        <p:nvSpPr>
          <p:cNvPr id="4" name="Shape 2"/>
          <p:cNvSpPr/>
          <p:nvPr/>
        </p:nvSpPr>
        <p:spPr>
          <a:xfrm>
            <a:off x="566928" y="1389888"/>
            <a:ext cx="342900" cy="64008"/>
          </a:xfrm>
          <a:prstGeom prst="rect">
            <a:avLst/>
          </a:prstGeom>
          <a:solidFill>
            <a:srgbClr val="2E7D5B"/>
          </a:solidFill>
          <a:ln/>
        </p:spPr>
      </p:sp>
      <p:sp>
        <p:nvSpPr>
          <p:cNvPr id="5" name="Shape 3"/>
          <p:cNvSpPr/>
          <p:nvPr/>
        </p:nvSpPr>
        <p:spPr>
          <a:xfrm>
            <a:off x="909828" y="1389888"/>
            <a:ext cx="342900" cy="64008"/>
          </a:xfrm>
          <a:prstGeom prst="rect">
            <a:avLst/>
          </a:prstGeom>
          <a:solidFill>
            <a:srgbClr val="B8912F"/>
          </a:solidFill>
          <a:ln/>
        </p:spPr>
      </p:sp>
      <p:sp>
        <p:nvSpPr>
          <p:cNvPr id="6" name="Shape 4"/>
          <p:cNvSpPr/>
          <p:nvPr/>
        </p:nvSpPr>
        <p:spPr>
          <a:xfrm>
            <a:off x="1252728" y="1389888"/>
            <a:ext cx="342900" cy="64008"/>
          </a:xfrm>
          <a:prstGeom prst="rect">
            <a:avLst/>
          </a:prstGeom>
          <a:solidFill>
            <a:srgbClr val="C25E3A"/>
          </a:solidFill>
          <a:ln/>
        </p:spPr>
      </p:sp>
      <p:sp>
        <p:nvSpPr>
          <p:cNvPr id="7" name="Shape 5"/>
          <p:cNvSpPr/>
          <p:nvPr/>
        </p:nvSpPr>
        <p:spPr>
          <a:xfrm>
            <a:off x="1595628" y="1389888"/>
            <a:ext cx="342900" cy="64008"/>
          </a:xfrm>
          <a:prstGeom prst="rect">
            <a:avLst/>
          </a:prstGeom>
          <a:solidFill>
            <a:srgbClr val="9B2C2C"/>
          </a:solidFill>
          <a:ln/>
        </p:spPr>
      </p:sp>
      <p:sp>
        <p:nvSpPr>
          <p:cNvPr id="8" name="Text 6"/>
          <p:cNvSpPr/>
          <p:nvPr/>
        </p:nvSpPr>
        <p:spPr>
          <a:xfrm>
            <a:off x="566928" y="1664208"/>
            <a:ext cx="5943600" cy="1051560"/>
          </a:xfrm>
          <a:prstGeom prst="rect">
            <a:avLst/>
          </a:prstGeom>
          <a:noFill/>
          <a:ln/>
        </p:spPr>
        <p:txBody>
          <a:bodyPr wrap="square" lIns="0" tIns="0" rIns="0" bIns="0" rtlCol="0" anchor="ctr"/>
          <a:lstStyle/>
          <a:p>
            <a:pPr indent="0" marL="0">
              <a:lnSpc>
                <a:spcPts val="1800"/>
              </a:lnSpc>
              <a:buNone/>
            </a:pPr>
            <a:r>
              <a:rPr lang="en-US" sz="1250" dirty="0">
                <a:solidFill>
                  <a:srgbClr val="5A6B72"/>
                </a:solidFill>
                <a:latin typeface="Calibri" pitchFamily="34" charset="0"/>
                <a:ea typeface="Calibri" pitchFamily="34" charset="-122"/>
                <a:cs typeface="Calibri" pitchFamily="34" charset="-120"/>
              </a:rPr>
              <a:t>A glass-box discrete-event Monte Carlo of an integrated USMC Role 2 (STP → FRSS → Holding) under stochastic casualty flow and resource conditions. Outputs graded PACE tier distributions across a factorial sweep of configurations — the same PACE construct the CSC framework defines.</a:t>
            </a:r>
            <a:endParaRPr lang="en-US" sz="1250" dirty="0"/>
          </a:p>
        </p:txBody>
      </p:sp>
      <p:sp>
        <p:nvSpPr>
          <p:cNvPr id="9" name="Shape 7"/>
          <p:cNvSpPr/>
          <p:nvPr/>
        </p:nvSpPr>
        <p:spPr>
          <a:xfrm>
            <a:off x="566928" y="2852928"/>
            <a:ext cx="5943600" cy="960120"/>
          </a:xfrm>
          <a:prstGeom prst="roundRect">
            <a:avLst>
              <a:gd name="adj" fmla="val 5714"/>
            </a:avLst>
          </a:prstGeom>
          <a:solidFill>
            <a:srgbClr val="F2F5F4"/>
          </a:solidFill>
          <a:ln w="12700">
            <a:solidFill>
              <a:srgbClr val="F2F5F4"/>
            </a:solidFill>
            <a:prstDash val="solid"/>
          </a:ln>
        </p:spPr>
      </p:sp>
      <p:sp>
        <p:nvSpPr>
          <p:cNvPr id="10" name="Text 8"/>
          <p:cNvSpPr/>
          <p:nvPr/>
        </p:nvSpPr>
        <p:spPr>
          <a:xfrm>
            <a:off x="841248" y="3108960"/>
            <a:ext cx="5394960" cy="365760"/>
          </a:xfrm>
          <a:prstGeom prst="rect">
            <a:avLst/>
          </a:prstGeom>
          <a:noFill/>
          <a:ln/>
        </p:spPr>
        <p:txBody>
          <a:bodyPr wrap="square" lIns="0" tIns="0" rIns="0" bIns="0" rtlCol="0" anchor="ctr"/>
          <a:lstStyle/>
          <a:p>
            <a:pPr indent="0" marL="0">
              <a:buNone/>
            </a:pPr>
            <a:r>
              <a:rPr lang="en-US" sz="1300" b="1" dirty="0">
                <a:solidFill>
                  <a:srgbClr val="12212B"/>
                </a:solidFill>
                <a:latin typeface="Cambria" pitchFamily="34" charset="0"/>
                <a:ea typeface="Cambria" pitchFamily="34" charset="-122"/>
                <a:cs typeface="Cambria" pitchFamily="34" charset="-120"/>
              </a:rPr>
              <a:t>Crisis is the expected state</a:t>
            </a:r>
            <a:endParaRPr lang="en-US" sz="1300" dirty="0"/>
          </a:p>
        </p:txBody>
      </p:sp>
      <p:sp>
        <p:nvSpPr>
          <p:cNvPr id="11" name="Text 9"/>
          <p:cNvSpPr/>
          <p:nvPr/>
        </p:nvSpPr>
        <p:spPr>
          <a:xfrm>
            <a:off x="841248" y="3566160"/>
            <a:ext cx="5394960" cy="0"/>
          </a:xfrm>
          <a:prstGeom prst="rect">
            <a:avLst/>
          </a:prstGeom>
          <a:noFill/>
          <a:ln/>
        </p:spPr>
        <p:txBody>
          <a:bodyPr wrap="square" lIns="0" tIns="0" rIns="0" bIns="0" rtlCol="0" anchor="t"/>
          <a:lstStyle/>
          <a:p>
            <a:pPr indent="0" marL="0">
              <a:buNone/>
            </a:pPr>
            <a:r>
              <a:rPr lang="en-US" sz="1050" dirty="0">
                <a:solidFill>
                  <a:srgbClr val="5A6B72"/>
                </a:solidFill>
                <a:latin typeface="Calibri" pitchFamily="34" charset="0"/>
                <a:ea typeface="Calibri" pitchFamily="34" charset="-122"/>
                <a:cs typeface="Calibri" pitchFamily="34" charset="-120"/>
              </a:rPr>
              <a:t>Not the exception — the numerically expected operating state of a Role 2 in LSCO.</a:t>
            </a:r>
            <a:endParaRPr lang="en-US" sz="1050" dirty="0"/>
          </a:p>
        </p:txBody>
      </p:sp>
      <p:sp>
        <p:nvSpPr>
          <p:cNvPr id="12" name="Shape 10"/>
          <p:cNvSpPr/>
          <p:nvPr/>
        </p:nvSpPr>
        <p:spPr>
          <a:xfrm>
            <a:off x="566928" y="3931920"/>
            <a:ext cx="5943600" cy="960120"/>
          </a:xfrm>
          <a:prstGeom prst="roundRect">
            <a:avLst>
              <a:gd name="adj" fmla="val 5714"/>
            </a:avLst>
          </a:prstGeom>
          <a:solidFill>
            <a:srgbClr val="F2F5F4"/>
          </a:solidFill>
          <a:ln w="12700">
            <a:solidFill>
              <a:srgbClr val="F2F5F4"/>
            </a:solidFill>
            <a:prstDash val="solid"/>
          </a:ln>
        </p:spPr>
      </p:sp>
      <p:sp>
        <p:nvSpPr>
          <p:cNvPr id="13" name="Text 11"/>
          <p:cNvSpPr/>
          <p:nvPr/>
        </p:nvSpPr>
        <p:spPr>
          <a:xfrm>
            <a:off x="841248" y="4187952"/>
            <a:ext cx="5394960" cy="365760"/>
          </a:xfrm>
          <a:prstGeom prst="rect">
            <a:avLst/>
          </a:prstGeom>
          <a:noFill/>
          <a:ln/>
        </p:spPr>
        <p:txBody>
          <a:bodyPr wrap="square" lIns="0" tIns="0" rIns="0" bIns="0" rtlCol="0" anchor="ctr"/>
          <a:lstStyle/>
          <a:p>
            <a:pPr indent="0" marL="0">
              <a:buNone/>
            </a:pPr>
            <a:r>
              <a:rPr lang="en-US" sz="1300" b="1" dirty="0">
                <a:solidFill>
                  <a:srgbClr val="12212B"/>
                </a:solidFill>
                <a:latin typeface="Cambria" pitchFamily="34" charset="0"/>
                <a:ea typeface="Cambria" pitchFamily="34" charset="-122"/>
                <a:cs typeface="Cambria" pitchFamily="34" charset="-120"/>
              </a:rPr>
              <a:t>The top lever is a re-slate, not a buy</a:t>
            </a:r>
            <a:endParaRPr lang="en-US" sz="1300" dirty="0"/>
          </a:p>
        </p:txBody>
      </p:sp>
      <p:sp>
        <p:nvSpPr>
          <p:cNvPr id="14" name="Text 12"/>
          <p:cNvSpPr/>
          <p:nvPr/>
        </p:nvSpPr>
        <p:spPr>
          <a:xfrm>
            <a:off x="841248" y="4645152"/>
            <a:ext cx="5394960" cy="0"/>
          </a:xfrm>
          <a:prstGeom prst="rect">
            <a:avLst/>
          </a:prstGeom>
          <a:noFill/>
          <a:ln/>
        </p:spPr>
        <p:txBody>
          <a:bodyPr wrap="square" lIns="0" tIns="0" rIns="0" bIns="0" rtlCol="0" anchor="t"/>
          <a:lstStyle/>
          <a:p>
            <a:pPr indent="0" marL="0">
              <a:buNone/>
            </a:pPr>
            <a:r>
              <a:rPr lang="en-US" sz="1050" dirty="0">
                <a:solidFill>
                  <a:srgbClr val="5A6B72"/>
                </a:solidFill>
                <a:latin typeface="Calibri" pitchFamily="34" charset="0"/>
                <a:ea typeface="Calibri" pitchFamily="34" charset="-122"/>
                <a:cs typeface="Calibri" pitchFamily="34" charset="-120"/>
              </a:rPr>
              <a:t>Holding-OIC → intensivist re-slate: −1.80 DOW per scenario (9.7% of LSCO baseline), edging out +50% MEDEVAC slots.</a:t>
            </a:r>
            <a:endParaRPr lang="en-US" sz="1050" dirty="0"/>
          </a:p>
        </p:txBody>
      </p:sp>
      <p:sp>
        <p:nvSpPr>
          <p:cNvPr id="15" name="Shape 13"/>
          <p:cNvSpPr/>
          <p:nvPr/>
        </p:nvSpPr>
        <p:spPr>
          <a:xfrm>
            <a:off x="566928" y="5010912"/>
            <a:ext cx="5943600" cy="960120"/>
          </a:xfrm>
          <a:prstGeom prst="roundRect">
            <a:avLst>
              <a:gd name="adj" fmla="val 5714"/>
            </a:avLst>
          </a:prstGeom>
          <a:solidFill>
            <a:srgbClr val="F2F5F4"/>
          </a:solidFill>
          <a:ln w="12700">
            <a:solidFill>
              <a:srgbClr val="F2F5F4"/>
            </a:solidFill>
            <a:prstDash val="solid"/>
          </a:ln>
        </p:spPr>
      </p:sp>
      <p:sp>
        <p:nvSpPr>
          <p:cNvPr id="16" name="Text 14"/>
          <p:cNvSpPr/>
          <p:nvPr/>
        </p:nvSpPr>
        <p:spPr>
          <a:xfrm>
            <a:off x="841248" y="5266944"/>
            <a:ext cx="5394960" cy="365760"/>
          </a:xfrm>
          <a:prstGeom prst="rect">
            <a:avLst/>
          </a:prstGeom>
          <a:noFill/>
          <a:ln/>
        </p:spPr>
        <p:txBody>
          <a:bodyPr wrap="square" lIns="0" tIns="0" rIns="0" bIns="0" rtlCol="0" anchor="ctr"/>
          <a:lstStyle/>
          <a:p>
            <a:pPr indent="0" marL="0">
              <a:buNone/>
            </a:pPr>
            <a:r>
              <a:rPr lang="en-US" sz="1300" b="1" dirty="0">
                <a:solidFill>
                  <a:srgbClr val="12212B"/>
                </a:solidFill>
                <a:latin typeface="Cambria" pitchFamily="34" charset="0"/>
                <a:ea typeface="Cambria" pitchFamily="34" charset="-122"/>
                <a:cs typeface="Cambria" pitchFamily="34" charset="-120"/>
              </a:rPr>
              <a:t>The constraint is downstream of surgery</a:t>
            </a:r>
            <a:endParaRPr lang="en-US" sz="1300" dirty="0"/>
          </a:p>
        </p:txBody>
      </p:sp>
      <p:sp>
        <p:nvSpPr>
          <p:cNvPr id="17" name="Text 15"/>
          <p:cNvSpPr/>
          <p:nvPr/>
        </p:nvSpPr>
        <p:spPr>
          <a:xfrm>
            <a:off x="841248" y="5724144"/>
            <a:ext cx="5394960" cy="0"/>
          </a:xfrm>
          <a:prstGeom prst="rect">
            <a:avLst/>
          </a:prstGeom>
          <a:noFill/>
          <a:ln/>
        </p:spPr>
        <p:txBody>
          <a:bodyPr wrap="square" lIns="0" tIns="0" rIns="0" bIns="0" rtlCol="0" anchor="t"/>
          <a:lstStyle/>
          <a:p>
            <a:pPr indent="0" marL="0">
              <a:buNone/>
            </a:pPr>
            <a:r>
              <a:rPr lang="en-US" sz="1050" dirty="0">
                <a:solidFill>
                  <a:srgbClr val="5A6B72"/>
                </a:solidFill>
                <a:latin typeface="Calibri" pitchFamily="34" charset="0"/>
                <a:ea typeface="Calibri" pitchFamily="34" charset="-122"/>
                <a:cs typeface="Calibri" pitchFamily="34" charset="-120"/>
              </a:rPr>
              <a:t>Evacuation and holding critical care bind — not surgical capacity.</a:t>
            </a:r>
            <a:endParaRPr lang="en-US" sz="1050" dirty="0"/>
          </a:p>
        </p:txBody>
      </p:sp>
      <p:pic>
        <p:nvPicPr>
          <p:cNvPr id="18" name="Image 0" descr="/home/user/Measure-Dx-Genesis/brief/assets/wp_fig1_tier_by_archetype.png">    </p:cNvPr>
          <p:cNvPicPr>
            <a:picLocks noChangeAspect="1"/>
          </p:cNvPicPr>
          <p:nvPr/>
        </p:nvPicPr>
        <p:blipFill>
          <a:blip r:embed="rId1"/>
          <a:stretch>
            <a:fillRect/>
          </a:stretch>
        </p:blipFill>
        <p:spPr>
          <a:xfrm>
            <a:off x="6784848" y="1874520"/>
            <a:ext cx="4663440" cy="2587752"/>
          </a:xfrm>
          <a:prstGeom prst="rect">
            <a:avLst/>
          </a:prstGeom>
        </p:spPr>
      </p:pic>
      <p:sp>
        <p:nvSpPr>
          <p:cNvPr id="19" name="Text 16"/>
          <p:cNvSpPr/>
          <p:nvPr/>
        </p:nvSpPr>
        <p:spPr>
          <a:xfrm>
            <a:off x="6784848" y="4526280"/>
            <a:ext cx="4663440" cy="237744"/>
          </a:xfrm>
          <a:prstGeom prst="rect">
            <a:avLst/>
          </a:prstGeom>
          <a:noFill/>
          <a:ln/>
        </p:spPr>
        <p:txBody>
          <a:bodyPr wrap="square" lIns="0" tIns="0" rIns="0" bIns="0" rtlCol="0" anchor="ctr"/>
          <a:lstStyle/>
          <a:p>
            <a:pPr algn="ctr" indent="0" marL="0">
              <a:buNone/>
            </a:pPr>
            <a:r>
              <a:rPr lang="en-US" sz="950" i="1" dirty="0">
                <a:solidFill>
                  <a:srgbClr val="5A6B72"/>
                </a:solidFill>
                <a:latin typeface="Calibri" pitchFamily="34" charset="0"/>
                <a:ea typeface="Calibri" pitchFamily="34" charset="-122"/>
                <a:cs typeface="Calibri" pitchFamily="34" charset="-120"/>
              </a:rPr>
              <a:t>PACE tier distribution by scenario archetype — role2-sim</a:t>
            </a:r>
            <a:endParaRPr lang="en-US" sz="950" dirty="0"/>
          </a:p>
        </p:txBody>
      </p:sp>
      <p:sp>
        <p:nvSpPr>
          <p:cNvPr id="20" name="Shape 17"/>
          <p:cNvSpPr/>
          <p:nvPr/>
        </p:nvSpPr>
        <p:spPr>
          <a:xfrm>
            <a:off x="6784848" y="4956048"/>
            <a:ext cx="4663440" cy="1005840"/>
          </a:xfrm>
          <a:prstGeom prst="roundRect">
            <a:avLst>
              <a:gd name="adj" fmla="val 5455"/>
            </a:avLst>
          </a:prstGeom>
          <a:solidFill>
            <a:srgbClr val="F2F5F4"/>
          </a:solidFill>
          <a:ln w="12700">
            <a:solidFill>
              <a:srgbClr val="F2F5F4"/>
            </a:solidFill>
            <a:prstDash val="solid"/>
          </a:ln>
        </p:spPr>
      </p:sp>
      <p:sp>
        <p:nvSpPr>
          <p:cNvPr id="21" name="Text 18"/>
          <p:cNvSpPr/>
          <p:nvPr/>
        </p:nvSpPr>
        <p:spPr>
          <a:xfrm>
            <a:off x="7059168" y="5212080"/>
            <a:ext cx="4114800" cy="365760"/>
          </a:xfrm>
          <a:prstGeom prst="rect">
            <a:avLst/>
          </a:prstGeom>
          <a:noFill/>
          <a:ln/>
        </p:spPr>
        <p:txBody>
          <a:bodyPr wrap="square" lIns="0" tIns="0" rIns="0" bIns="0" rtlCol="0" anchor="ctr"/>
          <a:lstStyle/>
          <a:p>
            <a:pPr indent="0" marL="0">
              <a:buNone/>
            </a:pPr>
            <a:r>
              <a:rPr lang="en-US" sz="1300" b="1" dirty="0">
                <a:solidFill>
                  <a:srgbClr val="C25E3A"/>
                </a:solidFill>
                <a:latin typeface="Cambria" pitchFamily="34" charset="0"/>
                <a:ea typeface="Cambria" pitchFamily="34" charset="-122"/>
                <a:cs typeface="Cambria" pitchFamily="34" charset="-120"/>
              </a:rPr>
              <a:t>Status</a:t>
            </a:r>
            <a:endParaRPr lang="en-US" sz="1300" dirty="0"/>
          </a:p>
        </p:txBody>
      </p:sp>
      <p:sp>
        <p:nvSpPr>
          <p:cNvPr id="22" name="Text 19"/>
          <p:cNvSpPr/>
          <p:nvPr/>
        </p:nvSpPr>
        <p:spPr>
          <a:xfrm>
            <a:off x="7059168" y="5669280"/>
            <a:ext cx="4114800" cy="45720"/>
          </a:xfrm>
          <a:prstGeom prst="rect">
            <a:avLst/>
          </a:prstGeom>
          <a:noFill/>
          <a:ln/>
        </p:spPr>
        <p:txBody>
          <a:bodyPr wrap="square" lIns="0" tIns="0" rIns="0" bIns="0" rtlCol="0" anchor="t"/>
          <a:lstStyle/>
          <a:p>
            <a:pPr indent="0" marL="0">
              <a:buNone/>
            </a:pPr>
            <a:r>
              <a:rPr lang="en-US" sz="1050" dirty="0">
                <a:solidFill>
                  <a:srgbClr val="5A6B72"/>
                </a:solidFill>
                <a:latin typeface="Calibri" pitchFamily="34" charset="0"/>
                <a:ea typeface="Calibri" pitchFamily="34" charset="-122"/>
                <a:cs typeface="Calibri" pitchFamily="34" charset="-120"/>
              </a:rPr>
              <a:t>Engine, PACE monitor, scenario library and analysis layers built and tested. Phase 8 calibration in progress; not yet SME face-validity reviewed.</a:t>
            </a:r>
            <a:endParaRPr lang="en-US" sz="1050" dirty="0"/>
          </a:p>
        </p:txBody>
      </p:sp>
      <p:sp>
        <p:nvSpPr>
          <p:cNvPr id="23" name="Text 20"/>
          <p:cNvSpPr/>
          <p:nvPr/>
        </p:nvSpPr>
        <p:spPr>
          <a:xfrm>
            <a:off x="566928" y="6382512"/>
            <a:ext cx="10515600" cy="219456"/>
          </a:xfrm>
          <a:prstGeom prst="rect">
            <a:avLst/>
          </a:prstGeom>
          <a:noFill/>
          <a:ln/>
        </p:spPr>
        <p:txBody>
          <a:bodyPr wrap="square" lIns="0" tIns="0" rIns="0" bIns="0" rtlCol="0" anchor="ctr"/>
          <a:lstStyle/>
          <a:p>
            <a:pPr indent="0" marL="0">
              <a:buNone/>
            </a:pPr>
            <a:r>
              <a:rPr lang="en-US" sz="900" i="1" dirty="0">
                <a:solidFill>
                  <a:srgbClr val="C9D6DB"/>
                </a:solidFill>
                <a:latin typeface="Calibri" pitchFamily="34" charset="0"/>
                <a:ea typeface="Calibri" pitchFamily="34" charset="-122"/>
                <a:cs typeface="Calibri" pitchFamily="34" charset="-120"/>
              </a:rPr>
              <a:t>Source: role2sim docs/WHITE_PAPER.md rev. 3 (13 Jul 2026), post Phase-R1 corrections. Provisional parameters tracked in docs/OPEN_PROVISIONAL_PARAMS.md.</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37744"/>
          </a:xfrm>
          <a:prstGeom prst="rect">
            <a:avLst/>
          </a:prstGeom>
          <a:noFill/>
          <a:ln/>
        </p:spPr>
        <p:txBody>
          <a:bodyPr wrap="square" lIns="0" tIns="0" rIns="0" bIns="0" rtlCol="0" anchor="ctr"/>
          <a:lstStyle/>
          <a:p>
            <a:pPr indent="0" marL="0">
              <a:buNone/>
            </a:pPr>
            <a:r>
              <a:rPr lang="en-US" sz="1100" b="1" spc="160" kern="0" dirty="0">
                <a:solidFill>
                  <a:srgbClr val="C25E3A"/>
                </a:solidFill>
                <a:latin typeface="Calibri" pitchFamily="34" charset="0"/>
                <a:ea typeface="Calibri" pitchFamily="34" charset="-122"/>
                <a:cs typeface="Calibri" pitchFamily="34" charset="-120"/>
              </a:rPr>
              <a:t>ENABLING EFFORT</a:t>
            </a:r>
            <a:endParaRPr lang="en-US" sz="1100" dirty="0"/>
          </a:p>
        </p:txBody>
      </p:sp>
      <p:sp>
        <p:nvSpPr>
          <p:cNvPr id="3" name="Text 1"/>
          <p:cNvSpPr/>
          <p:nvPr/>
        </p:nvSpPr>
        <p:spPr>
          <a:xfrm>
            <a:off x="548640" y="640080"/>
            <a:ext cx="11064240" cy="749808"/>
          </a:xfrm>
          <a:prstGeom prst="rect">
            <a:avLst/>
          </a:prstGeom>
          <a:noFill/>
          <a:ln/>
        </p:spPr>
        <p:txBody>
          <a:bodyPr wrap="square" lIns="0" tIns="0" rIns="0" bIns="0" rtlCol="0" anchor="ctr"/>
          <a:lstStyle/>
          <a:p>
            <a:pPr indent="0" marL="0">
              <a:buNone/>
            </a:pPr>
            <a:r>
              <a:rPr lang="en-US" sz="3000" b="1" dirty="0">
                <a:solidFill>
                  <a:srgbClr val="12212B"/>
                </a:solidFill>
                <a:latin typeface="Cambria" pitchFamily="34" charset="0"/>
                <a:ea typeface="Cambria" pitchFamily="34" charset="-122"/>
                <a:cs typeface="Cambria" pitchFamily="34" charset="-120"/>
              </a:rPr>
              <a:t>Finding what the record already knows</a:t>
            </a:r>
            <a:endParaRPr lang="en-US" sz="3000" dirty="0"/>
          </a:p>
        </p:txBody>
      </p:sp>
      <p:sp>
        <p:nvSpPr>
          <p:cNvPr id="4" name="Shape 2"/>
          <p:cNvSpPr/>
          <p:nvPr/>
        </p:nvSpPr>
        <p:spPr>
          <a:xfrm>
            <a:off x="566928" y="1389888"/>
            <a:ext cx="342900" cy="64008"/>
          </a:xfrm>
          <a:prstGeom prst="rect">
            <a:avLst/>
          </a:prstGeom>
          <a:solidFill>
            <a:srgbClr val="2E7D5B"/>
          </a:solidFill>
          <a:ln/>
        </p:spPr>
      </p:sp>
      <p:sp>
        <p:nvSpPr>
          <p:cNvPr id="5" name="Shape 3"/>
          <p:cNvSpPr/>
          <p:nvPr/>
        </p:nvSpPr>
        <p:spPr>
          <a:xfrm>
            <a:off x="909828" y="1389888"/>
            <a:ext cx="342900" cy="64008"/>
          </a:xfrm>
          <a:prstGeom prst="rect">
            <a:avLst/>
          </a:prstGeom>
          <a:solidFill>
            <a:srgbClr val="B8912F"/>
          </a:solidFill>
          <a:ln/>
        </p:spPr>
      </p:sp>
      <p:sp>
        <p:nvSpPr>
          <p:cNvPr id="6" name="Shape 4"/>
          <p:cNvSpPr/>
          <p:nvPr/>
        </p:nvSpPr>
        <p:spPr>
          <a:xfrm>
            <a:off x="1252728" y="1389888"/>
            <a:ext cx="342900" cy="64008"/>
          </a:xfrm>
          <a:prstGeom prst="rect">
            <a:avLst/>
          </a:prstGeom>
          <a:solidFill>
            <a:srgbClr val="C25E3A"/>
          </a:solidFill>
          <a:ln/>
        </p:spPr>
      </p:sp>
      <p:sp>
        <p:nvSpPr>
          <p:cNvPr id="7" name="Shape 5"/>
          <p:cNvSpPr/>
          <p:nvPr/>
        </p:nvSpPr>
        <p:spPr>
          <a:xfrm>
            <a:off x="1595628" y="1389888"/>
            <a:ext cx="342900" cy="64008"/>
          </a:xfrm>
          <a:prstGeom prst="rect">
            <a:avLst/>
          </a:prstGeom>
          <a:solidFill>
            <a:srgbClr val="9B2C2C"/>
          </a:solidFill>
          <a:ln/>
        </p:spPr>
      </p:sp>
      <p:sp>
        <p:nvSpPr>
          <p:cNvPr id="8" name="Text 6"/>
          <p:cNvSpPr/>
          <p:nvPr/>
        </p:nvSpPr>
        <p:spPr>
          <a:xfrm>
            <a:off x="566928" y="1664208"/>
            <a:ext cx="6766560" cy="914400"/>
          </a:xfrm>
          <a:prstGeom prst="rect">
            <a:avLst/>
          </a:prstGeom>
          <a:noFill/>
          <a:ln/>
        </p:spPr>
        <p:txBody>
          <a:bodyPr wrap="square" lIns="0" tIns="0" rIns="0" bIns="0" rtlCol="0" anchor="ctr"/>
          <a:lstStyle/>
          <a:p>
            <a:pPr indent="0" marL="0">
              <a:lnSpc>
                <a:spcPts val="1800"/>
              </a:lnSpc>
              <a:buNone/>
            </a:pPr>
            <a:r>
              <a:rPr lang="en-US" sz="1250" dirty="0">
                <a:solidFill>
                  <a:srgbClr val="5A6B72"/>
                </a:solidFill>
                <a:latin typeface="Calibri" pitchFamily="34" charset="0"/>
                <a:ea typeface="Calibri" pitchFamily="34" charset="-122"/>
                <a:cs typeface="Calibri" pitchFamily="34" charset="-120"/>
              </a:rPr>
              <a:t>AHRQ's diagnostic safety construct, adapted to the operational forces and applied to MHS GENESIS. Replaces random chart sampling with triggers that sample backward from an outcome — the surgery, the MEDEVAC, the medical board — so the index note becomes judgeable.</a:t>
            </a:r>
            <a:endParaRPr lang="en-US" sz="1250" dirty="0"/>
          </a:p>
        </p:txBody>
      </p:sp>
      <p:sp>
        <p:nvSpPr>
          <p:cNvPr id="9" name="Text 7"/>
          <p:cNvSpPr/>
          <p:nvPr/>
        </p:nvSpPr>
        <p:spPr>
          <a:xfrm>
            <a:off x="566928" y="2724912"/>
            <a:ext cx="2286000" cy="777240"/>
          </a:xfrm>
          <a:prstGeom prst="rect">
            <a:avLst/>
          </a:prstGeom>
          <a:noFill/>
          <a:ln/>
        </p:spPr>
        <p:txBody>
          <a:bodyPr wrap="square" lIns="0" tIns="0" rIns="0" bIns="0" rtlCol="0" anchor="ctr"/>
          <a:lstStyle/>
          <a:p>
            <a:pPr indent="0" marL="0">
              <a:buNone/>
            </a:pPr>
            <a:r>
              <a:rPr lang="en-US" sz="4400" b="1" dirty="0">
                <a:solidFill>
                  <a:srgbClr val="5A6B72"/>
                </a:solidFill>
                <a:latin typeface="Cambria" pitchFamily="34" charset="0"/>
                <a:ea typeface="Cambria" pitchFamily="34" charset="-122"/>
                <a:cs typeface="Cambria" pitchFamily="34" charset="-120"/>
              </a:rPr>
              <a:t>0.2%</a:t>
            </a:r>
            <a:endParaRPr lang="en-US" sz="4400" dirty="0"/>
          </a:p>
        </p:txBody>
      </p:sp>
      <p:sp>
        <p:nvSpPr>
          <p:cNvPr id="10" name="Text 8"/>
          <p:cNvSpPr/>
          <p:nvPr/>
        </p:nvSpPr>
        <p:spPr>
          <a:xfrm>
            <a:off x="566928" y="3529584"/>
            <a:ext cx="2212848" cy="603504"/>
          </a:xfrm>
          <a:prstGeom prst="rect">
            <a:avLst/>
          </a:prstGeom>
          <a:noFill/>
          <a:ln/>
        </p:spPr>
        <p:txBody>
          <a:bodyPr wrap="square" lIns="0" tIns="0" rIns="0" bIns="0" rtlCol="0" anchor="ctr"/>
          <a:lstStyle/>
          <a:p>
            <a:pPr indent="0" marL="0">
              <a:buNone/>
            </a:pPr>
            <a:r>
              <a:rPr lang="en-US" sz="1050" dirty="0">
                <a:solidFill>
                  <a:srgbClr val="5A6B72"/>
                </a:solidFill>
                <a:latin typeface="Calibri" pitchFamily="34" charset="0"/>
                <a:ea typeface="Calibri" pitchFamily="34" charset="-122"/>
                <a:cs typeface="Calibri" pitchFamily="34" charset="-120"/>
              </a:rPr>
              <a:t>Yield of random</a:t>
            </a:r>
            <a:endParaRPr lang="en-US" sz="1050" dirty="0"/>
          </a:p>
          <a:p>
            <a:pPr indent="0" marL="0">
              <a:buNone/>
            </a:pPr>
            <a:r>
              <a:rPr lang="en-US" sz="1050" dirty="0">
                <a:solidFill>
                  <a:srgbClr val="5A6B72"/>
                </a:solidFill>
                <a:latin typeface="Calibri" pitchFamily="34" charset="0"/>
                <a:ea typeface="Calibri" pitchFamily="34" charset="-122"/>
                <a:cs typeface="Calibri" pitchFamily="34" charset="-120"/>
              </a:rPr>
              <a:t>chart review</a:t>
            </a:r>
            <a:endParaRPr lang="en-US" sz="1050" dirty="0"/>
          </a:p>
        </p:txBody>
      </p:sp>
      <p:sp>
        <p:nvSpPr>
          <p:cNvPr id="11" name="Text 9"/>
          <p:cNvSpPr/>
          <p:nvPr/>
        </p:nvSpPr>
        <p:spPr>
          <a:xfrm>
            <a:off x="2898648" y="2724912"/>
            <a:ext cx="2286000" cy="777240"/>
          </a:xfrm>
          <a:prstGeom prst="rect">
            <a:avLst/>
          </a:prstGeom>
          <a:noFill/>
          <a:ln/>
        </p:spPr>
        <p:txBody>
          <a:bodyPr wrap="square" lIns="0" tIns="0" rIns="0" bIns="0" rtlCol="0" anchor="ctr"/>
          <a:lstStyle/>
          <a:p>
            <a:pPr indent="0" marL="0">
              <a:buNone/>
            </a:pPr>
            <a:r>
              <a:rPr lang="en-US" sz="4400" b="1" dirty="0">
                <a:solidFill>
                  <a:srgbClr val="C25E3A"/>
                </a:solidFill>
                <a:latin typeface="Cambria" pitchFamily="34" charset="0"/>
                <a:ea typeface="Cambria" pitchFamily="34" charset="-122"/>
                <a:cs typeface="Cambria" pitchFamily="34" charset="-120"/>
              </a:rPr>
              <a:t>31.8%</a:t>
            </a:r>
            <a:endParaRPr lang="en-US" sz="4400" dirty="0"/>
          </a:p>
        </p:txBody>
      </p:sp>
      <p:sp>
        <p:nvSpPr>
          <p:cNvPr id="12" name="Text 10"/>
          <p:cNvSpPr/>
          <p:nvPr/>
        </p:nvSpPr>
        <p:spPr>
          <a:xfrm>
            <a:off x="2898648" y="3529584"/>
            <a:ext cx="2212848" cy="603504"/>
          </a:xfrm>
          <a:prstGeom prst="rect">
            <a:avLst/>
          </a:prstGeom>
          <a:noFill/>
          <a:ln/>
        </p:spPr>
        <p:txBody>
          <a:bodyPr wrap="square" lIns="0" tIns="0" rIns="0" bIns="0" rtlCol="0" anchor="ctr"/>
          <a:lstStyle/>
          <a:p>
            <a:pPr indent="0" marL="0">
              <a:buNone/>
            </a:pPr>
            <a:r>
              <a:rPr lang="en-US" sz="1050" dirty="0">
                <a:solidFill>
                  <a:srgbClr val="5A6B72"/>
                </a:solidFill>
                <a:latin typeface="Calibri" pitchFamily="34" charset="0"/>
                <a:ea typeface="Calibri" pitchFamily="34" charset="-122"/>
                <a:cs typeface="Calibri" pitchFamily="34" charset="-120"/>
              </a:rPr>
              <a:t>Yield of triggered</a:t>
            </a:r>
            <a:endParaRPr lang="en-US" sz="1050" dirty="0"/>
          </a:p>
          <a:p>
            <a:pPr indent="0" marL="0">
              <a:buNone/>
            </a:pPr>
            <a:r>
              <a:rPr lang="en-US" sz="1050" dirty="0">
                <a:solidFill>
                  <a:srgbClr val="5A6B72"/>
                </a:solidFill>
                <a:latin typeface="Calibri" pitchFamily="34" charset="0"/>
                <a:ea typeface="Calibri" pitchFamily="34" charset="-122"/>
                <a:cs typeface="Calibri" pitchFamily="34" charset="-120"/>
              </a:rPr>
              <a:t>review (AHRQ, 11 sites)</a:t>
            </a:r>
            <a:endParaRPr lang="en-US" sz="1050" dirty="0"/>
          </a:p>
        </p:txBody>
      </p:sp>
      <p:sp>
        <p:nvSpPr>
          <p:cNvPr id="13" name="Text 11"/>
          <p:cNvSpPr/>
          <p:nvPr/>
        </p:nvSpPr>
        <p:spPr>
          <a:xfrm>
            <a:off x="5230368" y="2724912"/>
            <a:ext cx="2286000" cy="777240"/>
          </a:xfrm>
          <a:prstGeom prst="rect">
            <a:avLst/>
          </a:prstGeom>
          <a:noFill/>
          <a:ln/>
        </p:spPr>
        <p:txBody>
          <a:bodyPr wrap="square" lIns="0" tIns="0" rIns="0" bIns="0" rtlCol="0" anchor="ctr"/>
          <a:lstStyle/>
          <a:p>
            <a:pPr indent="0" marL="0">
              <a:buNone/>
            </a:pPr>
            <a:r>
              <a:rPr lang="en-US" sz="4400" b="1" dirty="0">
                <a:solidFill>
                  <a:srgbClr val="1C5D66"/>
                </a:solidFill>
                <a:latin typeface="Cambria" pitchFamily="34" charset="0"/>
                <a:ea typeface="Cambria" pitchFamily="34" charset="-122"/>
                <a:cs typeface="Cambria" pitchFamily="34" charset="-120"/>
              </a:rPr>
              <a:t>24</a:t>
            </a:r>
            <a:endParaRPr lang="en-US" sz="4400" dirty="0"/>
          </a:p>
        </p:txBody>
      </p:sp>
      <p:sp>
        <p:nvSpPr>
          <p:cNvPr id="14" name="Text 12"/>
          <p:cNvSpPr/>
          <p:nvPr/>
        </p:nvSpPr>
        <p:spPr>
          <a:xfrm>
            <a:off x="5230368" y="3529584"/>
            <a:ext cx="2212848" cy="603504"/>
          </a:xfrm>
          <a:prstGeom prst="rect">
            <a:avLst/>
          </a:prstGeom>
          <a:noFill/>
          <a:ln/>
        </p:spPr>
        <p:txBody>
          <a:bodyPr wrap="square" lIns="0" tIns="0" rIns="0" bIns="0" rtlCol="0" anchor="ctr"/>
          <a:lstStyle/>
          <a:p>
            <a:pPr indent="0" marL="0">
              <a:buNone/>
            </a:pPr>
            <a:r>
              <a:rPr lang="en-US" sz="1050" dirty="0">
                <a:solidFill>
                  <a:srgbClr val="5A6B72"/>
                </a:solidFill>
                <a:latin typeface="Calibri" pitchFamily="34" charset="0"/>
                <a:ea typeface="Calibri" pitchFamily="34" charset="-122"/>
                <a:cs typeface="Calibri" pitchFamily="34" charset="-120"/>
              </a:rPr>
              <a:t>Operational triggers</a:t>
            </a:r>
            <a:endParaRPr lang="en-US" sz="1050" dirty="0"/>
          </a:p>
          <a:p>
            <a:pPr indent="0" marL="0">
              <a:buNone/>
            </a:pPr>
            <a:r>
              <a:rPr lang="en-US" sz="1050" dirty="0">
                <a:solidFill>
                  <a:srgbClr val="5A6B72"/>
                </a:solidFill>
                <a:latin typeface="Calibri" pitchFamily="34" charset="0"/>
                <a:ea typeface="Calibri" pitchFamily="34" charset="-122"/>
                <a:cs typeface="Calibri" pitchFamily="34" charset="-120"/>
              </a:rPr>
              <a:t>specified</a:t>
            </a:r>
            <a:endParaRPr lang="en-US" sz="1050" dirty="0"/>
          </a:p>
        </p:txBody>
      </p:sp>
      <p:sp>
        <p:nvSpPr>
          <p:cNvPr id="15" name="Text 13"/>
          <p:cNvSpPr/>
          <p:nvPr/>
        </p:nvSpPr>
        <p:spPr>
          <a:xfrm>
            <a:off x="566928" y="4315968"/>
            <a:ext cx="6766560" cy="1005840"/>
          </a:xfrm>
          <a:prstGeom prst="rect">
            <a:avLst/>
          </a:prstGeom>
          <a:noFill/>
          <a:ln/>
        </p:spPr>
        <p:txBody>
          <a:bodyPr wrap="square" lIns="0" tIns="0" rIns="0" bIns="0" rtlCol="0" anchor="ctr"/>
          <a:lstStyle/>
          <a:p>
            <a:pPr indent="0" marL="0">
              <a:lnSpc>
                <a:spcPts val="1800"/>
              </a:lnSpc>
              <a:buNone/>
            </a:pPr>
            <a:r>
              <a:rPr lang="en-US" sz="1200" i="1" dirty="0">
                <a:solidFill>
                  <a:srgbClr val="12212B"/>
                </a:solidFill>
                <a:latin typeface="Calibri" pitchFamily="34" charset="0"/>
                <a:ea typeface="Calibri" pitchFamily="34" charset="-122"/>
                <a:cs typeface="Calibri" pitchFamily="34" charset="-120"/>
              </a:rPr>
              <a:t>A reviewer sampling 20 charts a quarter has a 73% chance of finishing an entire tour without ever encountering a harmful diagnostic event. That is not a program performing poorly — it is a program whose expected yield is near zero by construction.</a:t>
            </a:r>
            <a:endParaRPr lang="en-US" sz="1200" dirty="0"/>
          </a:p>
        </p:txBody>
      </p:sp>
      <p:sp>
        <p:nvSpPr>
          <p:cNvPr id="16" name="Shape 14"/>
          <p:cNvSpPr/>
          <p:nvPr/>
        </p:nvSpPr>
        <p:spPr>
          <a:xfrm>
            <a:off x="7635240" y="1783080"/>
            <a:ext cx="3813048" cy="2194560"/>
          </a:xfrm>
          <a:prstGeom prst="roundRect">
            <a:avLst>
              <a:gd name="adj" fmla="val 2500"/>
            </a:avLst>
          </a:prstGeom>
          <a:solidFill>
            <a:srgbClr val="F2F5F4"/>
          </a:solidFill>
          <a:ln w="12700">
            <a:solidFill>
              <a:srgbClr val="F2F5F4"/>
            </a:solidFill>
            <a:prstDash val="solid"/>
          </a:ln>
        </p:spPr>
      </p:sp>
      <p:sp>
        <p:nvSpPr>
          <p:cNvPr id="17" name="Text 15"/>
          <p:cNvSpPr/>
          <p:nvPr/>
        </p:nvSpPr>
        <p:spPr>
          <a:xfrm>
            <a:off x="7909560" y="2039112"/>
            <a:ext cx="3264408" cy="365760"/>
          </a:xfrm>
          <a:prstGeom prst="rect">
            <a:avLst/>
          </a:prstGeom>
          <a:noFill/>
          <a:ln/>
        </p:spPr>
        <p:txBody>
          <a:bodyPr wrap="square" lIns="0" tIns="0" rIns="0" bIns="0" rtlCol="0" anchor="ctr"/>
          <a:lstStyle/>
          <a:p>
            <a:pPr indent="0" marL="0">
              <a:buNone/>
            </a:pPr>
            <a:r>
              <a:rPr lang="en-US" sz="1400" b="1" dirty="0">
                <a:solidFill>
                  <a:srgbClr val="1C5D66"/>
                </a:solidFill>
                <a:latin typeface="Cambria" pitchFamily="34" charset="0"/>
                <a:ea typeface="Cambria" pitchFamily="34" charset="-122"/>
                <a:cs typeface="Cambria" pitchFamily="34" charset="-120"/>
              </a:rPr>
              <a:t>Unique to the FMF</a:t>
            </a:r>
            <a:endParaRPr lang="en-US" sz="1400" dirty="0"/>
          </a:p>
        </p:txBody>
      </p:sp>
      <p:sp>
        <p:nvSpPr>
          <p:cNvPr id="18" name="Text 16"/>
          <p:cNvSpPr/>
          <p:nvPr/>
        </p:nvSpPr>
        <p:spPr>
          <a:xfrm>
            <a:off x="7909560" y="2496312"/>
            <a:ext cx="3264408" cy="123444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5A6B72"/>
                </a:solidFill>
                <a:latin typeface="Calibri" pitchFamily="34" charset="0"/>
                <a:ea typeface="Calibri" pitchFamily="34" charset="-122"/>
                <a:cs typeface="Calibri" pitchFamily="34" charset="-120"/>
              </a:rPr>
              <a:t>A true denominator — unit rosters and DEERS</a:t>
            </a:r>
            <a:endParaRPr lang="en-US" sz="1050" dirty="0"/>
          </a:p>
          <a:p>
            <a:pPr marL="342900" indent="-342900">
              <a:spcAft>
                <a:spcPts val="500"/>
              </a:spcAft>
              <a:buSzPct val="100000"/>
              <a:buChar char="•"/>
            </a:pPr>
            <a:r>
              <a:rPr lang="en-US" sz="1050" dirty="0">
                <a:solidFill>
                  <a:srgbClr val="5A6B72"/>
                </a:solidFill>
                <a:latin typeface="Calibri" pitchFamily="34" charset="0"/>
                <a:ea typeface="Calibri" pitchFamily="34" charset="-122"/>
                <a:cs typeface="Calibri" pitchFamily="34" charset="-120"/>
              </a:rPr>
              <a:t>Near-universal autopsy on active-duty death</a:t>
            </a:r>
            <a:endParaRPr lang="en-US" sz="1050" dirty="0"/>
          </a:p>
          <a:p>
            <a:pPr marL="342900" indent="-342900">
              <a:spcAft>
                <a:spcPts val="500"/>
              </a:spcAft>
              <a:buSzPct val="100000"/>
              <a:buChar char="•"/>
            </a:pPr>
            <a:r>
              <a:rPr lang="en-US" sz="1050" dirty="0">
                <a:solidFill>
                  <a:srgbClr val="5A6B72"/>
                </a:solidFill>
                <a:latin typeface="Calibri" pitchFamily="34" charset="0"/>
                <a:ea typeface="Calibri" pitchFamily="34" charset="-122"/>
                <a:cs typeface="Calibri" pitchFamily="34" charset="-120"/>
              </a:rPr>
              <a:t>Guaranteed annual re-contact at PHA</a:t>
            </a:r>
            <a:endParaRPr lang="en-US" sz="1050" dirty="0"/>
          </a:p>
          <a:p>
            <a:pPr marL="342900" indent="-342900">
              <a:spcAft>
                <a:spcPts val="500"/>
              </a:spcAft>
              <a:buSzPct val="100000"/>
              <a:buChar char="•"/>
            </a:pPr>
            <a:r>
              <a:rPr lang="en-US" sz="1050" dirty="0">
                <a:solidFill>
                  <a:srgbClr val="5A6B72"/>
                </a:solidFill>
                <a:latin typeface="Calibri" pitchFamily="34" charset="0"/>
                <a:ea typeface="Calibri" pitchFamily="34" charset="-122"/>
                <a:cs typeface="Calibri" pitchFamily="34" charset="-120"/>
              </a:rPr>
              <a:t>LIMDU / MEB as adjudicated outcomes</a:t>
            </a:r>
            <a:endParaRPr lang="en-US" sz="1050" dirty="0"/>
          </a:p>
        </p:txBody>
      </p:sp>
      <p:sp>
        <p:nvSpPr>
          <p:cNvPr id="19" name="Shape 17"/>
          <p:cNvSpPr/>
          <p:nvPr/>
        </p:nvSpPr>
        <p:spPr>
          <a:xfrm>
            <a:off x="7635240" y="4114800"/>
            <a:ext cx="3813048" cy="1847088"/>
          </a:xfrm>
          <a:prstGeom prst="roundRect">
            <a:avLst>
              <a:gd name="adj" fmla="val 2970"/>
            </a:avLst>
          </a:prstGeom>
          <a:solidFill>
            <a:srgbClr val="F2F5F4"/>
          </a:solidFill>
          <a:ln w="12700">
            <a:solidFill>
              <a:srgbClr val="F2F5F4"/>
            </a:solidFill>
            <a:prstDash val="solid"/>
          </a:ln>
        </p:spPr>
      </p:sp>
      <p:sp>
        <p:nvSpPr>
          <p:cNvPr id="20" name="Text 18"/>
          <p:cNvSpPr/>
          <p:nvPr/>
        </p:nvSpPr>
        <p:spPr>
          <a:xfrm>
            <a:off x="7909560" y="4370832"/>
            <a:ext cx="3264408" cy="365760"/>
          </a:xfrm>
          <a:prstGeom prst="rect">
            <a:avLst/>
          </a:prstGeom>
          <a:noFill/>
          <a:ln/>
        </p:spPr>
        <p:txBody>
          <a:bodyPr wrap="square" lIns="0" tIns="0" rIns="0" bIns="0" rtlCol="0" anchor="ctr"/>
          <a:lstStyle/>
          <a:p>
            <a:pPr indent="0" marL="0">
              <a:buNone/>
            </a:pPr>
            <a:r>
              <a:rPr lang="en-US" sz="1400" b="1" dirty="0">
                <a:solidFill>
                  <a:srgbClr val="C25E3A"/>
                </a:solidFill>
                <a:latin typeface="Cambria" pitchFamily="34" charset="0"/>
                <a:ea typeface="Cambria" pitchFamily="34" charset="-122"/>
                <a:cs typeface="Cambria" pitchFamily="34" charset="-120"/>
              </a:rPr>
              <a:t>Built and running</a:t>
            </a:r>
            <a:endParaRPr lang="en-US" sz="1400" dirty="0"/>
          </a:p>
        </p:txBody>
      </p:sp>
      <p:sp>
        <p:nvSpPr>
          <p:cNvPr id="21" name="Text 19"/>
          <p:cNvSpPr/>
          <p:nvPr/>
        </p:nvSpPr>
        <p:spPr>
          <a:xfrm>
            <a:off x="7909560" y="4828032"/>
            <a:ext cx="3264408" cy="886968"/>
          </a:xfrm>
          <a:prstGeom prst="rect">
            <a:avLst/>
          </a:prstGeom>
          <a:noFill/>
          <a:ln/>
        </p:spPr>
        <p:txBody>
          <a:bodyPr wrap="square" lIns="0" tIns="0" rIns="0" bIns="0" rtlCol="0" anchor="t"/>
          <a:lstStyle/>
          <a:p>
            <a:pPr indent="0" marL="0">
              <a:buNone/>
            </a:pPr>
            <a:r>
              <a:rPr lang="en-US" sz="1050" dirty="0">
                <a:solidFill>
                  <a:srgbClr val="5A6B72"/>
                </a:solidFill>
                <a:latin typeface="Calibri" pitchFamily="34" charset="0"/>
                <a:ea typeface="Calibri" pitchFamily="34" charset="-122"/>
                <a:cs typeface="Calibri" pitchFamily="34" charset="-120"/>
              </a:rPr>
              <a:t>Working tool reads a GENESIS extract and returns a FIN-keyed worklist of notes warranting review. 15 of 24 triggers implemented; 44 tests; runs today on synthetic data with no PHI.</a:t>
            </a:r>
            <a:endParaRPr lang="en-US" sz="1050" dirty="0"/>
          </a:p>
        </p:txBody>
      </p:sp>
      <p:sp>
        <p:nvSpPr>
          <p:cNvPr id="22" name="Text 20"/>
          <p:cNvSpPr/>
          <p:nvPr/>
        </p:nvSpPr>
        <p:spPr>
          <a:xfrm>
            <a:off x="566928" y="6382512"/>
            <a:ext cx="10515600" cy="219456"/>
          </a:xfrm>
          <a:prstGeom prst="rect">
            <a:avLst/>
          </a:prstGeom>
          <a:noFill/>
          <a:ln/>
        </p:spPr>
        <p:txBody>
          <a:bodyPr wrap="square" lIns="0" tIns="0" rIns="0" bIns="0" rtlCol="0" anchor="ctr"/>
          <a:lstStyle/>
          <a:p>
            <a:pPr indent="0" marL="0">
              <a:buNone/>
            </a:pPr>
            <a:r>
              <a:rPr lang="en-US" sz="900" i="1" dirty="0">
                <a:solidFill>
                  <a:srgbClr val="C9D6DB"/>
                </a:solidFill>
                <a:latin typeface="Calibri" pitchFamily="34" charset="0"/>
                <a:ea typeface="Calibri" pitchFamily="34" charset="-122"/>
                <a:cs typeface="Calibri" pitchFamily="34" charset="-120"/>
              </a:rPr>
              <a:t>Source: AHRQ Pub. 22-0030; Bradford et al., J Gen Intern Med 2025;40(4):782–9. Repository: Measure-Dx-Genesis.</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212B"/>
        </a:solidFill>
      </p:bgPr>
    </p:bg>
    <p:spTree>
      <p:nvGrpSpPr>
        <p:cNvPr id="1" name=""/>
        <p:cNvGrpSpPr/>
        <p:nvPr/>
      </p:nvGrpSpPr>
      <p:grpSpPr>
        <a:xfrm>
          <a:off x="0" y="0"/>
          <a:ext cx="0" cy="0"/>
          <a:chOff x="0" y="0"/>
          <a:chExt cx="0" cy="0"/>
        </a:xfrm>
      </p:grpSpPr>
      <p:sp>
        <p:nvSpPr>
          <p:cNvPr id="2" name="Text 0"/>
          <p:cNvSpPr/>
          <p:nvPr/>
        </p:nvSpPr>
        <p:spPr>
          <a:xfrm>
            <a:off x="566928" y="658368"/>
            <a:ext cx="7315200" cy="256032"/>
          </a:xfrm>
          <a:prstGeom prst="rect">
            <a:avLst/>
          </a:prstGeom>
          <a:noFill/>
          <a:ln/>
        </p:spPr>
        <p:txBody>
          <a:bodyPr wrap="square" lIns="0" tIns="0" rIns="0" bIns="0" rtlCol="0" anchor="ctr"/>
          <a:lstStyle/>
          <a:p>
            <a:pPr indent="0" marL="0">
              <a:buNone/>
            </a:pPr>
            <a:r>
              <a:rPr lang="en-US" sz="1100" b="1" spc="160" kern="0" dirty="0">
                <a:solidFill>
                  <a:srgbClr val="7FA99B"/>
                </a:solidFill>
                <a:latin typeface="Calibri" pitchFamily="34" charset="0"/>
                <a:ea typeface="Calibri" pitchFamily="34" charset="-122"/>
                <a:cs typeface="Calibri" pitchFamily="34" charset="-120"/>
              </a:rPr>
              <a:t>WHAT MAKES THIS ONE PROGRAM</a:t>
            </a:r>
            <a:endParaRPr lang="en-US" sz="1100" dirty="0"/>
          </a:p>
        </p:txBody>
      </p:sp>
      <p:sp>
        <p:nvSpPr>
          <p:cNvPr id="3" name="Text 1"/>
          <p:cNvSpPr/>
          <p:nvPr/>
        </p:nvSpPr>
        <p:spPr>
          <a:xfrm>
            <a:off x="566928" y="932688"/>
            <a:ext cx="10881360" cy="64008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One currency, one measuring stick</a:t>
            </a:r>
            <a:endParaRPr lang="en-US" sz="3200" dirty="0"/>
          </a:p>
        </p:txBody>
      </p:sp>
      <p:sp>
        <p:nvSpPr>
          <p:cNvPr id="4" name="Shape 2"/>
          <p:cNvSpPr/>
          <p:nvPr/>
        </p:nvSpPr>
        <p:spPr>
          <a:xfrm>
            <a:off x="566928" y="1856232"/>
            <a:ext cx="64008" cy="914400"/>
          </a:xfrm>
          <a:prstGeom prst="rect">
            <a:avLst/>
          </a:prstGeom>
          <a:solidFill>
            <a:srgbClr val="2E7D5B"/>
          </a:solidFill>
          <a:ln/>
        </p:spPr>
      </p:sp>
      <p:sp>
        <p:nvSpPr>
          <p:cNvPr id="5" name="Text 3"/>
          <p:cNvSpPr/>
          <p:nvPr/>
        </p:nvSpPr>
        <p:spPr>
          <a:xfrm>
            <a:off x="896112" y="1810512"/>
            <a:ext cx="10515600" cy="347472"/>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10 U.S.C. §1102 is the common legal substrate</a:t>
            </a:r>
            <a:endParaRPr lang="en-US" sz="1600" dirty="0"/>
          </a:p>
        </p:txBody>
      </p:sp>
      <p:sp>
        <p:nvSpPr>
          <p:cNvPr id="6" name="Text 4"/>
          <p:cNvSpPr/>
          <p:nvPr/>
        </p:nvSpPr>
        <p:spPr>
          <a:xfrm>
            <a:off x="896112" y="2176272"/>
            <a:ext cx="10424160" cy="694944"/>
          </a:xfrm>
          <a:prstGeom prst="rect">
            <a:avLst/>
          </a:prstGeom>
          <a:noFill/>
          <a:ln/>
        </p:spPr>
        <p:txBody>
          <a:bodyPr wrap="square" lIns="0" tIns="0" rIns="0" bIns="0" rtlCol="0" anchor="ctr"/>
          <a:lstStyle/>
          <a:p>
            <a:pPr indent="0" marL="0">
              <a:lnSpc>
                <a:spcPts val="1600"/>
              </a:lnSpc>
              <a:buNone/>
            </a:pPr>
            <a:r>
              <a:rPr lang="en-US" sz="1150" dirty="0">
                <a:solidFill>
                  <a:srgbClr val="C9D6DB"/>
                </a:solidFill>
                <a:latin typeface="Calibri" pitchFamily="34" charset="0"/>
                <a:ea typeface="Calibri" pitchFamily="34" charset="-122"/>
                <a:cs typeface="Calibri" pitchFamily="34" charset="-120"/>
              </a:rPr>
              <a:t>EWP already handles all credentialing content as protected medical quality assurance information. Measure Dx requires the same charter to function non-punitively. One protection, one handling channel — not four separate conversations with the judge advocate.</a:t>
            </a:r>
            <a:endParaRPr lang="en-US" sz="1150" dirty="0"/>
          </a:p>
        </p:txBody>
      </p:sp>
      <p:sp>
        <p:nvSpPr>
          <p:cNvPr id="7" name="Shape 5"/>
          <p:cNvSpPr/>
          <p:nvPr/>
        </p:nvSpPr>
        <p:spPr>
          <a:xfrm>
            <a:off x="566928" y="3026664"/>
            <a:ext cx="64008" cy="914400"/>
          </a:xfrm>
          <a:prstGeom prst="rect">
            <a:avLst/>
          </a:prstGeom>
          <a:solidFill>
            <a:srgbClr val="B8912F"/>
          </a:solidFill>
          <a:ln/>
        </p:spPr>
      </p:sp>
      <p:sp>
        <p:nvSpPr>
          <p:cNvPr id="8" name="Text 6"/>
          <p:cNvSpPr/>
          <p:nvPr/>
        </p:nvSpPr>
        <p:spPr>
          <a:xfrm>
            <a:off x="896112" y="2980944"/>
            <a:ext cx="10515600" cy="347472"/>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Scope of utilization is the PACE problem in credentialing language</a:t>
            </a:r>
            <a:endParaRPr lang="en-US" sz="1600" dirty="0"/>
          </a:p>
        </p:txBody>
      </p:sp>
      <p:sp>
        <p:nvSpPr>
          <p:cNvPr id="9" name="Text 7"/>
          <p:cNvSpPr/>
          <p:nvPr/>
        </p:nvSpPr>
        <p:spPr>
          <a:xfrm>
            <a:off x="896112" y="3346704"/>
            <a:ext cx="10424160" cy="694944"/>
          </a:xfrm>
          <a:prstGeom prst="rect">
            <a:avLst/>
          </a:prstGeom>
          <a:noFill/>
          <a:ln/>
        </p:spPr>
        <p:txBody>
          <a:bodyPr wrap="square" lIns="0" tIns="0" rIns="0" bIns="0" rtlCol="0" anchor="ctr"/>
          <a:lstStyle/>
          <a:p>
            <a:pPr indent="0" marL="0">
              <a:lnSpc>
                <a:spcPts val="1600"/>
              </a:lnSpc>
              <a:buNone/>
            </a:pPr>
            <a:r>
              <a:rPr lang="en-US" sz="1150" dirty="0">
                <a:solidFill>
                  <a:srgbClr val="C9D6DB"/>
                </a:solidFill>
                <a:latin typeface="Calibri" pitchFamily="34" charset="0"/>
                <a:ea typeface="Calibri" pitchFamily="34" charset="-122"/>
                <a:cs typeface="Calibri" pitchFamily="34" charset="-120"/>
              </a:rPr>
              <a:t>EWP privileges a provider to the top of their training, then states plainly that they may exercise only the privileges their current location supports. That gap between credential and capability is exactly what the PACE tiers describe as it widens.</a:t>
            </a:r>
            <a:endParaRPr lang="en-US" sz="1150" dirty="0"/>
          </a:p>
        </p:txBody>
      </p:sp>
      <p:sp>
        <p:nvSpPr>
          <p:cNvPr id="10" name="Shape 8"/>
          <p:cNvSpPr/>
          <p:nvPr/>
        </p:nvSpPr>
        <p:spPr>
          <a:xfrm>
            <a:off x="566928" y="4197096"/>
            <a:ext cx="64008" cy="914400"/>
          </a:xfrm>
          <a:prstGeom prst="rect">
            <a:avLst/>
          </a:prstGeom>
          <a:solidFill>
            <a:srgbClr val="C25E3A"/>
          </a:solidFill>
          <a:ln/>
        </p:spPr>
      </p:sp>
      <p:sp>
        <p:nvSpPr>
          <p:cNvPr id="11" name="Text 9"/>
          <p:cNvSpPr/>
          <p:nvPr/>
        </p:nvSpPr>
        <p:spPr>
          <a:xfrm>
            <a:off x="896112" y="4151376"/>
            <a:ext cx="10515600" cy="347472"/>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The PACE tier is the shared unit of account</a:t>
            </a:r>
            <a:endParaRPr lang="en-US" sz="1600" dirty="0"/>
          </a:p>
        </p:txBody>
      </p:sp>
      <p:sp>
        <p:nvSpPr>
          <p:cNvPr id="12" name="Text 10"/>
          <p:cNvSpPr/>
          <p:nvPr/>
        </p:nvSpPr>
        <p:spPr>
          <a:xfrm>
            <a:off x="896112" y="4517136"/>
            <a:ext cx="10424160" cy="694944"/>
          </a:xfrm>
          <a:prstGeom prst="rect">
            <a:avLst/>
          </a:prstGeom>
          <a:noFill/>
          <a:ln/>
        </p:spPr>
        <p:txBody>
          <a:bodyPr wrap="square" lIns="0" tIns="0" rIns="0" bIns="0" rtlCol="0" anchor="ctr"/>
          <a:lstStyle/>
          <a:p>
            <a:pPr indent="0" marL="0">
              <a:lnSpc>
                <a:spcPts val="1600"/>
              </a:lnSpc>
              <a:buNone/>
            </a:pPr>
            <a:r>
              <a:rPr lang="en-US" sz="1150" dirty="0">
                <a:solidFill>
                  <a:srgbClr val="C9D6DB"/>
                </a:solidFill>
                <a:latin typeface="Calibri" pitchFamily="34" charset="0"/>
                <a:ea typeface="Calibri" pitchFamily="34" charset="-122"/>
                <a:cs typeface="Calibri" pitchFamily="34" charset="-120"/>
              </a:rPr>
              <a:t>CSC defines the tiers and their triggers; the simulation reports its outcomes as tier distributions. Both speak one language to a commander, and both surface in MedCOP via MAVEN.</a:t>
            </a:r>
            <a:endParaRPr lang="en-US" sz="1150" dirty="0"/>
          </a:p>
        </p:txBody>
      </p:sp>
      <p:sp>
        <p:nvSpPr>
          <p:cNvPr id="13" name="Shape 11"/>
          <p:cNvSpPr/>
          <p:nvPr/>
        </p:nvSpPr>
        <p:spPr>
          <a:xfrm>
            <a:off x="566928" y="5367528"/>
            <a:ext cx="64008" cy="914400"/>
          </a:xfrm>
          <a:prstGeom prst="rect">
            <a:avLst/>
          </a:prstGeom>
          <a:solidFill>
            <a:srgbClr val="9B2C2C"/>
          </a:solidFill>
          <a:ln/>
        </p:spPr>
      </p:sp>
      <p:sp>
        <p:nvSpPr>
          <p:cNvPr id="14" name="Text 12"/>
          <p:cNvSpPr/>
          <p:nvPr/>
        </p:nvSpPr>
        <p:spPr>
          <a:xfrm>
            <a:off x="896112" y="5321808"/>
            <a:ext cx="10515600" cy="347472"/>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Peer review is where all four already meet</a:t>
            </a:r>
            <a:endParaRPr lang="en-US" sz="1600" dirty="0"/>
          </a:p>
        </p:txBody>
      </p:sp>
      <p:sp>
        <p:nvSpPr>
          <p:cNvPr id="15" name="Text 13"/>
          <p:cNvSpPr/>
          <p:nvPr/>
        </p:nvSpPr>
        <p:spPr>
          <a:xfrm>
            <a:off x="896112" y="5687568"/>
            <a:ext cx="10424160" cy="694944"/>
          </a:xfrm>
          <a:prstGeom prst="rect">
            <a:avLst/>
          </a:prstGeom>
          <a:noFill/>
          <a:ln/>
        </p:spPr>
        <p:txBody>
          <a:bodyPr wrap="square" lIns="0" tIns="0" rIns="0" bIns="0" rtlCol="0" anchor="ctr"/>
          <a:lstStyle/>
          <a:p>
            <a:pPr indent="0" marL="0">
              <a:lnSpc>
                <a:spcPts val="1600"/>
              </a:lnSpc>
              <a:buNone/>
            </a:pPr>
            <a:r>
              <a:rPr lang="en-US" sz="1150" dirty="0">
                <a:solidFill>
                  <a:srgbClr val="C9D6DB"/>
                </a:solidFill>
                <a:latin typeface="Calibri" pitchFamily="34" charset="0"/>
                <a:ea typeface="Calibri" pitchFamily="34" charset="-122"/>
                <a:cs typeface="Calibri" pitchFamily="34" charset="-120"/>
              </a:rPr>
              <a:t>EWP needs SMART performance metrics for FPPE and OPPE. Measure Dx produces exactly that class of measure, with a true denominator. The recurring EWP product is already “forms to track peer review” — this supplies the content.</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37744"/>
          </a:xfrm>
          <a:prstGeom prst="rect">
            <a:avLst/>
          </a:prstGeom>
          <a:noFill/>
          <a:ln/>
        </p:spPr>
        <p:txBody>
          <a:bodyPr wrap="square" lIns="0" tIns="0" rIns="0" bIns="0" rtlCol="0" anchor="ctr"/>
          <a:lstStyle/>
          <a:p>
            <a:pPr indent="0" marL="0">
              <a:buNone/>
            </a:pPr>
            <a:r>
              <a:rPr lang="en-US" sz="1100" b="1" spc="160" kern="0" dirty="0">
                <a:solidFill>
                  <a:srgbClr val="C25E3A"/>
                </a:solidFill>
                <a:latin typeface="Calibri" pitchFamily="34" charset="0"/>
                <a:ea typeface="Calibri" pitchFamily="34" charset="-122"/>
                <a:cs typeface="Calibri" pitchFamily="34" charset="-120"/>
              </a:rPr>
              <a:t>DECISIONS REQUESTED</a:t>
            </a:r>
            <a:endParaRPr lang="en-US" sz="1100" dirty="0"/>
          </a:p>
        </p:txBody>
      </p:sp>
      <p:sp>
        <p:nvSpPr>
          <p:cNvPr id="3" name="Text 1"/>
          <p:cNvSpPr/>
          <p:nvPr/>
        </p:nvSpPr>
        <p:spPr>
          <a:xfrm>
            <a:off x="548640" y="640080"/>
            <a:ext cx="11064240" cy="749808"/>
          </a:xfrm>
          <a:prstGeom prst="rect">
            <a:avLst/>
          </a:prstGeom>
          <a:noFill/>
          <a:ln/>
        </p:spPr>
        <p:txBody>
          <a:bodyPr wrap="square" lIns="0" tIns="0" rIns="0" bIns="0" rtlCol="0" anchor="ctr"/>
          <a:lstStyle/>
          <a:p>
            <a:pPr indent="0" marL="0">
              <a:buNone/>
            </a:pPr>
            <a:r>
              <a:rPr lang="en-US" sz="3000" b="1" dirty="0">
                <a:solidFill>
                  <a:srgbClr val="12212B"/>
                </a:solidFill>
                <a:latin typeface="Cambria" pitchFamily="34" charset="0"/>
                <a:ea typeface="Cambria" pitchFamily="34" charset="-122"/>
                <a:cs typeface="Cambria" pitchFamily="34" charset="-120"/>
              </a:rPr>
              <a:t>What we need from HSOAG</a:t>
            </a:r>
            <a:endParaRPr lang="en-US" sz="3000" dirty="0"/>
          </a:p>
        </p:txBody>
      </p:sp>
      <p:sp>
        <p:nvSpPr>
          <p:cNvPr id="4" name="Shape 2"/>
          <p:cNvSpPr/>
          <p:nvPr/>
        </p:nvSpPr>
        <p:spPr>
          <a:xfrm>
            <a:off x="566928" y="1389888"/>
            <a:ext cx="342900" cy="64008"/>
          </a:xfrm>
          <a:prstGeom prst="rect">
            <a:avLst/>
          </a:prstGeom>
          <a:solidFill>
            <a:srgbClr val="2E7D5B"/>
          </a:solidFill>
          <a:ln/>
        </p:spPr>
      </p:sp>
      <p:sp>
        <p:nvSpPr>
          <p:cNvPr id="5" name="Shape 3"/>
          <p:cNvSpPr/>
          <p:nvPr/>
        </p:nvSpPr>
        <p:spPr>
          <a:xfrm>
            <a:off x="909828" y="1389888"/>
            <a:ext cx="342900" cy="64008"/>
          </a:xfrm>
          <a:prstGeom prst="rect">
            <a:avLst/>
          </a:prstGeom>
          <a:solidFill>
            <a:srgbClr val="B8912F"/>
          </a:solidFill>
          <a:ln/>
        </p:spPr>
      </p:sp>
      <p:sp>
        <p:nvSpPr>
          <p:cNvPr id="6" name="Shape 4"/>
          <p:cNvSpPr/>
          <p:nvPr/>
        </p:nvSpPr>
        <p:spPr>
          <a:xfrm>
            <a:off x="1252728" y="1389888"/>
            <a:ext cx="342900" cy="64008"/>
          </a:xfrm>
          <a:prstGeom prst="rect">
            <a:avLst/>
          </a:prstGeom>
          <a:solidFill>
            <a:srgbClr val="C25E3A"/>
          </a:solidFill>
          <a:ln/>
        </p:spPr>
      </p:sp>
      <p:sp>
        <p:nvSpPr>
          <p:cNvPr id="7" name="Shape 5"/>
          <p:cNvSpPr/>
          <p:nvPr/>
        </p:nvSpPr>
        <p:spPr>
          <a:xfrm>
            <a:off x="1595628" y="1389888"/>
            <a:ext cx="342900" cy="64008"/>
          </a:xfrm>
          <a:prstGeom prst="rect">
            <a:avLst/>
          </a:prstGeom>
          <a:solidFill>
            <a:srgbClr val="9B2C2C"/>
          </a:solidFill>
          <a:ln/>
        </p:spPr>
      </p:sp>
      <p:sp>
        <p:nvSpPr>
          <p:cNvPr id="8" name="Shape 6"/>
          <p:cNvSpPr/>
          <p:nvPr/>
        </p:nvSpPr>
        <p:spPr>
          <a:xfrm>
            <a:off x="566928" y="1783080"/>
            <a:ext cx="10881360" cy="896112"/>
          </a:xfrm>
          <a:prstGeom prst="roundRect">
            <a:avLst>
              <a:gd name="adj" fmla="val 5102"/>
            </a:avLst>
          </a:prstGeom>
          <a:solidFill>
            <a:srgbClr val="F2F5F4"/>
          </a:solidFill>
          <a:ln w="12700">
            <a:solidFill>
              <a:srgbClr val="F2F5F4"/>
            </a:solidFill>
            <a:prstDash val="solid"/>
          </a:ln>
        </p:spPr>
      </p:sp>
      <p:sp>
        <p:nvSpPr>
          <p:cNvPr id="9" name="Shape 7"/>
          <p:cNvSpPr/>
          <p:nvPr/>
        </p:nvSpPr>
        <p:spPr>
          <a:xfrm>
            <a:off x="566928" y="1783080"/>
            <a:ext cx="82296" cy="896112"/>
          </a:xfrm>
          <a:prstGeom prst="rect">
            <a:avLst/>
          </a:prstGeom>
          <a:solidFill>
            <a:srgbClr val="7FA99B"/>
          </a:solidFill>
          <a:ln/>
        </p:spPr>
      </p:sp>
      <p:sp>
        <p:nvSpPr>
          <p:cNvPr id="10" name="Text 8"/>
          <p:cNvSpPr/>
          <p:nvPr/>
        </p:nvSpPr>
        <p:spPr>
          <a:xfrm>
            <a:off x="914400" y="1783080"/>
            <a:ext cx="2011680" cy="896112"/>
          </a:xfrm>
          <a:prstGeom prst="rect">
            <a:avLst/>
          </a:prstGeom>
          <a:noFill/>
          <a:ln/>
        </p:spPr>
        <p:txBody>
          <a:bodyPr wrap="square" lIns="0" tIns="0" rIns="0" bIns="0" rtlCol="0" anchor="ctr"/>
          <a:lstStyle/>
          <a:p>
            <a:pPr indent="0" marL="0">
              <a:buNone/>
            </a:pPr>
            <a:r>
              <a:rPr lang="en-US" sz="1600" b="1" dirty="0">
                <a:solidFill>
                  <a:srgbClr val="12212B"/>
                </a:solidFill>
                <a:latin typeface="Cambria" pitchFamily="34" charset="0"/>
                <a:ea typeface="Cambria" pitchFamily="34" charset="-122"/>
                <a:cs typeface="Cambria" pitchFamily="34" charset="-120"/>
              </a:rPr>
              <a:t>EWP</a:t>
            </a:r>
            <a:endParaRPr lang="en-US" sz="1600" dirty="0"/>
          </a:p>
        </p:txBody>
      </p:sp>
      <p:sp>
        <p:nvSpPr>
          <p:cNvPr id="11" name="Text 9"/>
          <p:cNvSpPr/>
          <p:nvPr/>
        </p:nvSpPr>
        <p:spPr>
          <a:xfrm>
            <a:off x="2971800" y="1783080"/>
            <a:ext cx="8229600" cy="896112"/>
          </a:xfrm>
          <a:prstGeom prst="rect">
            <a:avLst/>
          </a:prstGeom>
          <a:noFill/>
          <a:ln/>
        </p:spPr>
        <p:txBody>
          <a:bodyPr wrap="square" lIns="0" tIns="0" rIns="0" bIns="0" rtlCol="0" anchor="ctr"/>
          <a:lstStyle/>
          <a:p>
            <a:pPr indent="0" marL="0">
              <a:buNone/>
            </a:pPr>
            <a:r>
              <a:rPr lang="en-US" sz="1250" dirty="0">
                <a:solidFill>
                  <a:srgbClr val="5A6B72"/>
                </a:solidFill>
                <a:latin typeface="Calibri" pitchFamily="34" charset="0"/>
                <a:ea typeface="Calibri" pitchFamily="34" charset="-122"/>
                <a:cs typeface="Calibri" pitchFamily="34" charset="-120"/>
              </a:rPr>
              <a:t>Advocate the successor instruction to BUMEDNOTE 6000 before its Nov 2026 cancellation, and seek enterprise clarification on supervised privileges at operational platforms.</a:t>
            </a:r>
            <a:endParaRPr lang="en-US" sz="1250" dirty="0"/>
          </a:p>
        </p:txBody>
      </p:sp>
      <p:sp>
        <p:nvSpPr>
          <p:cNvPr id="12" name="Shape 10"/>
          <p:cNvSpPr/>
          <p:nvPr/>
        </p:nvSpPr>
        <p:spPr>
          <a:xfrm>
            <a:off x="566928" y="2807208"/>
            <a:ext cx="10881360" cy="896112"/>
          </a:xfrm>
          <a:prstGeom prst="roundRect">
            <a:avLst>
              <a:gd name="adj" fmla="val 5102"/>
            </a:avLst>
          </a:prstGeom>
          <a:solidFill>
            <a:srgbClr val="F2F5F4"/>
          </a:solidFill>
          <a:ln w="12700">
            <a:solidFill>
              <a:srgbClr val="F2F5F4"/>
            </a:solidFill>
            <a:prstDash val="solid"/>
          </a:ln>
        </p:spPr>
      </p:sp>
      <p:sp>
        <p:nvSpPr>
          <p:cNvPr id="13" name="Shape 11"/>
          <p:cNvSpPr/>
          <p:nvPr/>
        </p:nvSpPr>
        <p:spPr>
          <a:xfrm>
            <a:off x="566928" y="2807208"/>
            <a:ext cx="82296" cy="896112"/>
          </a:xfrm>
          <a:prstGeom prst="rect">
            <a:avLst/>
          </a:prstGeom>
          <a:solidFill>
            <a:srgbClr val="1C5D66"/>
          </a:solidFill>
          <a:ln/>
        </p:spPr>
      </p:sp>
      <p:sp>
        <p:nvSpPr>
          <p:cNvPr id="14" name="Text 12"/>
          <p:cNvSpPr/>
          <p:nvPr/>
        </p:nvSpPr>
        <p:spPr>
          <a:xfrm>
            <a:off x="914400" y="2807208"/>
            <a:ext cx="2011680" cy="896112"/>
          </a:xfrm>
          <a:prstGeom prst="rect">
            <a:avLst/>
          </a:prstGeom>
          <a:noFill/>
          <a:ln/>
        </p:spPr>
        <p:txBody>
          <a:bodyPr wrap="square" lIns="0" tIns="0" rIns="0" bIns="0" rtlCol="0" anchor="ctr"/>
          <a:lstStyle/>
          <a:p>
            <a:pPr indent="0" marL="0">
              <a:buNone/>
            </a:pPr>
            <a:r>
              <a:rPr lang="en-US" sz="1600" b="1" dirty="0">
                <a:solidFill>
                  <a:srgbClr val="12212B"/>
                </a:solidFill>
                <a:latin typeface="Cambria" pitchFamily="34" charset="0"/>
                <a:ea typeface="Cambria" pitchFamily="34" charset="-122"/>
                <a:cs typeface="Cambria" pitchFamily="34" charset="-120"/>
              </a:rPr>
              <a:t>CSC</a:t>
            </a:r>
            <a:endParaRPr lang="en-US" sz="1600" dirty="0"/>
          </a:p>
        </p:txBody>
      </p:sp>
      <p:sp>
        <p:nvSpPr>
          <p:cNvPr id="15" name="Text 13"/>
          <p:cNvSpPr/>
          <p:nvPr/>
        </p:nvSpPr>
        <p:spPr>
          <a:xfrm>
            <a:off x="2971800" y="2807208"/>
            <a:ext cx="8229600" cy="896112"/>
          </a:xfrm>
          <a:prstGeom prst="rect">
            <a:avLst/>
          </a:prstGeom>
          <a:noFill/>
          <a:ln/>
        </p:spPr>
        <p:txBody>
          <a:bodyPr wrap="square" lIns="0" tIns="0" rIns="0" bIns="0" rtlCol="0" anchor="ctr"/>
          <a:lstStyle/>
          <a:p>
            <a:pPr indent="0" marL="0">
              <a:buNone/>
            </a:pPr>
            <a:r>
              <a:rPr lang="en-US" sz="1250" dirty="0">
                <a:solidFill>
                  <a:srgbClr val="5A6B72"/>
                </a:solidFill>
                <a:latin typeface="Calibri" pitchFamily="34" charset="0"/>
                <a:ea typeface="Calibri" pitchFamily="34" charset="-122"/>
                <a:cs typeface="Calibri" pitchFamily="34" charset="-120"/>
              </a:rPr>
              <a:t>Confirm whether “accepted / in press” satisfies the citation requirement, and identify the I&amp;L action officer to staff the white paper.</a:t>
            </a:r>
            <a:endParaRPr lang="en-US" sz="1250" dirty="0"/>
          </a:p>
        </p:txBody>
      </p:sp>
      <p:sp>
        <p:nvSpPr>
          <p:cNvPr id="16" name="Shape 14"/>
          <p:cNvSpPr/>
          <p:nvPr/>
        </p:nvSpPr>
        <p:spPr>
          <a:xfrm>
            <a:off x="566928" y="3831336"/>
            <a:ext cx="10881360" cy="896112"/>
          </a:xfrm>
          <a:prstGeom prst="roundRect">
            <a:avLst>
              <a:gd name="adj" fmla="val 5102"/>
            </a:avLst>
          </a:prstGeom>
          <a:solidFill>
            <a:srgbClr val="F2F5F4"/>
          </a:solidFill>
          <a:ln w="12700">
            <a:solidFill>
              <a:srgbClr val="F2F5F4"/>
            </a:solidFill>
            <a:prstDash val="solid"/>
          </a:ln>
        </p:spPr>
      </p:sp>
      <p:sp>
        <p:nvSpPr>
          <p:cNvPr id="17" name="Shape 15"/>
          <p:cNvSpPr/>
          <p:nvPr/>
        </p:nvSpPr>
        <p:spPr>
          <a:xfrm>
            <a:off x="566928" y="3831336"/>
            <a:ext cx="82296" cy="896112"/>
          </a:xfrm>
          <a:prstGeom prst="rect">
            <a:avLst/>
          </a:prstGeom>
          <a:solidFill>
            <a:srgbClr val="C25E3A"/>
          </a:solidFill>
          <a:ln/>
        </p:spPr>
      </p:sp>
      <p:sp>
        <p:nvSpPr>
          <p:cNvPr id="18" name="Text 16"/>
          <p:cNvSpPr/>
          <p:nvPr/>
        </p:nvSpPr>
        <p:spPr>
          <a:xfrm>
            <a:off x="914400" y="3831336"/>
            <a:ext cx="2011680" cy="896112"/>
          </a:xfrm>
          <a:prstGeom prst="rect">
            <a:avLst/>
          </a:prstGeom>
          <a:noFill/>
          <a:ln/>
        </p:spPr>
        <p:txBody>
          <a:bodyPr wrap="square" lIns="0" tIns="0" rIns="0" bIns="0" rtlCol="0" anchor="ctr"/>
          <a:lstStyle/>
          <a:p>
            <a:pPr indent="0" marL="0">
              <a:buNone/>
            </a:pPr>
            <a:r>
              <a:rPr lang="en-US" sz="1600" b="1" dirty="0">
                <a:solidFill>
                  <a:srgbClr val="12212B"/>
                </a:solidFill>
                <a:latin typeface="Cambria" pitchFamily="34" charset="0"/>
                <a:ea typeface="Cambria" pitchFamily="34" charset="-122"/>
                <a:cs typeface="Cambria" pitchFamily="34" charset="-120"/>
              </a:rPr>
              <a:t>Simulation</a:t>
            </a:r>
            <a:endParaRPr lang="en-US" sz="1600" dirty="0"/>
          </a:p>
        </p:txBody>
      </p:sp>
      <p:sp>
        <p:nvSpPr>
          <p:cNvPr id="19" name="Text 17"/>
          <p:cNvSpPr/>
          <p:nvPr/>
        </p:nvSpPr>
        <p:spPr>
          <a:xfrm>
            <a:off x="2971800" y="3831336"/>
            <a:ext cx="8229600" cy="896112"/>
          </a:xfrm>
          <a:prstGeom prst="rect">
            <a:avLst/>
          </a:prstGeom>
          <a:noFill/>
          <a:ln/>
        </p:spPr>
        <p:txBody>
          <a:bodyPr wrap="square" lIns="0" tIns="0" rIns="0" bIns="0" rtlCol="0" anchor="ctr"/>
          <a:lstStyle/>
          <a:p>
            <a:pPr indent="0" marL="0">
              <a:buNone/>
            </a:pPr>
            <a:r>
              <a:rPr lang="en-US" sz="1250" dirty="0">
                <a:solidFill>
                  <a:srgbClr val="5A6B72"/>
                </a:solidFill>
                <a:latin typeface="Calibri" pitchFamily="34" charset="0"/>
                <a:ea typeface="Calibri" pitchFamily="34" charset="-122"/>
                <a:cs typeface="Calibri" pitchFamily="34" charset="-120"/>
              </a:rPr>
              <a:t>Sponsor an SME face-validity review panel. The model cannot be cited in a decision until it has one.</a:t>
            </a:r>
            <a:endParaRPr lang="en-US" sz="1250" dirty="0"/>
          </a:p>
        </p:txBody>
      </p:sp>
      <p:sp>
        <p:nvSpPr>
          <p:cNvPr id="20" name="Shape 18"/>
          <p:cNvSpPr/>
          <p:nvPr/>
        </p:nvSpPr>
        <p:spPr>
          <a:xfrm>
            <a:off x="566928" y="4855464"/>
            <a:ext cx="10881360" cy="896112"/>
          </a:xfrm>
          <a:prstGeom prst="roundRect">
            <a:avLst>
              <a:gd name="adj" fmla="val 5102"/>
            </a:avLst>
          </a:prstGeom>
          <a:solidFill>
            <a:srgbClr val="F2F5F4"/>
          </a:solidFill>
          <a:ln w="12700">
            <a:solidFill>
              <a:srgbClr val="F2F5F4"/>
            </a:solidFill>
            <a:prstDash val="solid"/>
          </a:ln>
        </p:spPr>
      </p:sp>
      <p:sp>
        <p:nvSpPr>
          <p:cNvPr id="21" name="Shape 19"/>
          <p:cNvSpPr/>
          <p:nvPr/>
        </p:nvSpPr>
        <p:spPr>
          <a:xfrm>
            <a:off x="566928" y="4855464"/>
            <a:ext cx="82296" cy="896112"/>
          </a:xfrm>
          <a:prstGeom prst="rect">
            <a:avLst/>
          </a:prstGeom>
          <a:solidFill>
            <a:srgbClr val="12212B"/>
          </a:solidFill>
          <a:ln/>
        </p:spPr>
      </p:sp>
      <p:sp>
        <p:nvSpPr>
          <p:cNvPr id="22" name="Text 20"/>
          <p:cNvSpPr/>
          <p:nvPr/>
        </p:nvSpPr>
        <p:spPr>
          <a:xfrm>
            <a:off x="914400" y="4855464"/>
            <a:ext cx="2011680" cy="896112"/>
          </a:xfrm>
          <a:prstGeom prst="rect">
            <a:avLst/>
          </a:prstGeom>
          <a:noFill/>
          <a:ln/>
        </p:spPr>
        <p:txBody>
          <a:bodyPr wrap="square" lIns="0" tIns="0" rIns="0" bIns="0" rtlCol="0" anchor="ctr"/>
          <a:lstStyle/>
          <a:p>
            <a:pPr indent="0" marL="0">
              <a:buNone/>
            </a:pPr>
            <a:r>
              <a:rPr lang="en-US" sz="1600" b="1" dirty="0">
                <a:solidFill>
                  <a:srgbClr val="12212B"/>
                </a:solidFill>
                <a:latin typeface="Cambria" pitchFamily="34" charset="0"/>
                <a:ea typeface="Cambria" pitchFamily="34" charset="-122"/>
                <a:cs typeface="Cambria" pitchFamily="34" charset="-120"/>
              </a:rPr>
              <a:t>Measure Dx</a:t>
            </a:r>
            <a:endParaRPr lang="en-US" sz="1600" dirty="0"/>
          </a:p>
        </p:txBody>
      </p:sp>
      <p:sp>
        <p:nvSpPr>
          <p:cNvPr id="23" name="Text 21"/>
          <p:cNvSpPr/>
          <p:nvPr/>
        </p:nvSpPr>
        <p:spPr>
          <a:xfrm>
            <a:off x="2971800" y="4855464"/>
            <a:ext cx="8229600" cy="896112"/>
          </a:xfrm>
          <a:prstGeom prst="rect">
            <a:avLst/>
          </a:prstGeom>
          <a:noFill/>
          <a:ln/>
        </p:spPr>
        <p:txBody>
          <a:bodyPr wrap="square" lIns="0" tIns="0" rIns="0" bIns="0" rtlCol="0" anchor="ctr"/>
          <a:lstStyle/>
          <a:p>
            <a:pPr indent="0" marL="0">
              <a:buNone/>
            </a:pPr>
            <a:r>
              <a:rPr lang="en-US" sz="1250" dirty="0">
                <a:solidFill>
                  <a:srgbClr val="5A6B72"/>
                </a:solidFill>
                <a:latin typeface="Calibri" pitchFamily="34" charset="0"/>
                <a:ea typeface="Calibri" pitchFamily="34" charset="-122"/>
                <a:cs typeface="Calibri" pitchFamily="34" charset="-120"/>
              </a:rPr>
              <a:t>Authorize a 12-month pilot at one division, and name the analytic partner for the data extract.</a:t>
            </a:r>
            <a:endParaRPr lang="en-US" sz="1250" dirty="0"/>
          </a:p>
        </p:txBody>
      </p:sp>
      <p:sp>
        <p:nvSpPr>
          <p:cNvPr id="24" name="Text 22"/>
          <p:cNvSpPr/>
          <p:nvPr/>
        </p:nvSpPr>
        <p:spPr>
          <a:xfrm>
            <a:off x="566928" y="5943600"/>
            <a:ext cx="10881360" cy="384048"/>
          </a:xfrm>
          <a:prstGeom prst="rect">
            <a:avLst/>
          </a:prstGeom>
          <a:noFill/>
          <a:ln/>
        </p:spPr>
        <p:txBody>
          <a:bodyPr wrap="square" lIns="0" tIns="0" rIns="0" bIns="0" rtlCol="0" anchor="ctr"/>
          <a:lstStyle/>
          <a:p>
            <a:pPr indent="0" marL="0">
              <a:buNone/>
            </a:pPr>
            <a:r>
              <a:rPr lang="en-US" sz="1250" b="1" dirty="0">
                <a:solidFill>
                  <a:srgbClr val="12212B"/>
                </a:solidFill>
                <a:latin typeface="Calibri" pitchFamily="34" charset="0"/>
                <a:ea typeface="Calibri" pitchFamily="34" charset="-122"/>
                <a:cs typeface="Calibri" pitchFamily="34" charset="-120"/>
              </a:rPr>
              <a:t>Common thread: none of these asks is a resourcing request. Each is a decision, an endorsement, or an authority — the things HSOAG is positioned to give and we cannot generate ourselves.</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HSOAG Quality Line of Effort</dc:title>
  <dc:subject>PptxGenJS Presentation</dc:subject>
  <dc:creator>CDR Brian S. Ford, MC, USN</dc:creator>
  <cp:lastModifiedBy>CDR Brian S. Ford, MC, USN</cp:lastModifiedBy>
  <cp:revision>1</cp:revision>
  <dcterms:created xsi:type="dcterms:W3CDTF">2026-08-15T22:32:02Z</dcterms:created>
  <dcterms:modified xsi:type="dcterms:W3CDTF">2026-08-15T22:32:02Z</dcterms:modified>
</cp:coreProperties>
</file>
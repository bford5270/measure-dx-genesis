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these are not four separate projects competing for the same attention. They are one architecture. Each answers a different question about the same problem — how do we know the quality of medical care when the conditions that quality depends on are degrading.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gaps map one-to-one onto the three lines of effort plus Measure Dx. This slide is the reason the portfolio is coherent rather than opportunistic.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removing any one of the four leaves a gap the others cannot cover. CSC without simulation is an untested assertion. Simulation without CSC has no outcome to report against. Both without Measure Dx never learn from what actually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Awaiting EWP source material. Slide structure mirrors the CSC and simulation slides so the three lines of effort read as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manuscript's centerpiece and the white paper's foundation. The key move is that it requires no new doctrine — PACE and the JTS CPGs both already exist. The virtue-ethics column is what makes the moral burden institutional rather than individual.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on this slide is the publication-timing decision. It is the only thing on the critical path that someone else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to state the limitation out loud: several parameters remain provisional and the model has not passed SME face validity. The robust unconditional claim is the third one — the binding constraint is downstream of surgery. The MEDEVAC-versus-intensivist ordering flips depending on transit mortality of un-operated evacuees, which is the single most decision-relevant open SME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31.8% figure is the published multi-site result, not a projection. Emphasize that this is the only one of the four efforts that already has running code against real data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land if you only get one. The portfolio argument is stronger than any individual effort's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common thread. It reframes the brief from four project updates into one governance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12B"/>
        </a:solidFill>
      </p:bgPr>
    </p:bg>
    <p:spTree>
      <p:nvGrpSpPr>
        <p:cNvPr id="1" name=""/>
        <p:cNvGrpSpPr/>
        <p:nvPr/>
      </p:nvGrpSpPr>
      <p:grpSpPr>
        <a:xfrm>
          <a:off x="0" y="0"/>
          <a:ext cx="0" cy="0"/>
          <a:chOff x="0" y="0"/>
          <a:chExt cx="0" cy="0"/>
        </a:xfrm>
      </p:grpSpPr>
      <p:sp>
        <p:nvSpPr>
          <p:cNvPr id="2" name="Text 0"/>
          <p:cNvSpPr/>
          <p:nvPr/>
        </p:nvSpPr>
        <p:spPr>
          <a:xfrm>
            <a:off x="822960" y="1783080"/>
            <a:ext cx="10515600" cy="274320"/>
          </a:xfrm>
          <a:prstGeom prst="rect">
            <a:avLst/>
          </a:prstGeom>
          <a:noFill/>
          <a:ln/>
        </p:spPr>
        <p:txBody>
          <a:bodyPr wrap="square" lIns="0" tIns="0" rIns="0" bIns="0" rtlCol="0" anchor="ctr"/>
          <a:lstStyle/>
          <a:p>
            <a:pPr indent="0" marL="0">
              <a:buNone/>
            </a:pPr>
            <a:r>
              <a:rPr lang="en-US" sz="1250" b="1" spc="240" kern="0" dirty="0">
                <a:solidFill>
                  <a:srgbClr val="7FA99B"/>
                </a:solidFill>
                <a:latin typeface="Calibri" pitchFamily="34" charset="0"/>
                <a:ea typeface="Calibri" pitchFamily="34" charset="-122"/>
                <a:cs typeface="Calibri" pitchFamily="34" charset="-120"/>
              </a:rPr>
              <a:t>HSOAG QUALITY LINE OF EFFORT</a:t>
            </a:r>
            <a:endParaRPr lang="en-US" sz="1250" dirty="0"/>
          </a:p>
        </p:txBody>
      </p:sp>
      <p:sp>
        <p:nvSpPr>
          <p:cNvPr id="3" name="Text 1"/>
          <p:cNvSpPr/>
          <p:nvPr/>
        </p:nvSpPr>
        <p:spPr>
          <a:xfrm>
            <a:off x="822960" y="2194560"/>
            <a:ext cx="10058400" cy="155448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Measuring quality where</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capability is not guaranteed</a:t>
            </a:r>
            <a:endParaRPr lang="en-US" sz="4200" dirty="0"/>
          </a:p>
        </p:txBody>
      </p:sp>
      <p:sp>
        <p:nvSpPr>
          <p:cNvPr id="4" name="Text 2"/>
          <p:cNvSpPr/>
          <p:nvPr/>
        </p:nvSpPr>
        <p:spPr>
          <a:xfrm>
            <a:off x="822960" y="3886200"/>
            <a:ext cx="9509760" cy="457200"/>
          </a:xfrm>
          <a:prstGeom prst="rect">
            <a:avLst/>
          </a:prstGeom>
          <a:noFill/>
          <a:ln/>
        </p:spPr>
        <p:txBody>
          <a:bodyPr wrap="square" lIns="0" tIns="0" rIns="0" bIns="0" rtlCol="0" anchor="ctr"/>
          <a:lstStyle/>
          <a:p>
            <a:pPr indent="0" marL="0">
              <a:buNone/>
            </a:pPr>
            <a:r>
              <a:rPr lang="en-US" sz="1400" dirty="0">
                <a:solidFill>
                  <a:srgbClr val="C9D6DB"/>
                </a:solidFill>
                <a:latin typeface="Calibri" pitchFamily="34" charset="0"/>
                <a:ea typeface="Calibri" pitchFamily="34" charset="-122"/>
                <a:cs typeface="Calibri" pitchFamily="34" charset="-120"/>
              </a:rPr>
              <a:t>Four efforts, one measurement architecture — Early Warning, Crisis Standards of Care, Simulation, and Diagnostic Safety</a:t>
            </a:r>
            <a:endParaRPr lang="en-US" sz="1400" dirty="0"/>
          </a:p>
        </p:txBody>
      </p:sp>
      <p:sp>
        <p:nvSpPr>
          <p:cNvPr id="5" name="Shape 3"/>
          <p:cNvSpPr/>
          <p:nvPr/>
        </p:nvSpPr>
        <p:spPr>
          <a:xfrm>
            <a:off x="822960" y="4709160"/>
            <a:ext cx="1143000" cy="91440"/>
          </a:xfrm>
          <a:prstGeom prst="rect">
            <a:avLst/>
          </a:prstGeom>
          <a:solidFill>
            <a:srgbClr val="2E7D5B"/>
          </a:solidFill>
          <a:ln/>
        </p:spPr>
      </p:sp>
      <p:sp>
        <p:nvSpPr>
          <p:cNvPr id="6" name="Text 4"/>
          <p:cNvSpPr/>
          <p:nvPr/>
        </p:nvSpPr>
        <p:spPr>
          <a:xfrm>
            <a:off x="822960" y="4837176"/>
            <a:ext cx="1143000" cy="201168"/>
          </a:xfrm>
          <a:prstGeom prst="rect">
            <a:avLst/>
          </a:prstGeom>
          <a:noFill/>
          <a:ln/>
        </p:spPr>
        <p:txBody>
          <a:bodyPr wrap="square" lIns="0" tIns="0" rIns="0" bIns="0" rtlCol="0" anchor="ctr"/>
          <a:lstStyle/>
          <a:p>
            <a:pPr algn="ctr" indent="0" marL="0">
              <a:buNone/>
            </a:pPr>
            <a:r>
              <a:rPr lang="en-US" sz="850" b="1" spc="60" kern="0" dirty="0">
                <a:solidFill>
                  <a:srgbClr val="7FA99B"/>
                </a:solidFill>
                <a:latin typeface="Calibri" pitchFamily="34" charset="0"/>
                <a:ea typeface="Calibri" pitchFamily="34" charset="-122"/>
                <a:cs typeface="Calibri" pitchFamily="34" charset="-120"/>
              </a:rPr>
              <a:t>PRIMARY</a:t>
            </a:r>
            <a:endParaRPr lang="en-US" sz="850" dirty="0"/>
          </a:p>
        </p:txBody>
      </p:sp>
      <p:sp>
        <p:nvSpPr>
          <p:cNvPr id="7" name="Shape 5"/>
          <p:cNvSpPr/>
          <p:nvPr/>
        </p:nvSpPr>
        <p:spPr>
          <a:xfrm>
            <a:off x="1965960" y="4709160"/>
            <a:ext cx="1143000" cy="91440"/>
          </a:xfrm>
          <a:prstGeom prst="rect">
            <a:avLst/>
          </a:prstGeom>
          <a:solidFill>
            <a:srgbClr val="B8912F"/>
          </a:solidFill>
          <a:ln/>
        </p:spPr>
      </p:sp>
      <p:sp>
        <p:nvSpPr>
          <p:cNvPr id="8" name="Text 6"/>
          <p:cNvSpPr/>
          <p:nvPr/>
        </p:nvSpPr>
        <p:spPr>
          <a:xfrm>
            <a:off x="1965960" y="4837176"/>
            <a:ext cx="1143000" cy="201168"/>
          </a:xfrm>
          <a:prstGeom prst="rect">
            <a:avLst/>
          </a:prstGeom>
          <a:noFill/>
          <a:ln/>
        </p:spPr>
        <p:txBody>
          <a:bodyPr wrap="square" lIns="0" tIns="0" rIns="0" bIns="0" rtlCol="0" anchor="ctr"/>
          <a:lstStyle/>
          <a:p>
            <a:pPr algn="ctr" indent="0" marL="0">
              <a:buNone/>
            </a:pPr>
            <a:r>
              <a:rPr lang="en-US" sz="850" b="1" spc="60" kern="0" dirty="0">
                <a:solidFill>
                  <a:srgbClr val="7FA99B"/>
                </a:solidFill>
                <a:latin typeface="Calibri" pitchFamily="34" charset="0"/>
                <a:ea typeface="Calibri" pitchFamily="34" charset="-122"/>
                <a:cs typeface="Calibri" pitchFamily="34" charset="-120"/>
              </a:rPr>
              <a:t>ALTERNATE</a:t>
            </a:r>
            <a:endParaRPr lang="en-US" sz="850" dirty="0"/>
          </a:p>
        </p:txBody>
      </p:sp>
      <p:sp>
        <p:nvSpPr>
          <p:cNvPr id="9" name="Shape 7"/>
          <p:cNvSpPr/>
          <p:nvPr/>
        </p:nvSpPr>
        <p:spPr>
          <a:xfrm>
            <a:off x="3108960" y="4709160"/>
            <a:ext cx="1143000" cy="91440"/>
          </a:xfrm>
          <a:prstGeom prst="rect">
            <a:avLst/>
          </a:prstGeom>
          <a:solidFill>
            <a:srgbClr val="C25E3A"/>
          </a:solidFill>
          <a:ln/>
        </p:spPr>
      </p:sp>
      <p:sp>
        <p:nvSpPr>
          <p:cNvPr id="10" name="Text 8"/>
          <p:cNvSpPr/>
          <p:nvPr/>
        </p:nvSpPr>
        <p:spPr>
          <a:xfrm>
            <a:off x="3108960" y="4837176"/>
            <a:ext cx="1143000" cy="201168"/>
          </a:xfrm>
          <a:prstGeom prst="rect">
            <a:avLst/>
          </a:prstGeom>
          <a:noFill/>
          <a:ln/>
        </p:spPr>
        <p:txBody>
          <a:bodyPr wrap="square" lIns="0" tIns="0" rIns="0" bIns="0" rtlCol="0" anchor="ctr"/>
          <a:lstStyle/>
          <a:p>
            <a:pPr algn="ctr" indent="0" marL="0">
              <a:buNone/>
            </a:pPr>
            <a:r>
              <a:rPr lang="en-US" sz="850" b="1" spc="60" kern="0" dirty="0">
                <a:solidFill>
                  <a:srgbClr val="7FA99B"/>
                </a:solidFill>
                <a:latin typeface="Calibri" pitchFamily="34" charset="0"/>
                <a:ea typeface="Calibri" pitchFamily="34" charset="-122"/>
                <a:cs typeface="Calibri" pitchFamily="34" charset="-120"/>
              </a:rPr>
              <a:t>CONTINGENCY</a:t>
            </a:r>
            <a:endParaRPr lang="en-US" sz="850" dirty="0"/>
          </a:p>
        </p:txBody>
      </p:sp>
      <p:sp>
        <p:nvSpPr>
          <p:cNvPr id="11" name="Shape 9"/>
          <p:cNvSpPr/>
          <p:nvPr/>
        </p:nvSpPr>
        <p:spPr>
          <a:xfrm>
            <a:off x="4251960" y="4709160"/>
            <a:ext cx="1143000" cy="91440"/>
          </a:xfrm>
          <a:prstGeom prst="rect">
            <a:avLst/>
          </a:prstGeom>
          <a:solidFill>
            <a:srgbClr val="9B2C2C"/>
          </a:solidFill>
          <a:ln/>
        </p:spPr>
      </p:sp>
      <p:sp>
        <p:nvSpPr>
          <p:cNvPr id="12" name="Text 10"/>
          <p:cNvSpPr/>
          <p:nvPr/>
        </p:nvSpPr>
        <p:spPr>
          <a:xfrm>
            <a:off x="4251960" y="4837176"/>
            <a:ext cx="1143000" cy="201168"/>
          </a:xfrm>
          <a:prstGeom prst="rect">
            <a:avLst/>
          </a:prstGeom>
          <a:noFill/>
          <a:ln/>
        </p:spPr>
        <p:txBody>
          <a:bodyPr wrap="square" lIns="0" tIns="0" rIns="0" bIns="0" rtlCol="0" anchor="ctr"/>
          <a:lstStyle/>
          <a:p>
            <a:pPr algn="ctr" indent="0" marL="0">
              <a:buNone/>
            </a:pPr>
            <a:r>
              <a:rPr lang="en-US" sz="850" b="1" spc="60" kern="0" dirty="0">
                <a:solidFill>
                  <a:srgbClr val="7FA99B"/>
                </a:solidFill>
                <a:latin typeface="Calibri" pitchFamily="34" charset="0"/>
                <a:ea typeface="Calibri" pitchFamily="34" charset="-122"/>
                <a:cs typeface="Calibri" pitchFamily="34" charset="-120"/>
              </a:rPr>
              <a:t>EMERGENCY</a:t>
            </a:r>
            <a:endParaRPr lang="en-US" sz="850" dirty="0"/>
          </a:p>
        </p:txBody>
      </p:sp>
      <p:sp>
        <p:nvSpPr>
          <p:cNvPr id="13" name="Text 11"/>
          <p:cNvSpPr/>
          <p:nvPr/>
        </p:nvSpPr>
        <p:spPr>
          <a:xfrm>
            <a:off x="822960" y="5623560"/>
            <a:ext cx="64008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CDR Brian S. Ford, MC, USN</a:t>
            </a:r>
            <a:endParaRPr lang="en-US" sz="1300" dirty="0"/>
          </a:p>
        </p:txBody>
      </p:sp>
      <p:sp>
        <p:nvSpPr>
          <p:cNvPr id="14" name="Text 12"/>
          <p:cNvSpPr/>
          <p:nvPr/>
        </p:nvSpPr>
        <p:spPr>
          <a:xfrm>
            <a:off x="822960" y="5897880"/>
            <a:ext cx="6400800" cy="274320"/>
          </a:xfrm>
          <a:prstGeom prst="rect">
            <a:avLst/>
          </a:prstGeom>
          <a:noFill/>
          <a:ln/>
        </p:spPr>
        <p:txBody>
          <a:bodyPr wrap="square" lIns="0" tIns="0" rIns="0" bIns="0" rtlCol="0" anchor="ctr"/>
          <a:lstStyle/>
          <a:p>
            <a:pPr indent="0" marL="0">
              <a:buNone/>
            </a:pPr>
            <a:r>
              <a:rPr lang="en-US" sz="1150" dirty="0">
                <a:solidFill>
                  <a:srgbClr val="C9D6DB"/>
                </a:solidFill>
                <a:latin typeface="Calibri" pitchFamily="34" charset="0"/>
                <a:ea typeface="Calibri" pitchFamily="34" charset="-122"/>
                <a:cs typeface="Calibri" pitchFamily="34" charset="-120"/>
              </a:rPr>
              <a:t>Chief Medical Officer, 1st Medical Battalion</a:t>
            </a:r>
            <a:endParaRPr lang="en-US" sz="1150" dirty="0"/>
          </a:p>
        </p:txBody>
      </p:sp>
      <p:sp>
        <p:nvSpPr>
          <p:cNvPr id="15" name="Text 13"/>
          <p:cNvSpPr/>
          <p:nvPr/>
        </p:nvSpPr>
        <p:spPr>
          <a:xfrm>
            <a:off x="8229600" y="5623560"/>
            <a:ext cx="3108960" cy="548640"/>
          </a:xfrm>
          <a:prstGeom prst="rect">
            <a:avLst/>
          </a:prstGeom>
          <a:noFill/>
          <a:ln/>
        </p:spPr>
        <p:txBody>
          <a:bodyPr wrap="square" lIns="0" tIns="0" rIns="0" bIns="0" rtlCol="0" anchor="ctr"/>
          <a:lstStyle/>
          <a:p>
            <a:pPr algn="r" indent="0" marL="0">
              <a:buNone/>
            </a:pPr>
            <a:r>
              <a:rPr lang="en-US" sz="1150" dirty="0">
                <a:solidFill>
                  <a:srgbClr val="7FA99B"/>
                </a:solidFill>
                <a:latin typeface="Calibri" pitchFamily="34" charset="0"/>
                <a:ea typeface="Calibri" pitchFamily="34" charset="-122"/>
                <a:cs typeface="Calibri" pitchFamily="34" charset="-120"/>
              </a:rPr>
              <a:t>HSOAG · October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C25E3A"/>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48640" y="640080"/>
            <a:ext cx="11064240" cy="749808"/>
          </a:xfrm>
          <a:prstGeom prst="rect">
            <a:avLst/>
          </a:prstGeom>
          <a:noFill/>
          <a:ln/>
        </p:spPr>
        <p:txBody>
          <a:bodyPr wrap="square" lIns="0" tIns="0" rIns="0" bIns="0" rtlCol="0" anchor="ctr"/>
          <a:lstStyle/>
          <a:p>
            <a:pPr indent="0" marL="0">
              <a:buNone/>
            </a:pPr>
            <a:r>
              <a:rPr lang="en-US" sz="3000" b="1" dirty="0">
                <a:solidFill>
                  <a:srgbClr val="12212B"/>
                </a:solidFill>
                <a:latin typeface="Cambria" pitchFamily="34" charset="0"/>
                <a:ea typeface="Cambria" pitchFamily="34" charset="-122"/>
                <a:cs typeface="Cambria" pitchFamily="34" charset="-120"/>
              </a:rPr>
              <a:t>Quality is asserted, not measured</a:t>
            </a:r>
            <a:endParaRPr lang="en-US" sz="3000" dirty="0"/>
          </a:p>
        </p:txBody>
      </p:sp>
      <p:sp>
        <p:nvSpPr>
          <p:cNvPr id="4" name="Shape 2"/>
          <p:cNvSpPr/>
          <p:nvPr/>
        </p:nvSpPr>
        <p:spPr>
          <a:xfrm>
            <a:off x="566928" y="1389888"/>
            <a:ext cx="342900" cy="64008"/>
          </a:xfrm>
          <a:prstGeom prst="rect">
            <a:avLst/>
          </a:prstGeom>
          <a:solidFill>
            <a:srgbClr val="2E7D5B"/>
          </a:solidFill>
          <a:ln/>
        </p:spPr>
      </p:sp>
      <p:sp>
        <p:nvSpPr>
          <p:cNvPr id="5" name="Shape 3"/>
          <p:cNvSpPr/>
          <p:nvPr/>
        </p:nvSpPr>
        <p:spPr>
          <a:xfrm>
            <a:off x="909828" y="1389888"/>
            <a:ext cx="342900" cy="64008"/>
          </a:xfrm>
          <a:prstGeom prst="rect">
            <a:avLst/>
          </a:prstGeom>
          <a:solidFill>
            <a:srgbClr val="B8912F"/>
          </a:solidFill>
          <a:ln/>
        </p:spPr>
      </p:sp>
      <p:sp>
        <p:nvSpPr>
          <p:cNvPr id="6" name="Shape 4"/>
          <p:cNvSpPr/>
          <p:nvPr/>
        </p:nvSpPr>
        <p:spPr>
          <a:xfrm>
            <a:off x="1252728" y="1389888"/>
            <a:ext cx="342900" cy="64008"/>
          </a:xfrm>
          <a:prstGeom prst="rect">
            <a:avLst/>
          </a:prstGeom>
          <a:solidFill>
            <a:srgbClr val="C25E3A"/>
          </a:solidFill>
          <a:ln/>
        </p:spPr>
      </p:sp>
      <p:sp>
        <p:nvSpPr>
          <p:cNvPr id="7" name="Shape 5"/>
          <p:cNvSpPr/>
          <p:nvPr/>
        </p:nvSpPr>
        <p:spPr>
          <a:xfrm>
            <a:off x="1595628" y="1389888"/>
            <a:ext cx="342900" cy="64008"/>
          </a:xfrm>
          <a:prstGeom prst="rect">
            <a:avLst/>
          </a:prstGeom>
          <a:solidFill>
            <a:srgbClr val="9B2C2C"/>
          </a:solidFill>
          <a:ln/>
        </p:spPr>
      </p:sp>
      <p:sp>
        <p:nvSpPr>
          <p:cNvPr id="8" name="Text 6"/>
          <p:cNvSpPr/>
          <p:nvPr/>
        </p:nvSpPr>
        <p:spPr>
          <a:xfrm>
            <a:off x="566928" y="1691640"/>
            <a:ext cx="6949440" cy="1463040"/>
          </a:xfrm>
          <a:prstGeom prst="rect">
            <a:avLst/>
          </a:prstGeom>
          <a:noFill/>
          <a:ln/>
        </p:spPr>
        <p:txBody>
          <a:bodyPr wrap="square" lIns="0" tIns="0" rIns="0" bIns="0" rtlCol="0" anchor="ctr"/>
          <a:lstStyle/>
          <a:p>
            <a:pPr indent="0" marL="0">
              <a:lnSpc>
                <a:spcPts val="2100"/>
              </a:lnSpc>
              <a:buNone/>
            </a:pPr>
            <a:r>
              <a:rPr lang="en-US" sz="1400" dirty="0">
                <a:solidFill>
                  <a:srgbClr val="5A6B72"/>
                </a:solidFill>
                <a:latin typeface="Calibri" pitchFamily="34" charset="0"/>
                <a:ea typeface="Calibri" pitchFamily="34" charset="-122"/>
                <a:cs typeface="Calibri" pitchFamily="34" charset="-120"/>
              </a:rPr>
              <a:t>Garrison medicine measures quality against a stable standard. Operational medicine has no stable standard — capability degrades with logistics, evacuation, and personnel. We currently have no shared definition of what good care is at each level of degradation, no way to test a configuration before it deploys, and no systematic way to find what was missed after.</a:t>
            </a:r>
            <a:endParaRPr lang="en-US" sz="1400" dirty="0"/>
          </a:p>
        </p:txBody>
      </p:sp>
      <p:sp>
        <p:nvSpPr>
          <p:cNvPr id="9" name="Shape 7"/>
          <p:cNvSpPr/>
          <p:nvPr/>
        </p:nvSpPr>
        <p:spPr>
          <a:xfrm>
            <a:off x="566928" y="3310128"/>
            <a:ext cx="3456432" cy="1874520"/>
          </a:xfrm>
          <a:prstGeom prst="roundRect">
            <a:avLst>
              <a:gd name="adj" fmla="val 2927"/>
            </a:avLst>
          </a:prstGeom>
          <a:solidFill>
            <a:srgbClr val="F2F5F4"/>
          </a:solidFill>
          <a:ln w="12700">
            <a:solidFill>
              <a:srgbClr val="F2F5F4"/>
            </a:solidFill>
            <a:prstDash val="solid"/>
          </a:ln>
        </p:spPr>
      </p:sp>
      <p:sp>
        <p:nvSpPr>
          <p:cNvPr id="10" name="Shape 8"/>
          <p:cNvSpPr/>
          <p:nvPr/>
        </p:nvSpPr>
        <p:spPr>
          <a:xfrm>
            <a:off x="804672" y="3547872"/>
            <a:ext cx="384048" cy="384048"/>
          </a:xfrm>
          <a:prstGeom prst="ellipse">
            <a:avLst/>
          </a:prstGeom>
          <a:solidFill>
            <a:srgbClr val="1C5D66"/>
          </a:solidFill>
          <a:ln/>
        </p:spPr>
      </p:sp>
      <p:sp>
        <p:nvSpPr>
          <p:cNvPr id="11" name="Text 9"/>
          <p:cNvSpPr/>
          <p:nvPr/>
        </p:nvSpPr>
        <p:spPr>
          <a:xfrm>
            <a:off x="804672" y="35478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2" name="Text 10"/>
          <p:cNvSpPr/>
          <p:nvPr/>
        </p:nvSpPr>
        <p:spPr>
          <a:xfrm>
            <a:off x="1316736" y="3566160"/>
            <a:ext cx="2450592" cy="365760"/>
          </a:xfrm>
          <a:prstGeom prst="rect">
            <a:avLst/>
          </a:prstGeom>
          <a:noFill/>
          <a:ln/>
        </p:spPr>
        <p:txBody>
          <a:bodyPr wrap="square" lIns="0" tIns="0" rIns="0" bIns="0" rtlCol="0" anchor="ctr"/>
          <a:lstStyle/>
          <a:p>
            <a:pPr indent="0" marL="0">
              <a:buNone/>
            </a:pPr>
            <a:r>
              <a:rPr lang="en-US" sz="1450" b="1" dirty="0">
                <a:solidFill>
                  <a:srgbClr val="12212B"/>
                </a:solidFill>
                <a:latin typeface="Cambria" pitchFamily="34" charset="0"/>
                <a:ea typeface="Cambria" pitchFamily="34" charset="-122"/>
                <a:cs typeface="Cambria" pitchFamily="34" charset="-120"/>
              </a:rPr>
              <a:t>No agreed standard</a:t>
            </a:r>
            <a:endParaRPr lang="en-US" sz="1450" dirty="0"/>
          </a:p>
        </p:txBody>
      </p:sp>
      <p:sp>
        <p:nvSpPr>
          <p:cNvPr id="13" name="Text 11"/>
          <p:cNvSpPr/>
          <p:nvPr/>
        </p:nvSpPr>
        <p:spPr>
          <a:xfrm>
            <a:off x="841248" y="4023360"/>
            <a:ext cx="2907792" cy="914400"/>
          </a:xfrm>
          <a:prstGeom prst="rect">
            <a:avLst/>
          </a:prstGeom>
          <a:noFill/>
          <a:ln/>
        </p:spPr>
        <p:txBody>
          <a:bodyPr wrap="square" lIns="0" tIns="0" rIns="0" bIns="0" rtlCol="0" anchor="t"/>
          <a:lstStyle/>
          <a:p>
            <a:pPr indent="0" marL="0">
              <a:buNone/>
            </a:pPr>
            <a:r>
              <a:rPr lang="en-US" sz="1150" dirty="0">
                <a:solidFill>
                  <a:srgbClr val="5A6B72"/>
                </a:solidFill>
                <a:latin typeface="Calibri" pitchFamily="34" charset="0"/>
                <a:ea typeface="Calibri" pitchFamily="34" charset="-122"/>
                <a:cs typeface="Calibri" pitchFamily="34" charset="-120"/>
              </a:rPr>
              <a:t>JTS CPGs tier recommendations, but nothing links those tiers to operational triggers. Providers improvise the transition.</a:t>
            </a:r>
            <a:endParaRPr lang="en-US" sz="1150" dirty="0"/>
          </a:p>
        </p:txBody>
      </p:sp>
      <p:sp>
        <p:nvSpPr>
          <p:cNvPr id="14" name="Shape 12"/>
          <p:cNvSpPr/>
          <p:nvPr/>
        </p:nvSpPr>
        <p:spPr>
          <a:xfrm>
            <a:off x="4251960" y="3310128"/>
            <a:ext cx="3456432" cy="1874520"/>
          </a:xfrm>
          <a:prstGeom prst="roundRect">
            <a:avLst>
              <a:gd name="adj" fmla="val 2927"/>
            </a:avLst>
          </a:prstGeom>
          <a:solidFill>
            <a:srgbClr val="F2F5F4"/>
          </a:solidFill>
          <a:ln w="12700">
            <a:solidFill>
              <a:srgbClr val="F2F5F4"/>
            </a:solidFill>
            <a:prstDash val="solid"/>
          </a:ln>
        </p:spPr>
      </p:sp>
      <p:sp>
        <p:nvSpPr>
          <p:cNvPr id="15" name="Shape 13"/>
          <p:cNvSpPr/>
          <p:nvPr/>
        </p:nvSpPr>
        <p:spPr>
          <a:xfrm>
            <a:off x="4489704" y="3547872"/>
            <a:ext cx="384048" cy="384048"/>
          </a:xfrm>
          <a:prstGeom prst="ellipse">
            <a:avLst/>
          </a:prstGeom>
          <a:solidFill>
            <a:srgbClr val="1C5D66"/>
          </a:solidFill>
          <a:ln/>
        </p:spPr>
      </p:sp>
      <p:sp>
        <p:nvSpPr>
          <p:cNvPr id="16" name="Text 14"/>
          <p:cNvSpPr/>
          <p:nvPr/>
        </p:nvSpPr>
        <p:spPr>
          <a:xfrm>
            <a:off x="4489704" y="35478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7" name="Text 15"/>
          <p:cNvSpPr/>
          <p:nvPr/>
        </p:nvSpPr>
        <p:spPr>
          <a:xfrm>
            <a:off x="5001768" y="3566160"/>
            <a:ext cx="2450592" cy="365760"/>
          </a:xfrm>
          <a:prstGeom prst="rect">
            <a:avLst/>
          </a:prstGeom>
          <a:noFill/>
          <a:ln/>
        </p:spPr>
        <p:txBody>
          <a:bodyPr wrap="square" lIns="0" tIns="0" rIns="0" bIns="0" rtlCol="0" anchor="ctr"/>
          <a:lstStyle/>
          <a:p>
            <a:pPr indent="0" marL="0">
              <a:buNone/>
            </a:pPr>
            <a:r>
              <a:rPr lang="en-US" sz="1450" b="1" dirty="0">
                <a:solidFill>
                  <a:srgbClr val="12212B"/>
                </a:solidFill>
                <a:latin typeface="Cambria" pitchFamily="34" charset="0"/>
                <a:ea typeface="Cambria" pitchFamily="34" charset="-122"/>
                <a:cs typeface="Cambria" pitchFamily="34" charset="-120"/>
              </a:rPr>
              <a:t>No prospective test</a:t>
            </a:r>
            <a:endParaRPr lang="en-US" sz="1450" dirty="0"/>
          </a:p>
        </p:txBody>
      </p:sp>
      <p:sp>
        <p:nvSpPr>
          <p:cNvPr id="18" name="Text 16"/>
          <p:cNvSpPr/>
          <p:nvPr/>
        </p:nvSpPr>
        <p:spPr>
          <a:xfrm>
            <a:off x="4526280" y="4023360"/>
            <a:ext cx="2907792" cy="914400"/>
          </a:xfrm>
          <a:prstGeom prst="rect">
            <a:avLst/>
          </a:prstGeom>
          <a:noFill/>
          <a:ln/>
        </p:spPr>
        <p:txBody>
          <a:bodyPr wrap="square" lIns="0" tIns="0" rIns="0" bIns="0" rtlCol="0" anchor="t"/>
          <a:lstStyle/>
          <a:p>
            <a:pPr indent="0" marL="0">
              <a:buNone/>
            </a:pPr>
            <a:r>
              <a:rPr lang="en-US" sz="1150" dirty="0">
                <a:solidFill>
                  <a:srgbClr val="5A6B72"/>
                </a:solidFill>
                <a:latin typeface="Calibri" pitchFamily="34" charset="0"/>
                <a:ea typeface="Calibri" pitchFamily="34" charset="-122"/>
                <a:cs typeface="Calibri" pitchFamily="34" charset="-120"/>
              </a:rPr>
              <a:t>Configuration decisions — team counts, billet substitutions, evacuation posture — are made SME-qualitatively, not quantitatively.</a:t>
            </a:r>
            <a:endParaRPr lang="en-US" sz="1150" dirty="0"/>
          </a:p>
        </p:txBody>
      </p:sp>
      <p:sp>
        <p:nvSpPr>
          <p:cNvPr id="19" name="Shape 17"/>
          <p:cNvSpPr/>
          <p:nvPr/>
        </p:nvSpPr>
        <p:spPr>
          <a:xfrm>
            <a:off x="7936992" y="3310128"/>
            <a:ext cx="3456432" cy="1874520"/>
          </a:xfrm>
          <a:prstGeom prst="roundRect">
            <a:avLst>
              <a:gd name="adj" fmla="val 2927"/>
            </a:avLst>
          </a:prstGeom>
          <a:solidFill>
            <a:srgbClr val="F2F5F4"/>
          </a:solidFill>
          <a:ln w="12700">
            <a:solidFill>
              <a:srgbClr val="F2F5F4"/>
            </a:solidFill>
            <a:prstDash val="solid"/>
          </a:ln>
        </p:spPr>
      </p:sp>
      <p:sp>
        <p:nvSpPr>
          <p:cNvPr id="20" name="Shape 18"/>
          <p:cNvSpPr/>
          <p:nvPr/>
        </p:nvSpPr>
        <p:spPr>
          <a:xfrm>
            <a:off x="8174736" y="3547872"/>
            <a:ext cx="384048" cy="384048"/>
          </a:xfrm>
          <a:prstGeom prst="ellipse">
            <a:avLst/>
          </a:prstGeom>
          <a:solidFill>
            <a:srgbClr val="1C5D66"/>
          </a:solidFill>
          <a:ln/>
        </p:spPr>
      </p:sp>
      <p:sp>
        <p:nvSpPr>
          <p:cNvPr id="21" name="Text 19"/>
          <p:cNvSpPr/>
          <p:nvPr/>
        </p:nvSpPr>
        <p:spPr>
          <a:xfrm>
            <a:off x="8174736" y="35478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2" name="Text 20"/>
          <p:cNvSpPr/>
          <p:nvPr/>
        </p:nvSpPr>
        <p:spPr>
          <a:xfrm>
            <a:off x="8686800" y="3566160"/>
            <a:ext cx="2450592" cy="365760"/>
          </a:xfrm>
          <a:prstGeom prst="rect">
            <a:avLst/>
          </a:prstGeom>
          <a:noFill/>
          <a:ln/>
        </p:spPr>
        <p:txBody>
          <a:bodyPr wrap="square" lIns="0" tIns="0" rIns="0" bIns="0" rtlCol="0" anchor="ctr"/>
          <a:lstStyle/>
          <a:p>
            <a:pPr indent="0" marL="0">
              <a:buNone/>
            </a:pPr>
            <a:r>
              <a:rPr lang="en-US" sz="1450" b="1" dirty="0">
                <a:solidFill>
                  <a:srgbClr val="12212B"/>
                </a:solidFill>
                <a:latin typeface="Cambria" pitchFamily="34" charset="0"/>
                <a:ea typeface="Cambria" pitchFamily="34" charset="-122"/>
                <a:cs typeface="Cambria" pitchFamily="34" charset="-120"/>
              </a:rPr>
              <a:t>No retrospective detection</a:t>
            </a:r>
            <a:endParaRPr lang="en-US" sz="1450" dirty="0"/>
          </a:p>
        </p:txBody>
      </p:sp>
      <p:sp>
        <p:nvSpPr>
          <p:cNvPr id="23" name="Text 21"/>
          <p:cNvSpPr/>
          <p:nvPr/>
        </p:nvSpPr>
        <p:spPr>
          <a:xfrm>
            <a:off x="8211312" y="4023360"/>
            <a:ext cx="2907792" cy="914400"/>
          </a:xfrm>
          <a:prstGeom prst="rect">
            <a:avLst/>
          </a:prstGeom>
          <a:noFill/>
          <a:ln/>
        </p:spPr>
        <p:txBody>
          <a:bodyPr wrap="square" lIns="0" tIns="0" rIns="0" bIns="0" rtlCol="0" anchor="t"/>
          <a:lstStyle/>
          <a:p>
            <a:pPr indent="0" marL="0">
              <a:buNone/>
            </a:pPr>
            <a:r>
              <a:rPr lang="en-US" sz="1150" dirty="0">
                <a:solidFill>
                  <a:srgbClr val="5A6B72"/>
                </a:solidFill>
                <a:latin typeface="Calibri" pitchFamily="34" charset="0"/>
                <a:ea typeface="Calibri" pitchFamily="34" charset="-122"/>
                <a:cs typeface="Calibri" pitchFamily="34" charset="-120"/>
              </a:rPr>
              <a:t>Peer review samples records at random. In a young, healthy population that finds almost nothing.</a:t>
            </a:r>
            <a:endParaRPr lang="en-US" sz="1150" dirty="0"/>
          </a:p>
        </p:txBody>
      </p:sp>
      <p:sp>
        <p:nvSpPr>
          <p:cNvPr id="24" name="Text 22"/>
          <p:cNvSpPr/>
          <p:nvPr/>
        </p:nvSpPr>
        <p:spPr>
          <a:xfrm>
            <a:off x="7936992" y="1737360"/>
            <a:ext cx="3511296" cy="256032"/>
          </a:xfrm>
          <a:prstGeom prst="rect">
            <a:avLst/>
          </a:prstGeom>
          <a:noFill/>
          <a:ln/>
        </p:spPr>
        <p:txBody>
          <a:bodyPr wrap="square" lIns="0" tIns="0" rIns="0" bIns="0" rtlCol="0" anchor="ctr"/>
          <a:lstStyle/>
          <a:p>
            <a:pPr indent="0" marL="0">
              <a:buNone/>
            </a:pPr>
            <a:r>
              <a:rPr lang="en-US" sz="1000" b="1" spc="140" kern="0" dirty="0">
                <a:solidFill>
                  <a:srgbClr val="C25E3A"/>
                </a:solidFill>
                <a:latin typeface="Calibri" pitchFamily="34" charset="0"/>
                <a:ea typeface="Calibri" pitchFamily="34" charset="-122"/>
                <a:cs typeface="Calibri" pitchFamily="34" charset="-120"/>
              </a:rPr>
              <a:t>MEASUREMENT GAP</a:t>
            </a:r>
            <a:endParaRPr lang="en-US" sz="1000" dirty="0"/>
          </a:p>
        </p:txBody>
      </p:sp>
      <p:sp>
        <p:nvSpPr>
          <p:cNvPr id="25" name="Text 23"/>
          <p:cNvSpPr/>
          <p:nvPr/>
        </p:nvSpPr>
        <p:spPr>
          <a:xfrm>
            <a:off x="7936992" y="2057400"/>
            <a:ext cx="3511296" cy="868680"/>
          </a:xfrm>
          <a:prstGeom prst="rect">
            <a:avLst/>
          </a:prstGeom>
          <a:noFill/>
          <a:ln/>
        </p:spPr>
        <p:txBody>
          <a:bodyPr wrap="square" lIns="0" tIns="0" rIns="0" bIns="0" rtlCol="0" anchor="ctr"/>
          <a:lstStyle/>
          <a:p>
            <a:pPr indent="0" marL="0">
              <a:lnSpc>
                <a:spcPts val="2200"/>
              </a:lnSpc>
              <a:buNone/>
            </a:pPr>
            <a:r>
              <a:rPr lang="en-US" sz="1600" b="1" dirty="0">
                <a:solidFill>
                  <a:srgbClr val="12212B"/>
                </a:solidFill>
                <a:latin typeface="Cambria" pitchFamily="34" charset="0"/>
                <a:ea typeface="Cambria" pitchFamily="34" charset="-122"/>
                <a:cs typeface="Cambria" pitchFamily="34" charset="-120"/>
              </a:rPr>
              <a:t>Every quality mechanism we own assumes the standard of care is fixed.</a:t>
            </a:r>
            <a:endParaRPr lang="en-US" sz="1600" dirty="0"/>
          </a:p>
        </p:txBody>
      </p:sp>
      <p:sp>
        <p:nvSpPr>
          <p:cNvPr id="26" name="Text 24"/>
          <p:cNvSpPr/>
          <p:nvPr/>
        </p:nvSpPr>
        <p:spPr>
          <a:xfrm>
            <a:off x="7936992" y="3218688"/>
            <a:ext cx="3511296" cy="310896"/>
          </a:xfrm>
          <a:prstGeom prst="rect">
            <a:avLst/>
          </a:prstGeom>
          <a:noFill/>
          <a:ln/>
        </p:spPr>
        <p:txBody>
          <a:bodyPr wrap="square" lIns="0" tIns="0" rIns="0" bIns="0" rtlCol="0" anchor="ctr"/>
          <a:lstStyle/>
          <a:p>
            <a:pPr indent="0" marL="0">
              <a:buNone/>
            </a:pPr>
            <a:r>
              <a:rPr lang="en-US" sz="1600" b="1" dirty="0">
                <a:solidFill>
                  <a:srgbClr val="C25E3A"/>
                </a:solidFill>
                <a:latin typeface="Cambria" pitchFamily="34" charset="0"/>
                <a:ea typeface="Cambria" pitchFamily="34" charset="-122"/>
                <a:cs typeface="Cambria" pitchFamily="34" charset="-120"/>
              </a:rPr>
              <a:t>In LSCO it is not.</a:t>
            </a:r>
            <a:endParaRPr lang="en-US" sz="1600" dirty="0"/>
          </a:p>
        </p:txBody>
      </p:sp>
      <p:sp>
        <p:nvSpPr>
          <p:cNvPr id="27" name="Text 25"/>
          <p:cNvSpPr/>
          <p:nvPr/>
        </p:nvSpPr>
        <p:spPr>
          <a:xfrm>
            <a:off x="566928" y="6382512"/>
            <a:ext cx="10515600" cy="219456"/>
          </a:xfrm>
          <a:prstGeom prst="rect">
            <a:avLst/>
          </a:prstGeom>
          <a:noFill/>
          <a:ln/>
        </p:spPr>
        <p:txBody>
          <a:bodyPr wrap="square" lIns="0" tIns="0" rIns="0" bIns="0" rtlCol="0" anchor="ctr"/>
          <a:lstStyle/>
          <a:p>
            <a:pPr indent="0" marL="0">
              <a:buNone/>
            </a:pPr>
            <a:r>
              <a:rPr lang="en-US" sz="900" i="1" dirty="0">
                <a:solidFill>
                  <a:srgbClr val="C9D6DB"/>
                </a:solidFill>
                <a:latin typeface="Calibri" pitchFamily="34" charset="0"/>
                <a:ea typeface="Calibri" pitchFamily="34" charset="-122"/>
                <a:cs typeface="Calibri" pitchFamily="34" charset="-120"/>
              </a:rPr>
              <a:t>Source: CSC PACE one-pager (09 May 2026); Measure Dx analysis, docs/01-why-random-review-fails.md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C25E3A"/>
                </a:solidFill>
                <a:latin typeface="Calibri" pitchFamily="34" charset="0"/>
                <a:ea typeface="Calibri" pitchFamily="34" charset="-122"/>
                <a:cs typeface="Calibri" pitchFamily="34" charset="-120"/>
              </a:rPr>
              <a:t>HOW IT FITS TOGETHER</a:t>
            </a:r>
            <a:endParaRPr lang="en-US" sz="1100" dirty="0"/>
          </a:p>
        </p:txBody>
      </p:sp>
      <p:sp>
        <p:nvSpPr>
          <p:cNvPr id="3" name="Text 1"/>
          <p:cNvSpPr/>
          <p:nvPr/>
        </p:nvSpPr>
        <p:spPr>
          <a:xfrm>
            <a:off x="548640" y="640080"/>
            <a:ext cx="11064240" cy="749808"/>
          </a:xfrm>
          <a:prstGeom prst="rect">
            <a:avLst/>
          </a:prstGeom>
          <a:noFill/>
          <a:ln/>
        </p:spPr>
        <p:txBody>
          <a:bodyPr wrap="square" lIns="0" tIns="0" rIns="0" bIns="0" rtlCol="0" anchor="ctr"/>
          <a:lstStyle/>
          <a:p>
            <a:pPr indent="0" marL="0">
              <a:buNone/>
            </a:pPr>
            <a:r>
              <a:rPr lang="en-US" sz="3000" b="1" dirty="0">
                <a:solidFill>
                  <a:srgbClr val="12212B"/>
                </a:solidFill>
                <a:latin typeface="Cambria" pitchFamily="34" charset="0"/>
                <a:ea typeface="Cambria" pitchFamily="34" charset="-122"/>
                <a:cs typeface="Cambria" pitchFamily="34" charset="-120"/>
              </a:rPr>
              <a:t>Four efforts, one architecture</a:t>
            </a:r>
            <a:endParaRPr lang="en-US" sz="3000" dirty="0"/>
          </a:p>
        </p:txBody>
      </p:sp>
      <p:sp>
        <p:nvSpPr>
          <p:cNvPr id="4" name="Shape 2"/>
          <p:cNvSpPr/>
          <p:nvPr/>
        </p:nvSpPr>
        <p:spPr>
          <a:xfrm>
            <a:off x="566928" y="1389888"/>
            <a:ext cx="342900" cy="64008"/>
          </a:xfrm>
          <a:prstGeom prst="rect">
            <a:avLst/>
          </a:prstGeom>
          <a:solidFill>
            <a:srgbClr val="2E7D5B"/>
          </a:solidFill>
          <a:ln/>
        </p:spPr>
      </p:sp>
      <p:sp>
        <p:nvSpPr>
          <p:cNvPr id="5" name="Shape 3"/>
          <p:cNvSpPr/>
          <p:nvPr/>
        </p:nvSpPr>
        <p:spPr>
          <a:xfrm>
            <a:off x="909828" y="1389888"/>
            <a:ext cx="342900" cy="64008"/>
          </a:xfrm>
          <a:prstGeom prst="rect">
            <a:avLst/>
          </a:prstGeom>
          <a:solidFill>
            <a:srgbClr val="B8912F"/>
          </a:solidFill>
          <a:ln/>
        </p:spPr>
      </p:sp>
      <p:sp>
        <p:nvSpPr>
          <p:cNvPr id="6" name="Shape 4"/>
          <p:cNvSpPr/>
          <p:nvPr/>
        </p:nvSpPr>
        <p:spPr>
          <a:xfrm>
            <a:off x="1252728" y="1389888"/>
            <a:ext cx="342900" cy="64008"/>
          </a:xfrm>
          <a:prstGeom prst="rect">
            <a:avLst/>
          </a:prstGeom>
          <a:solidFill>
            <a:srgbClr val="C25E3A"/>
          </a:solidFill>
          <a:ln/>
        </p:spPr>
      </p:sp>
      <p:sp>
        <p:nvSpPr>
          <p:cNvPr id="7" name="Shape 5"/>
          <p:cNvSpPr/>
          <p:nvPr/>
        </p:nvSpPr>
        <p:spPr>
          <a:xfrm>
            <a:off x="1595628" y="1389888"/>
            <a:ext cx="342900" cy="64008"/>
          </a:xfrm>
          <a:prstGeom prst="rect">
            <a:avLst/>
          </a:prstGeom>
          <a:solidFill>
            <a:srgbClr val="9B2C2C"/>
          </a:solidFill>
          <a:ln/>
        </p:spPr>
      </p:sp>
      <p:sp>
        <p:nvSpPr>
          <p:cNvPr id="8" name="Text 6"/>
          <p:cNvSpPr/>
          <p:nvPr/>
        </p:nvSpPr>
        <p:spPr>
          <a:xfrm>
            <a:off x="566928" y="1664208"/>
            <a:ext cx="10881360" cy="457200"/>
          </a:xfrm>
          <a:prstGeom prst="rect">
            <a:avLst/>
          </a:prstGeom>
          <a:noFill/>
          <a:ln/>
        </p:spPr>
        <p:txBody>
          <a:bodyPr wrap="square" lIns="0" tIns="0" rIns="0" bIns="0" rtlCol="0" anchor="ctr"/>
          <a:lstStyle/>
          <a:p>
            <a:pPr indent="0" marL="0">
              <a:buNone/>
            </a:pPr>
            <a:r>
              <a:rPr lang="en-US" sz="1350" dirty="0">
                <a:solidFill>
                  <a:srgbClr val="5A6B72"/>
                </a:solidFill>
                <a:latin typeface="Calibri" pitchFamily="34" charset="0"/>
                <a:ea typeface="Calibri" pitchFamily="34" charset="-122"/>
                <a:cs typeface="Calibri" pitchFamily="34" charset="-120"/>
              </a:rPr>
              <a:t>Each effort answers a different question about the same problem. They share one currency — the PACE tier — and one measuring stick — the JTS CPGs.</a:t>
            </a:r>
            <a:endParaRPr lang="en-US" sz="1350" dirty="0"/>
          </a:p>
        </p:txBody>
      </p:sp>
      <p:sp>
        <p:nvSpPr>
          <p:cNvPr id="9" name="Shape 7"/>
          <p:cNvSpPr/>
          <p:nvPr/>
        </p:nvSpPr>
        <p:spPr>
          <a:xfrm>
            <a:off x="566928" y="2331720"/>
            <a:ext cx="2487168" cy="2514600"/>
          </a:xfrm>
          <a:prstGeom prst="roundRect">
            <a:avLst>
              <a:gd name="adj" fmla="val 2206"/>
            </a:avLst>
          </a:prstGeom>
          <a:solidFill>
            <a:srgbClr val="F2F5F4"/>
          </a:solidFill>
          <a:ln w="12700">
            <a:solidFill>
              <a:srgbClr val="F2F5F4"/>
            </a:solidFill>
            <a:prstDash val="solid"/>
          </a:ln>
        </p:spPr>
      </p:sp>
      <p:sp>
        <p:nvSpPr>
          <p:cNvPr id="10" name="Shape 8"/>
          <p:cNvSpPr/>
          <p:nvPr/>
        </p:nvSpPr>
        <p:spPr>
          <a:xfrm>
            <a:off x="822960" y="2606040"/>
            <a:ext cx="457200" cy="73152"/>
          </a:xfrm>
          <a:prstGeom prst="rect">
            <a:avLst/>
          </a:prstGeom>
          <a:solidFill>
            <a:srgbClr val="7FA99B"/>
          </a:solidFill>
          <a:ln/>
        </p:spPr>
      </p:sp>
      <p:sp>
        <p:nvSpPr>
          <p:cNvPr id="11" name="Text 9"/>
          <p:cNvSpPr/>
          <p:nvPr/>
        </p:nvSpPr>
        <p:spPr>
          <a:xfrm>
            <a:off x="822960" y="2761488"/>
            <a:ext cx="1975104" cy="201168"/>
          </a:xfrm>
          <a:prstGeom prst="rect">
            <a:avLst/>
          </a:prstGeom>
          <a:noFill/>
          <a:ln/>
        </p:spPr>
        <p:txBody>
          <a:bodyPr wrap="square" lIns="0" tIns="0" rIns="0" bIns="0" rtlCol="0" anchor="ctr"/>
          <a:lstStyle/>
          <a:p>
            <a:pPr indent="0" marL="0">
              <a:buNone/>
            </a:pPr>
            <a:r>
              <a:rPr lang="en-US" sz="850" b="1" spc="120" kern="0" dirty="0">
                <a:solidFill>
                  <a:srgbClr val="5A6B72"/>
                </a:solidFill>
                <a:latin typeface="Calibri" pitchFamily="34" charset="0"/>
                <a:ea typeface="Calibri" pitchFamily="34" charset="-122"/>
                <a:cs typeface="Calibri" pitchFamily="34" charset="-120"/>
              </a:rPr>
              <a:t>LOE 1</a:t>
            </a:r>
            <a:endParaRPr lang="en-US" sz="850" dirty="0"/>
          </a:p>
        </p:txBody>
      </p:sp>
      <p:sp>
        <p:nvSpPr>
          <p:cNvPr id="12" name="Text 10"/>
          <p:cNvSpPr/>
          <p:nvPr/>
        </p:nvSpPr>
        <p:spPr>
          <a:xfrm>
            <a:off x="822960" y="2980944"/>
            <a:ext cx="1975104" cy="411480"/>
          </a:xfrm>
          <a:prstGeom prst="rect">
            <a:avLst/>
          </a:prstGeom>
          <a:noFill/>
          <a:ln/>
        </p:spPr>
        <p:txBody>
          <a:bodyPr wrap="square" lIns="0" tIns="0" rIns="0" bIns="0" rtlCol="0" anchor="ctr"/>
          <a:lstStyle/>
          <a:p>
            <a:pPr indent="0" marL="0">
              <a:buNone/>
            </a:pPr>
            <a:r>
              <a:rPr lang="en-US" sz="1900" b="1" dirty="0">
                <a:solidFill>
                  <a:srgbClr val="12212B"/>
                </a:solidFill>
                <a:latin typeface="Cambria" pitchFamily="34" charset="0"/>
                <a:ea typeface="Cambria" pitchFamily="34" charset="-122"/>
                <a:cs typeface="Cambria" pitchFamily="34" charset="-120"/>
              </a:rPr>
              <a:t>EWP</a:t>
            </a:r>
            <a:endParaRPr lang="en-US" sz="1900" dirty="0"/>
          </a:p>
        </p:txBody>
      </p:sp>
      <p:sp>
        <p:nvSpPr>
          <p:cNvPr id="13" name="Text 11"/>
          <p:cNvSpPr/>
          <p:nvPr/>
        </p:nvSpPr>
        <p:spPr>
          <a:xfrm>
            <a:off x="822960" y="3456432"/>
            <a:ext cx="1975104" cy="548640"/>
          </a:xfrm>
          <a:prstGeom prst="rect">
            <a:avLst/>
          </a:prstGeom>
          <a:noFill/>
          <a:ln/>
        </p:spPr>
        <p:txBody>
          <a:bodyPr wrap="square" lIns="0" tIns="0" rIns="0" bIns="0" rtlCol="0" anchor="ctr"/>
          <a:lstStyle/>
          <a:p>
            <a:pPr indent="0" marL="0">
              <a:buNone/>
            </a:pPr>
            <a:r>
              <a:rPr lang="en-US" sz="1300" b="1" i="1" dirty="0">
                <a:solidFill>
                  <a:srgbClr val="7FA99B"/>
                </a:solidFill>
                <a:latin typeface="Calibri" pitchFamily="34" charset="0"/>
                <a:ea typeface="Calibri" pitchFamily="34" charset="-122"/>
                <a:cs typeface="Calibri" pitchFamily="34" charset="-120"/>
              </a:rPr>
              <a:t>What is coming?</a:t>
            </a:r>
            <a:endParaRPr lang="en-US" sz="1300" dirty="0"/>
          </a:p>
        </p:txBody>
      </p:sp>
      <p:sp>
        <p:nvSpPr>
          <p:cNvPr id="14" name="Text 12"/>
          <p:cNvSpPr/>
          <p:nvPr/>
        </p:nvSpPr>
        <p:spPr>
          <a:xfrm>
            <a:off x="822960" y="4160520"/>
            <a:ext cx="1975104" cy="457200"/>
          </a:xfrm>
          <a:prstGeom prst="rect">
            <a:avLst/>
          </a:prstGeom>
          <a:noFill/>
          <a:ln/>
        </p:spPr>
        <p:txBody>
          <a:bodyPr wrap="square" lIns="0" tIns="0" rIns="0" bIns="0" rtlCol="0" anchor="ctr"/>
          <a:lstStyle/>
          <a:p>
            <a:pPr indent="0" marL="0">
              <a:buNone/>
            </a:pPr>
            <a:r>
              <a:rPr lang="en-US" sz="1200" dirty="0">
                <a:solidFill>
                  <a:srgbClr val="5A6B72"/>
                </a:solidFill>
                <a:latin typeface="Calibri" pitchFamily="34" charset="0"/>
                <a:ea typeface="Calibri" pitchFamily="34" charset="-122"/>
                <a:cs typeface="Calibri" pitchFamily="34" charset="-120"/>
              </a:rPr>
              <a:t>Anticipate</a:t>
            </a:r>
            <a:endParaRPr lang="en-US" sz="1200" dirty="0"/>
          </a:p>
        </p:txBody>
      </p:sp>
      <p:sp>
        <p:nvSpPr>
          <p:cNvPr id="15" name="Text 13"/>
          <p:cNvSpPr/>
          <p:nvPr/>
        </p:nvSpPr>
        <p:spPr>
          <a:xfrm>
            <a:off x="3072384" y="3291840"/>
            <a:ext cx="347472" cy="365760"/>
          </a:xfrm>
          <a:prstGeom prst="rect">
            <a:avLst/>
          </a:prstGeom>
          <a:noFill/>
          <a:ln/>
        </p:spPr>
        <p:txBody>
          <a:bodyPr wrap="square" lIns="0" tIns="0" rIns="0" bIns="0" rtlCol="0" anchor="ctr"/>
          <a:lstStyle/>
          <a:p>
            <a:pPr algn="ctr" indent="0" marL="0">
              <a:buNone/>
            </a:pPr>
            <a:r>
              <a:rPr lang="en-US" sz="1700" dirty="0">
                <a:solidFill>
                  <a:srgbClr val="C9D6DB"/>
                </a:solidFill>
              </a:rPr>
              <a:t>→</a:t>
            </a:r>
            <a:endParaRPr lang="en-US" sz="1700" dirty="0"/>
          </a:p>
        </p:txBody>
      </p:sp>
      <p:sp>
        <p:nvSpPr>
          <p:cNvPr id="16" name="Shape 14"/>
          <p:cNvSpPr/>
          <p:nvPr/>
        </p:nvSpPr>
        <p:spPr>
          <a:xfrm>
            <a:off x="3438144" y="2331720"/>
            <a:ext cx="2487168" cy="2514600"/>
          </a:xfrm>
          <a:prstGeom prst="roundRect">
            <a:avLst>
              <a:gd name="adj" fmla="val 2206"/>
            </a:avLst>
          </a:prstGeom>
          <a:solidFill>
            <a:srgbClr val="F2F5F4"/>
          </a:solidFill>
          <a:ln w="12700">
            <a:solidFill>
              <a:srgbClr val="F2F5F4"/>
            </a:solidFill>
            <a:prstDash val="solid"/>
          </a:ln>
        </p:spPr>
      </p:sp>
      <p:sp>
        <p:nvSpPr>
          <p:cNvPr id="17" name="Shape 15"/>
          <p:cNvSpPr/>
          <p:nvPr/>
        </p:nvSpPr>
        <p:spPr>
          <a:xfrm>
            <a:off x="3694176" y="2606040"/>
            <a:ext cx="457200" cy="73152"/>
          </a:xfrm>
          <a:prstGeom prst="rect">
            <a:avLst/>
          </a:prstGeom>
          <a:solidFill>
            <a:srgbClr val="1C5D66"/>
          </a:solidFill>
          <a:ln/>
        </p:spPr>
      </p:sp>
      <p:sp>
        <p:nvSpPr>
          <p:cNvPr id="18" name="Text 16"/>
          <p:cNvSpPr/>
          <p:nvPr/>
        </p:nvSpPr>
        <p:spPr>
          <a:xfrm>
            <a:off x="3694176" y="2761488"/>
            <a:ext cx="1975104" cy="201168"/>
          </a:xfrm>
          <a:prstGeom prst="rect">
            <a:avLst/>
          </a:prstGeom>
          <a:noFill/>
          <a:ln/>
        </p:spPr>
        <p:txBody>
          <a:bodyPr wrap="square" lIns="0" tIns="0" rIns="0" bIns="0" rtlCol="0" anchor="ctr"/>
          <a:lstStyle/>
          <a:p>
            <a:pPr indent="0" marL="0">
              <a:buNone/>
            </a:pPr>
            <a:r>
              <a:rPr lang="en-US" sz="850" b="1" spc="120" kern="0" dirty="0">
                <a:solidFill>
                  <a:srgbClr val="5A6B72"/>
                </a:solidFill>
                <a:latin typeface="Calibri" pitchFamily="34" charset="0"/>
                <a:ea typeface="Calibri" pitchFamily="34" charset="-122"/>
                <a:cs typeface="Calibri" pitchFamily="34" charset="-120"/>
              </a:rPr>
              <a:t>LOE 2</a:t>
            </a:r>
            <a:endParaRPr lang="en-US" sz="850" dirty="0"/>
          </a:p>
        </p:txBody>
      </p:sp>
      <p:sp>
        <p:nvSpPr>
          <p:cNvPr id="19" name="Text 17"/>
          <p:cNvSpPr/>
          <p:nvPr/>
        </p:nvSpPr>
        <p:spPr>
          <a:xfrm>
            <a:off x="3694176" y="2980944"/>
            <a:ext cx="1975104" cy="411480"/>
          </a:xfrm>
          <a:prstGeom prst="rect">
            <a:avLst/>
          </a:prstGeom>
          <a:noFill/>
          <a:ln/>
        </p:spPr>
        <p:txBody>
          <a:bodyPr wrap="square" lIns="0" tIns="0" rIns="0" bIns="0" rtlCol="0" anchor="ctr"/>
          <a:lstStyle/>
          <a:p>
            <a:pPr indent="0" marL="0">
              <a:buNone/>
            </a:pPr>
            <a:r>
              <a:rPr lang="en-US" sz="1900" b="1" dirty="0">
                <a:solidFill>
                  <a:srgbClr val="12212B"/>
                </a:solidFill>
                <a:latin typeface="Cambria" pitchFamily="34" charset="0"/>
                <a:ea typeface="Cambria" pitchFamily="34" charset="-122"/>
                <a:cs typeface="Cambria" pitchFamily="34" charset="-120"/>
              </a:rPr>
              <a:t>CSC / PACE</a:t>
            </a:r>
            <a:endParaRPr lang="en-US" sz="1900" dirty="0"/>
          </a:p>
        </p:txBody>
      </p:sp>
      <p:sp>
        <p:nvSpPr>
          <p:cNvPr id="20" name="Text 18"/>
          <p:cNvSpPr/>
          <p:nvPr/>
        </p:nvSpPr>
        <p:spPr>
          <a:xfrm>
            <a:off x="3694176" y="3456432"/>
            <a:ext cx="1975104" cy="548640"/>
          </a:xfrm>
          <a:prstGeom prst="rect">
            <a:avLst/>
          </a:prstGeom>
          <a:noFill/>
          <a:ln/>
        </p:spPr>
        <p:txBody>
          <a:bodyPr wrap="square" lIns="0" tIns="0" rIns="0" bIns="0" rtlCol="0" anchor="ctr"/>
          <a:lstStyle/>
          <a:p>
            <a:pPr indent="0" marL="0">
              <a:buNone/>
            </a:pPr>
            <a:r>
              <a:rPr lang="en-US" sz="1300" b="1" i="1" dirty="0">
                <a:solidFill>
                  <a:srgbClr val="1C5D66"/>
                </a:solidFill>
                <a:latin typeface="Calibri" pitchFamily="34" charset="0"/>
                <a:ea typeface="Calibri" pitchFamily="34" charset="-122"/>
                <a:cs typeface="Calibri" pitchFamily="34" charset="-120"/>
              </a:rPr>
              <a:t>What is good, right now?</a:t>
            </a:r>
            <a:endParaRPr lang="en-US" sz="1300" dirty="0"/>
          </a:p>
        </p:txBody>
      </p:sp>
      <p:sp>
        <p:nvSpPr>
          <p:cNvPr id="21" name="Text 19"/>
          <p:cNvSpPr/>
          <p:nvPr/>
        </p:nvSpPr>
        <p:spPr>
          <a:xfrm>
            <a:off x="3694176" y="4160520"/>
            <a:ext cx="1975104" cy="457200"/>
          </a:xfrm>
          <a:prstGeom prst="rect">
            <a:avLst/>
          </a:prstGeom>
          <a:noFill/>
          <a:ln/>
        </p:spPr>
        <p:txBody>
          <a:bodyPr wrap="square" lIns="0" tIns="0" rIns="0" bIns="0" rtlCol="0" anchor="ctr"/>
          <a:lstStyle/>
          <a:p>
            <a:pPr indent="0" marL="0">
              <a:buNone/>
            </a:pPr>
            <a:r>
              <a:rPr lang="en-US" sz="1200" dirty="0">
                <a:solidFill>
                  <a:srgbClr val="5A6B72"/>
                </a:solidFill>
                <a:latin typeface="Calibri" pitchFamily="34" charset="0"/>
                <a:ea typeface="Calibri" pitchFamily="34" charset="-122"/>
                <a:cs typeface="Calibri" pitchFamily="34" charset="-120"/>
              </a:rPr>
              <a:t>Define the standard</a:t>
            </a:r>
            <a:endParaRPr lang="en-US" sz="1200" dirty="0"/>
          </a:p>
        </p:txBody>
      </p:sp>
      <p:sp>
        <p:nvSpPr>
          <p:cNvPr id="22" name="Text 20"/>
          <p:cNvSpPr/>
          <p:nvPr/>
        </p:nvSpPr>
        <p:spPr>
          <a:xfrm>
            <a:off x="5943600" y="3291840"/>
            <a:ext cx="347472" cy="365760"/>
          </a:xfrm>
          <a:prstGeom prst="rect">
            <a:avLst/>
          </a:prstGeom>
          <a:noFill/>
          <a:ln/>
        </p:spPr>
        <p:txBody>
          <a:bodyPr wrap="square" lIns="0" tIns="0" rIns="0" bIns="0" rtlCol="0" anchor="ctr"/>
          <a:lstStyle/>
          <a:p>
            <a:pPr algn="ctr" indent="0" marL="0">
              <a:buNone/>
            </a:pPr>
            <a:r>
              <a:rPr lang="en-US" sz="1700" dirty="0">
                <a:solidFill>
                  <a:srgbClr val="C9D6DB"/>
                </a:solidFill>
              </a:rPr>
              <a:t>→</a:t>
            </a:r>
            <a:endParaRPr lang="en-US" sz="1700" dirty="0"/>
          </a:p>
        </p:txBody>
      </p:sp>
      <p:sp>
        <p:nvSpPr>
          <p:cNvPr id="23" name="Shape 21"/>
          <p:cNvSpPr/>
          <p:nvPr/>
        </p:nvSpPr>
        <p:spPr>
          <a:xfrm>
            <a:off x="6309360" y="2331720"/>
            <a:ext cx="2487168" cy="2514600"/>
          </a:xfrm>
          <a:prstGeom prst="roundRect">
            <a:avLst>
              <a:gd name="adj" fmla="val 2206"/>
            </a:avLst>
          </a:prstGeom>
          <a:solidFill>
            <a:srgbClr val="F2F5F4"/>
          </a:solidFill>
          <a:ln w="12700">
            <a:solidFill>
              <a:srgbClr val="F2F5F4"/>
            </a:solidFill>
            <a:prstDash val="solid"/>
          </a:ln>
        </p:spPr>
      </p:sp>
      <p:sp>
        <p:nvSpPr>
          <p:cNvPr id="24" name="Shape 22"/>
          <p:cNvSpPr/>
          <p:nvPr/>
        </p:nvSpPr>
        <p:spPr>
          <a:xfrm>
            <a:off x="6565392" y="2606040"/>
            <a:ext cx="457200" cy="73152"/>
          </a:xfrm>
          <a:prstGeom prst="rect">
            <a:avLst/>
          </a:prstGeom>
          <a:solidFill>
            <a:srgbClr val="C25E3A"/>
          </a:solidFill>
          <a:ln/>
        </p:spPr>
      </p:sp>
      <p:sp>
        <p:nvSpPr>
          <p:cNvPr id="25" name="Text 23"/>
          <p:cNvSpPr/>
          <p:nvPr/>
        </p:nvSpPr>
        <p:spPr>
          <a:xfrm>
            <a:off x="6565392" y="2761488"/>
            <a:ext cx="1975104" cy="201168"/>
          </a:xfrm>
          <a:prstGeom prst="rect">
            <a:avLst/>
          </a:prstGeom>
          <a:noFill/>
          <a:ln/>
        </p:spPr>
        <p:txBody>
          <a:bodyPr wrap="square" lIns="0" tIns="0" rIns="0" bIns="0" rtlCol="0" anchor="ctr"/>
          <a:lstStyle/>
          <a:p>
            <a:pPr indent="0" marL="0">
              <a:buNone/>
            </a:pPr>
            <a:r>
              <a:rPr lang="en-US" sz="850" b="1" spc="120" kern="0" dirty="0">
                <a:solidFill>
                  <a:srgbClr val="5A6B72"/>
                </a:solidFill>
                <a:latin typeface="Calibri" pitchFamily="34" charset="0"/>
                <a:ea typeface="Calibri" pitchFamily="34" charset="-122"/>
                <a:cs typeface="Calibri" pitchFamily="34" charset="-120"/>
              </a:rPr>
              <a:t>LOE 3</a:t>
            </a:r>
            <a:endParaRPr lang="en-US" sz="850" dirty="0"/>
          </a:p>
        </p:txBody>
      </p:sp>
      <p:sp>
        <p:nvSpPr>
          <p:cNvPr id="26" name="Text 24"/>
          <p:cNvSpPr/>
          <p:nvPr/>
        </p:nvSpPr>
        <p:spPr>
          <a:xfrm>
            <a:off x="6565392" y="2980944"/>
            <a:ext cx="1975104" cy="411480"/>
          </a:xfrm>
          <a:prstGeom prst="rect">
            <a:avLst/>
          </a:prstGeom>
          <a:noFill/>
          <a:ln/>
        </p:spPr>
        <p:txBody>
          <a:bodyPr wrap="square" lIns="0" tIns="0" rIns="0" bIns="0" rtlCol="0" anchor="ctr"/>
          <a:lstStyle/>
          <a:p>
            <a:pPr indent="0" marL="0">
              <a:buNone/>
            </a:pPr>
            <a:r>
              <a:rPr lang="en-US" sz="1900" b="1" dirty="0">
                <a:solidFill>
                  <a:srgbClr val="12212B"/>
                </a:solidFill>
                <a:latin typeface="Cambria" pitchFamily="34" charset="0"/>
                <a:ea typeface="Cambria" pitchFamily="34" charset="-122"/>
                <a:cs typeface="Cambria" pitchFamily="34" charset="-120"/>
              </a:rPr>
              <a:t>Simulation</a:t>
            </a:r>
            <a:endParaRPr lang="en-US" sz="1900" dirty="0"/>
          </a:p>
        </p:txBody>
      </p:sp>
      <p:sp>
        <p:nvSpPr>
          <p:cNvPr id="27" name="Text 25"/>
          <p:cNvSpPr/>
          <p:nvPr/>
        </p:nvSpPr>
        <p:spPr>
          <a:xfrm>
            <a:off x="6565392" y="3456432"/>
            <a:ext cx="1975104" cy="548640"/>
          </a:xfrm>
          <a:prstGeom prst="rect">
            <a:avLst/>
          </a:prstGeom>
          <a:noFill/>
          <a:ln/>
        </p:spPr>
        <p:txBody>
          <a:bodyPr wrap="square" lIns="0" tIns="0" rIns="0" bIns="0" rtlCol="0" anchor="ctr"/>
          <a:lstStyle/>
          <a:p>
            <a:pPr indent="0" marL="0">
              <a:buNone/>
            </a:pPr>
            <a:r>
              <a:rPr lang="en-US" sz="1300" b="1" i="1" dirty="0">
                <a:solidFill>
                  <a:srgbClr val="C25E3A"/>
                </a:solidFill>
                <a:latin typeface="Calibri" pitchFamily="34" charset="0"/>
                <a:ea typeface="Calibri" pitchFamily="34" charset="-122"/>
                <a:cs typeface="Calibri" pitchFamily="34" charset="-120"/>
              </a:rPr>
              <a:t>Where does it break?</a:t>
            </a:r>
            <a:endParaRPr lang="en-US" sz="1300" dirty="0"/>
          </a:p>
        </p:txBody>
      </p:sp>
      <p:sp>
        <p:nvSpPr>
          <p:cNvPr id="28" name="Text 26"/>
          <p:cNvSpPr/>
          <p:nvPr/>
        </p:nvSpPr>
        <p:spPr>
          <a:xfrm>
            <a:off x="6565392" y="4160520"/>
            <a:ext cx="1975104" cy="457200"/>
          </a:xfrm>
          <a:prstGeom prst="rect">
            <a:avLst/>
          </a:prstGeom>
          <a:noFill/>
          <a:ln/>
        </p:spPr>
        <p:txBody>
          <a:bodyPr wrap="square" lIns="0" tIns="0" rIns="0" bIns="0" rtlCol="0" anchor="ctr"/>
          <a:lstStyle/>
          <a:p>
            <a:pPr indent="0" marL="0">
              <a:buNone/>
            </a:pPr>
            <a:r>
              <a:rPr lang="en-US" sz="1200" dirty="0">
                <a:solidFill>
                  <a:srgbClr val="5A6B72"/>
                </a:solidFill>
                <a:latin typeface="Calibri" pitchFamily="34" charset="0"/>
                <a:ea typeface="Calibri" pitchFamily="34" charset="-122"/>
                <a:cs typeface="Calibri" pitchFamily="34" charset="-120"/>
              </a:rPr>
              <a:t>Test before deploying</a:t>
            </a:r>
            <a:endParaRPr lang="en-US" sz="1200" dirty="0"/>
          </a:p>
        </p:txBody>
      </p:sp>
      <p:sp>
        <p:nvSpPr>
          <p:cNvPr id="29" name="Text 27"/>
          <p:cNvSpPr/>
          <p:nvPr/>
        </p:nvSpPr>
        <p:spPr>
          <a:xfrm>
            <a:off x="8814816" y="3291840"/>
            <a:ext cx="347472" cy="365760"/>
          </a:xfrm>
          <a:prstGeom prst="rect">
            <a:avLst/>
          </a:prstGeom>
          <a:noFill/>
          <a:ln/>
        </p:spPr>
        <p:txBody>
          <a:bodyPr wrap="square" lIns="0" tIns="0" rIns="0" bIns="0" rtlCol="0" anchor="ctr"/>
          <a:lstStyle/>
          <a:p>
            <a:pPr algn="ctr" indent="0" marL="0">
              <a:buNone/>
            </a:pPr>
            <a:r>
              <a:rPr lang="en-US" sz="1700" dirty="0">
                <a:solidFill>
                  <a:srgbClr val="C9D6DB"/>
                </a:solidFill>
              </a:rPr>
              <a:t>→</a:t>
            </a:r>
            <a:endParaRPr lang="en-US" sz="1700" dirty="0"/>
          </a:p>
        </p:txBody>
      </p:sp>
      <p:sp>
        <p:nvSpPr>
          <p:cNvPr id="30" name="Shape 28"/>
          <p:cNvSpPr/>
          <p:nvPr/>
        </p:nvSpPr>
        <p:spPr>
          <a:xfrm>
            <a:off x="9180576" y="2331720"/>
            <a:ext cx="2487168" cy="2514600"/>
          </a:xfrm>
          <a:prstGeom prst="roundRect">
            <a:avLst>
              <a:gd name="adj" fmla="val 2206"/>
            </a:avLst>
          </a:prstGeom>
          <a:solidFill>
            <a:srgbClr val="F2F5F4"/>
          </a:solidFill>
          <a:ln w="12700">
            <a:solidFill>
              <a:srgbClr val="F2F5F4"/>
            </a:solidFill>
            <a:prstDash val="solid"/>
          </a:ln>
        </p:spPr>
      </p:sp>
      <p:sp>
        <p:nvSpPr>
          <p:cNvPr id="31" name="Shape 29"/>
          <p:cNvSpPr/>
          <p:nvPr/>
        </p:nvSpPr>
        <p:spPr>
          <a:xfrm>
            <a:off x="9436608" y="2606040"/>
            <a:ext cx="457200" cy="73152"/>
          </a:xfrm>
          <a:prstGeom prst="rect">
            <a:avLst/>
          </a:prstGeom>
          <a:solidFill>
            <a:srgbClr val="12212B"/>
          </a:solidFill>
          <a:ln/>
        </p:spPr>
      </p:sp>
      <p:sp>
        <p:nvSpPr>
          <p:cNvPr id="32" name="Text 30"/>
          <p:cNvSpPr/>
          <p:nvPr/>
        </p:nvSpPr>
        <p:spPr>
          <a:xfrm>
            <a:off x="9436608" y="2761488"/>
            <a:ext cx="1975104" cy="201168"/>
          </a:xfrm>
          <a:prstGeom prst="rect">
            <a:avLst/>
          </a:prstGeom>
          <a:noFill/>
          <a:ln/>
        </p:spPr>
        <p:txBody>
          <a:bodyPr wrap="square" lIns="0" tIns="0" rIns="0" bIns="0" rtlCol="0" anchor="ctr"/>
          <a:lstStyle/>
          <a:p>
            <a:pPr indent="0" marL="0">
              <a:buNone/>
            </a:pPr>
            <a:r>
              <a:rPr lang="en-US" sz="850" b="1" spc="120" kern="0" dirty="0">
                <a:solidFill>
                  <a:srgbClr val="5A6B72"/>
                </a:solidFill>
                <a:latin typeface="Calibri" pitchFamily="34" charset="0"/>
                <a:ea typeface="Calibri" pitchFamily="34" charset="-122"/>
                <a:cs typeface="Calibri" pitchFamily="34" charset="-120"/>
              </a:rPr>
              <a:t>ENABLING</a:t>
            </a:r>
            <a:endParaRPr lang="en-US" sz="850" dirty="0"/>
          </a:p>
        </p:txBody>
      </p:sp>
      <p:sp>
        <p:nvSpPr>
          <p:cNvPr id="33" name="Text 31"/>
          <p:cNvSpPr/>
          <p:nvPr/>
        </p:nvSpPr>
        <p:spPr>
          <a:xfrm>
            <a:off x="9436608" y="2980944"/>
            <a:ext cx="1975104" cy="411480"/>
          </a:xfrm>
          <a:prstGeom prst="rect">
            <a:avLst/>
          </a:prstGeom>
          <a:noFill/>
          <a:ln/>
        </p:spPr>
        <p:txBody>
          <a:bodyPr wrap="square" lIns="0" tIns="0" rIns="0" bIns="0" rtlCol="0" anchor="ctr"/>
          <a:lstStyle/>
          <a:p>
            <a:pPr indent="0" marL="0">
              <a:buNone/>
            </a:pPr>
            <a:r>
              <a:rPr lang="en-US" sz="1900" b="1" dirty="0">
                <a:solidFill>
                  <a:srgbClr val="12212B"/>
                </a:solidFill>
                <a:latin typeface="Cambria" pitchFamily="34" charset="0"/>
                <a:ea typeface="Cambria" pitchFamily="34" charset="-122"/>
                <a:cs typeface="Cambria" pitchFamily="34" charset="-120"/>
              </a:rPr>
              <a:t>Measure Dx</a:t>
            </a:r>
            <a:endParaRPr lang="en-US" sz="1900" dirty="0"/>
          </a:p>
        </p:txBody>
      </p:sp>
      <p:sp>
        <p:nvSpPr>
          <p:cNvPr id="34" name="Text 32"/>
          <p:cNvSpPr/>
          <p:nvPr/>
        </p:nvSpPr>
        <p:spPr>
          <a:xfrm>
            <a:off x="9436608" y="3456432"/>
            <a:ext cx="1975104" cy="548640"/>
          </a:xfrm>
          <a:prstGeom prst="rect">
            <a:avLst/>
          </a:prstGeom>
          <a:noFill/>
          <a:ln/>
        </p:spPr>
        <p:txBody>
          <a:bodyPr wrap="square" lIns="0" tIns="0" rIns="0" bIns="0" rtlCol="0" anchor="ctr"/>
          <a:lstStyle/>
          <a:p>
            <a:pPr indent="0" marL="0">
              <a:buNone/>
            </a:pPr>
            <a:r>
              <a:rPr lang="en-US" sz="1300" b="1" i="1" dirty="0">
                <a:solidFill>
                  <a:srgbClr val="12212B"/>
                </a:solidFill>
                <a:latin typeface="Calibri" pitchFamily="34" charset="0"/>
                <a:ea typeface="Calibri" pitchFamily="34" charset="-122"/>
                <a:cs typeface="Calibri" pitchFamily="34" charset="-120"/>
              </a:rPr>
              <a:t>What did we miss?</a:t>
            </a:r>
            <a:endParaRPr lang="en-US" sz="1300" dirty="0"/>
          </a:p>
        </p:txBody>
      </p:sp>
      <p:sp>
        <p:nvSpPr>
          <p:cNvPr id="35" name="Text 33"/>
          <p:cNvSpPr/>
          <p:nvPr/>
        </p:nvSpPr>
        <p:spPr>
          <a:xfrm>
            <a:off x="9436608" y="4160520"/>
            <a:ext cx="1975104" cy="457200"/>
          </a:xfrm>
          <a:prstGeom prst="rect">
            <a:avLst/>
          </a:prstGeom>
          <a:noFill/>
          <a:ln/>
        </p:spPr>
        <p:txBody>
          <a:bodyPr wrap="square" lIns="0" tIns="0" rIns="0" bIns="0" rtlCol="0" anchor="ctr"/>
          <a:lstStyle/>
          <a:p>
            <a:pPr indent="0" marL="0">
              <a:buNone/>
            </a:pPr>
            <a:r>
              <a:rPr lang="en-US" sz="1200" dirty="0">
                <a:solidFill>
                  <a:srgbClr val="5A6B72"/>
                </a:solidFill>
                <a:latin typeface="Calibri" pitchFamily="34" charset="0"/>
                <a:ea typeface="Calibri" pitchFamily="34" charset="-122"/>
                <a:cs typeface="Calibri" pitchFamily="34" charset="-120"/>
              </a:rPr>
              <a:t>Detect in the record</a:t>
            </a:r>
            <a:endParaRPr lang="en-US" sz="1200" dirty="0"/>
          </a:p>
        </p:txBody>
      </p:sp>
      <p:sp>
        <p:nvSpPr>
          <p:cNvPr id="36" name="Shape 34"/>
          <p:cNvSpPr/>
          <p:nvPr/>
        </p:nvSpPr>
        <p:spPr>
          <a:xfrm>
            <a:off x="566928" y="5120640"/>
            <a:ext cx="10881360" cy="841248"/>
          </a:xfrm>
          <a:prstGeom prst="roundRect">
            <a:avLst>
              <a:gd name="adj" fmla="val 5435"/>
            </a:avLst>
          </a:prstGeom>
          <a:solidFill>
            <a:srgbClr val="12212B"/>
          </a:solidFill>
          <a:ln w="12700">
            <a:solidFill>
              <a:srgbClr val="12212B"/>
            </a:solidFill>
            <a:prstDash val="solid"/>
          </a:ln>
        </p:spPr>
      </p:sp>
      <p:sp>
        <p:nvSpPr>
          <p:cNvPr id="37" name="Text 35"/>
          <p:cNvSpPr/>
          <p:nvPr/>
        </p:nvSpPr>
        <p:spPr>
          <a:xfrm>
            <a:off x="914400" y="5120640"/>
            <a:ext cx="10149840" cy="8412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loop closes.  </a:t>
            </a:r>
            <a:pPr indent="0" marL="0">
              <a:buNone/>
            </a:pPr>
            <a:r>
              <a:rPr lang="en-US" sz="1300" dirty="0">
                <a:solidFill>
                  <a:srgbClr val="C9D6DB"/>
                </a:solidFill>
                <a:latin typeface="Calibri" pitchFamily="34" charset="0"/>
                <a:ea typeface="Calibri" pitchFamily="34" charset="-122"/>
                <a:cs typeface="Calibri" pitchFamily="34" charset="-120"/>
              </a:rPr>
              <a:t>What Measure Dx detects in the record becomes the next scenario the simulation tests, and the next trigger the PACE framework names.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C25E3A"/>
                </a:solidFill>
                <a:latin typeface="Calibri" pitchFamily="34" charset="0"/>
                <a:ea typeface="Calibri" pitchFamily="34" charset="-122"/>
                <a:cs typeface="Calibri" pitchFamily="34" charset="-120"/>
              </a:rPr>
              <a:t>LINE OF EFFORT 1</a:t>
            </a:r>
            <a:endParaRPr lang="en-US" sz="1100" dirty="0"/>
          </a:p>
        </p:txBody>
      </p:sp>
      <p:sp>
        <p:nvSpPr>
          <p:cNvPr id="3" name="Text 1"/>
          <p:cNvSpPr/>
          <p:nvPr/>
        </p:nvSpPr>
        <p:spPr>
          <a:xfrm>
            <a:off x="548640" y="640080"/>
            <a:ext cx="11064240" cy="749808"/>
          </a:xfrm>
          <a:prstGeom prst="rect">
            <a:avLst/>
          </a:prstGeom>
          <a:noFill/>
          <a:ln/>
        </p:spPr>
        <p:txBody>
          <a:bodyPr wrap="square" lIns="0" tIns="0" rIns="0" bIns="0" rtlCol="0" anchor="ctr"/>
          <a:lstStyle/>
          <a:p>
            <a:pPr indent="0" marL="0">
              <a:buNone/>
            </a:pPr>
            <a:r>
              <a:rPr lang="en-US" sz="3000" b="1" dirty="0">
                <a:solidFill>
                  <a:srgbClr val="12212B"/>
                </a:solidFill>
                <a:latin typeface="Cambria" pitchFamily="34" charset="0"/>
                <a:ea typeface="Cambria" pitchFamily="34" charset="-122"/>
                <a:cs typeface="Cambria" pitchFamily="34" charset="-120"/>
              </a:rPr>
              <a:t>EWP — [expansion pending]</a:t>
            </a:r>
            <a:endParaRPr lang="en-US" sz="3000" dirty="0"/>
          </a:p>
        </p:txBody>
      </p:sp>
      <p:sp>
        <p:nvSpPr>
          <p:cNvPr id="4" name="Shape 2"/>
          <p:cNvSpPr/>
          <p:nvPr/>
        </p:nvSpPr>
        <p:spPr>
          <a:xfrm>
            <a:off x="566928" y="1389888"/>
            <a:ext cx="342900" cy="64008"/>
          </a:xfrm>
          <a:prstGeom prst="rect">
            <a:avLst/>
          </a:prstGeom>
          <a:solidFill>
            <a:srgbClr val="2E7D5B"/>
          </a:solidFill>
          <a:ln/>
        </p:spPr>
      </p:sp>
      <p:sp>
        <p:nvSpPr>
          <p:cNvPr id="5" name="Shape 3"/>
          <p:cNvSpPr/>
          <p:nvPr/>
        </p:nvSpPr>
        <p:spPr>
          <a:xfrm>
            <a:off x="909828" y="1389888"/>
            <a:ext cx="342900" cy="64008"/>
          </a:xfrm>
          <a:prstGeom prst="rect">
            <a:avLst/>
          </a:prstGeom>
          <a:solidFill>
            <a:srgbClr val="B8912F"/>
          </a:solidFill>
          <a:ln/>
        </p:spPr>
      </p:sp>
      <p:sp>
        <p:nvSpPr>
          <p:cNvPr id="6" name="Shape 4"/>
          <p:cNvSpPr/>
          <p:nvPr/>
        </p:nvSpPr>
        <p:spPr>
          <a:xfrm>
            <a:off x="1252728" y="1389888"/>
            <a:ext cx="342900" cy="64008"/>
          </a:xfrm>
          <a:prstGeom prst="rect">
            <a:avLst/>
          </a:prstGeom>
          <a:solidFill>
            <a:srgbClr val="C25E3A"/>
          </a:solidFill>
          <a:ln/>
        </p:spPr>
      </p:sp>
      <p:sp>
        <p:nvSpPr>
          <p:cNvPr id="7" name="Shape 5"/>
          <p:cNvSpPr/>
          <p:nvPr/>
        </p:nvSpPr>
        <p:spPr>
          <a:xfrm>
            <a:off x="1595628" y="1389888"/>
            <a:ext cx="342900" cy="64008"/>
          </a:xfrm>
          <a:prstGeom prst="rect">
            <a:avLst/>
          </a:prstGeom>
          <a:solidFill>
            <a:srgbClr val="9B2C2C"/>
          </a:solidFill>
          <a:ln/>
        </p:spPr>
      </p:sp>
      <p:sp>
        <p:nvSpPr>
          <p:cNvPr id="8" name="Shape 6"/>
          <p:cNvSpPr/>
          <p:nvPr/>
        </p:nvSpPr>
        <p:spPr>
          <a:xfrm>
            <a:off x="566928" y="1783080"/>
            <a:ext cx="10881360" cy="960120"/>
          </a:xfrm>
          <a:prstGeom prst="roundRect">
            <a:avLst>
              <a:gd name="adj" fmla="val 4762"/>
            </a:avLst>
          </a:prstGeom>
          <a:solidFill>
            <a:srgbClr val="FDF3EE"/>
          </a:solidFill>
          <a:ln w="12700">
            <a:solidFill>
              <a:srgbClr val="C25E3A"/>
            </a:solidFill>
            <a:prstDash val="solid"/>
          </a:ln>
        </p:spPr>
      </p:sp>
      <p:sp>
        <p:nvSpPr>
          <p:cNvPr id="9" name="Text 7"/>
          <p:cNvSpPr/>
          <p:nvPr/>
        </p:nvSpPr>
        <p:spPr>
          <a:xfrm>
            <a:off x="914400" y="1783080"/>
            <a:ext cx="10149840" cy="960120"/>
          </a:xfrm>
          <a:prstGeom prst="rect">
            <a:avLst/>
          </a:prstGeom>
          <a:noFill/>
          <a:ln/>
        </p:spPr>
        <p:txBody>
          <a:bodyPr wrap="square" lIns="0" tIns="0" rIns="0" bIns="0" rtlCol="0" anchor="ctr"/>
          <a:lstStyle/>
          <a:p>
            <a:pPr indent="0" marL="0">
              <a:buNone/>
            </a:pPr>
            <a:r>
              <a:rPr lang="en-US" sz="1250" b="1" dirty="0">
                <a:solidFill>
                  <a:srgbClr val="C25E3A"/>
                </a:solidFill>
                <a:latin typeface="Calibri" pitchFamily="34" charset="0"/>
                <a:ea typeface="Calibri" pitchFamily="34" charset="-122"/>
                <a:cs typeface="Calibri" pitchFamily="34" charset="-120"/>
              </a:rPr>
              <a:t>CONTENT PENDING.  </a:t>
            </a:r>
            <a:pPr indent="0" marL="0">
              <a:buNone/>
            </a:pPr>
            <a:r>
              <a:rPr lang="en-US" sz="1250" dirty="0">
                <a:solidFill>
                  <a:srgbClr val="5A6B72"/>
                </a:solidFill>
                <a:latin typeface="Calibri" pitchFamily="34" charset="0"/>
                <a:ea typeface="Calibri" pitchFamily="34" charset="-122"/>
                <a:cs typeface="Calibri" pitchFamily="34" charset="-120"/>
              </a:rPr>
              <a:t>This slide is scaffolded against the structure used for the other two lines of effort. Supply the EWP project material and it populates without touching the rest of the deck.</a:t>
            </a:r>
            <a:endParaRPr lang="en-US" sz="1250" dirty="0"/>
          </a:p>
        </p:txBody>
      </p:sp>
      <p:sp>
        <p:nvSpPr>
          <p:cNvPr id="10" name="Shape 8"/>
          <p:cNvSpPr/>
          <p:nvPr/>
        </p:nvSpPr>
        <p:spPr>
          <a:xfrm>
            <a:off x="566928" y="2971800"/>
            <a:ext cx="5257800" cy="1371600"/>
          </a:xfrm>
          <a:prstGeom prst="roundRect">
            <a:avLst>
              <a:gd name="adj" fmla="val 4000"/>
            </a:avLst>
          </a:prstGeom>
          <a:solidFill>
            <a:srgbClr val="F2F5F4"/>
          </a:solidFill>
          <a:ln w="12700">
            <a:solidFill>
              <a:srgbClr val="F2F5F4"/>
            </a:solidFill>
            <a:prstDash val="solid"/>
          </a:ln>
        </p:spPr>
      </p:sp>
      <p:sp>
        <p:nvSpPr>
          <p:cNvPr id="11" name="Text 9"/>
          <p:cNvSpPr/>
          <p:nvPr/>
        </p:nvSpPr>
        <p:spPr>
          <a:xfrm>
            <a:off x="841248" y="3227832"/>
            <a:ext cx="4709160" cy="365760"/>
          </a:xfrm>
          <a:prstGeom prst="rect">
            <a:avLst/>
          </a:prstGeom>
          <a:noFill/>
          <a:ln/>
        </p:spPr>
        <p:txBody>
          <a:bodyPr wrap="square" lIns="0" tIns="0" rIns="0" bIns="0" rtlCol="0" anchor="ctr"/>
          <a:lstStyle/>
          <a:p>
            <a:pPr indent="0" marL="0">
              <a:buNone/>
            </a:pPr>
            <a:r>
              <a:rPr lang="en-US" sz="1500" b="1" dirty="0">
                <a:solidFill>
                  <a:srgbClr val="12212B"/>
                </a:solidFill>
                <a:latin typeface="Cambria" pitchFamily="34" charset="0"/>
                <a:ea typeface="Cambria" pitchFamily="34" charset="-122"/>
                <a:cs typeface="Cambria" pitchFamily="34" charset="-120"/>
              </a:rPr>
              <a:t>Objective</a:t>
            </a:r>
            <a:endParaRPr lang="en-US" sz="1500" dirty="0"/>
          </a:p>
        </p:txBody>
      </p:sp>
      <p:sp>
        <p:nvSpPr>
          <p:cNvPr id="12" name="Text 10"/>
          <p:cNvSpPr/>
          <p:nvPr/>
        </p:nvSpPr>
        <p:spPr>
          <a:xfrm>
            <a:off x="841248" y="3685032"/>
            <a:ext cx="4709160" cy="411480"/>
          </a:xfrm>
          <a:prstGeom prst="rect">
            <a:avLst/>
          </a:prstGeom>
          <a:noFill/>
          <a:ln/>
        </p:spPr>
        <p:txBody>
          <a:bodyPr wrap="square" lIns="0" tIns="0" rIns="0" bIns="0" rtlCol="0" anchor="t"/>
          <a:lstStyle/>
          <a:p>
            <a:pPr indent="0" marL="0">
              <a:buNone/>
            </a:pPr>
            <a:r>
              <a:rPr lang="en-US" sz="1150" dirty="0">
                <a:solidFill>
                  <a:srgbClr val="5A6B72"/>
                </a:solidFill>
                <a:latin typeface="Calibri" pitchFamily="34" charset="0"/>
                <a:ea typeface="Calibri" pitchFamily="34" charset="-122"/>
                <a:cs typeface="Calibri" pitchFamily="34" charset="-120"/>
              </a:rPr>
              <a:t>What the effort is for, in one sentence a non-medical action officer can repeat.</a:t>
            </a:r>
            <a:endParaRPr lang="en-US" sz="1150" dirty="0"/>
          </a:p>
        </p:txBody>
      </p:sp>
      <p:sp>
        <p:nvSpPr>
          <p:cNvPr id="13" name="Shape 11"/>
          <p:cNvSpPr/>
          <p:nvPr/>
        </p:nvSpPr>
        <p:spPr>
          <a:xfrm>
            <a:off x="6190488" y="2971800"/>
            <a:ext cx="5257800" cy="1371600"/>
          </a:xfrm>
          <a:prstGeom prst="roundRect">
            <a:avLst>
              <a:gd name="adj" fmla="val 4000"/>
            </a:avLst>
          </a:prstGeom>
          <a:solidFill>
            <a:srgbClr val="F2F5F4"/>
          </a:solidFill>
          <a:ln w="12700">
            <a:solidFill>
              <a:srgbClr val="F2F5F4"/>
            </a:solidFill>
            <a:prstDash val="solid"/>
          </a:ln>
        </p:spPr>
      </p:sp>
      <p:sp>
        <p:nvSpPr>
          <p:cNvPr id="14" name="Text 12"/>
          <p:cNvSpPr/>
          <p:nvPr/>
        </p:nvSpPr>
        <p:spPr>
          <a:xfrm>
            <a:off x="6464808" y="3227832"/>
            <a:ext cx="4709160" cy="365760"/>
          </a:xfrm>
          <a:prstGeom prst="rect">
            <a:avLst/>
          </a:prstGeom>
          <a:noFill/>
          <a:ln/>
        </p:spPr>
        <p:txBody>
          <a:bodyPr wrap="square" lIns="0" tIns="0" rIns="0" bIns="0" rtlCol="0" anchor="ctr"/>
          <a:lstStyle/>
          <a:p>
            <a:pPr indent="0" marL="0">
              <a:buNone/>
            </a:pPr>
            <a:r>
              <a:rPr lang="en-US" sz="1500" b="1" dirty="0">
                <a:solidFill>
                  <a:srgbClr val="12212B"/>
                </a:solidFill>
                <a:latin typeface="Cambria" pitchFamily="34" charset="0"/>
                <a:ea typeface="Cambria" pitchFamily="34" charset="-122"/>
                <a:cs typeface="Cambria" pitchFamily="34" charset="-120"/>
              </a:rPr>
              <a:t>Current state</a:t>
            </a:r>
            <a:endParaRPr lang="en-US" sz="1500" dirty="0"/>
          </a:p>
        </p:txBody>
      </p:sp>
      <p:sp>
        <p:nvSpPr>
          <p:cNvPr id="15" name="Text 13"/>
          <p:cNvSpPr/>
          <p:nvPr/>
        </p:nvSpPr>
        <p:spPr>
          <a:xfrm>
            <a:off x="6464808" y="3685032"/>
            <a:ext cx="4709160" cy="411480"/>
          </a:xfrm>
          <a:prstGeom prst="rect">
            <a:avLst/>
          </a:prstGeom>
          <a:noFill/>
          <a:ln/>
        </p:spPr>
        <p:txBody>
          <a:bodyPr wrap="square" lIns="0" tIns="0" rIns="0" bIns="0" rtlCol="0" anchor="t"/>
          <a:lstStyle/>
          <a:p>
            <a:pPr indent="0" marL="0">
              <a:buNone/>
            </a:pPr>
            <a:r>
              <a:rPr lang="en-US" sz="1150" dirty="0">
                <a:solidFill>
                  <a:srgbClr val="5A6B72"/>
                </a:solidFill>
                <a:latin typeface="Calibri" pitchFamily="34" charset="0"/>
                <a:ea typeface="Calibri" pitchFamily="34" charset="-122"/>
                <a:cs typeface="Calibri" pitchFamily="34" charset="-120"/>
              </a:rPr>
              <a:t>Where it stands now — what exists, what is in work, what is blocked.</a:t>
            </a:r>
            <a:endParaRPr lang="en-US" sz="1150" dirty="0"/>
          </a:p>
        </p:txBody>
      </p:sp>
      <p:sp>
        <p:nvSpPr>
          <p:cNvPr id="16" name="Shape 14"/>
          <p:cNvSpPr/>
          <p:nvPr/>
        </p:nvSpPr>
        <p:spPr>
          <a:xfrm>
            <a:off x="566928" y="4544568"/>
            <a:ext cx="5257800" cy="1371600"/>
          </a:xfrm>
          <a:prstGeom prst="roundRect">
            <a:avLst>
              <a:gd name="adj" fmla="val 4000"/>
            </a:avLst>
          </a:prstGeom>
          <a:solidFill>
            <a:srgbClr val="F2F5F4"/>
          </a:solidFill>
          <a:ln w="12700">
            <a:solidFill>
              <a:srgbClr val="F2F5F4"/>
            </a:solidFill>
            <a:prstDash val="solid"/>
          </a:ln>
        </p:spPr>
      </p:sp>
      <p:sp>
        <p:nvSpPr>
          <p:cNvPr id="17" name="Text 15"/>
          <p:cNvSpPr/>
          <p:nvPr/>
        </p:nvSpPr>
        <p:spPr>
          <a:xfrm>
            <a:off x="841248" y="4800600"/>
            <a:ext cx="4709160" cy="365760"/>
          </a:xfrm>
          <a:prstGeom prst="rect">
            <a:avLst/>
          </a:prstGeom>
          <a:noFill/>
          <a:ln/>
        </p:spPr>
        <p:txBody>
          <a:bodyPr wrap="square" lIns="0" tIns="0" rIns="0" bIns="0" rtlCol="0" anchor="ctr"/>
          <a:lstStyle/>
          <a:p>
            <a:pPr indent="0" marL="0">
              <a:buNone/>
            </a:pPr>
            <a:r>
              <a:rPr lang="en-US" sz="1500" b="1" dirty="0">
                <a:solidFill>
                  <a:srgbClr val="12212B"/>
                </a:solidFill>
                <a:latin typeface="Cambria" pitchFamily="34" charset="0"/>
                <a:ea typeface="Cambria" pitchFamily="34" charset="-122"/>
                <a:cs typeface="Cambria" pitchFamily="34" charset="-120"/>
              </a:rPr>
              <a:t>Output</a:t>
            </a:r>
            <a:endParaRPr lang="en-US" sz="1500" dirty="0"/>
          </a:p>
        </p:txBody>
      </p:sp>
      <p:sp>
        <p:nvSpPr>
          <p:cNvPr id="18" name="Text 16"/>
          <p:cNvSpPr/>
          <p:nvPr/>
        </p:nvSpPr>
        <p:spPr>
          <a:xfrm>
            <a:off x="841248" y="5257800"/>
            <a:ext cx="4709160" cy="411480"/>
          </a:xfrm>
          <a:prstGeom prst="rect">
            <a:avLst/>
          </a:prstGeom>
          <a:noFill/>
          <a:ln/>
        </p:spPr>
        <p:txBody>
          <a:bodyPr wrap="square" lIns="0" tIns="0" rIns="0" bIns="0" rtlCol="0" anchor="t"/>
          <a:lstStyle/>
          <a:p>
            <a:pPr indent="0" marL="0">
              <a:buNone/>
            </a:pPr>
            <a:r>
              <a:rPr lang="en-US" sz="1150" dirty="0">
                <a:solidFill>
                  <a:srgbClr val="5A6B72"/>
                </a:solidFill>
                <a:latin typeface="Calibri" pitchFamily="34" charset="0"/>
                <a:ea typeface="Calibri" pitchFamily="34" charset="-122"/>
                <a:cs typeface="Calibri" pitchFamily="34" charset="-120"/>
              </a:rPr>
              <a:t>What it produces that CSC, simulation, or Measure Dx consumes.</a:t>
            </a:r>
            <a:endParaRPr lang="en-US" sz="1150" dirty="0"/>
          </a:p>
        </p:txBody>
      </p:sp>
      <p:sp>
        <p:nvSpPr>
          <p:cNvPr id="19" name="Shape 17"/>
          <p:cNvSpPr/>
          <p:nvPr/>
        </p:nvSpPr>
        <p:spPr>
          <a:xfrm>
            <a:off x="6190488" y="4544568"/>
            <a:ext cx="5257800" cy="1371600"/>
          </a:xfrm>
          <a:prstGeom prst="roundRect">
            <a:avLst>
              <a:gd name="adj" fmla="val 4000"/>
            </a:avLst>
          </a:prstGeom>
          <a:solidFill>
            <a:srgbClr val="F2F5F4"/>
          </a:solidFill>
          <a:ln w="12700">
            <a:solidFill>
              <a:srgbClr val="F2F5F4"/>
            </a:solidFill>
            <a:prstDash val="solid"/>
          </a:ln>
        </p:spPr>
      </p:sp>
      <p:sp>
        <p:nvSpPr>
          <p:cNvPr id="20" name="Text 18"/>
          <p:cNvSpPr/>
          <p:nvPr/>
        </p:nvSpPr>
        <p:spPr>
          <a:xfrm>
            <a:off x="6464808" y="4800600"/>
            <a:ext cx="4709160" cy="365760"/>
          </a:xfrm>
          <a:prstGeom prst="rect">
            <a:avLst/>
          </a:prstGeom>
          <a:noFill/>
          <a:ln/>
        </p:spPr>
        <p:txBody>
          <a:bodyPr wrap="square" lIns="0" tIns="0" rIns="0" bIns="0" rtlCol="0" anchor="ctr"/>
          <a:lstStyle/>
          <a:p>
            <a:pPr indent="0" marL="0">
              <a:buNone/>
            </a:pPr>
            <a:r>
              <a:rPr lang="en-US" sz="1500" b="1" dirty="0">
                <a:solidFill>
                  <a:srgbClr val="12212B"/>
                </a:solidFill>
                <a:latin typeface="Cambria" pitchFamily="34" charset="0"/>
                <a:ea typeface="Cambria" pitchFamily="34" charset="-122"/>
                <a:cs typeface="Cambria" pitchFamily="34" charset="-120"/>
              </a:rPr>
              <a:t>Ask</a:t>
            </a:r>
            <a:endParaRPr lang="en-US" sz="1500" dirty="0"/>
          </a:p>
        </p:txBody>
      </p:sp>
      <p:sp>
        <p:nvSpPr>
          <p:cNvPr id="21" name="Text 19"/>
          <p:cNvSpPr/>
          <p:nvPr/>
        </p:nvSpPr>
        <p:spPr>
          <a:xfrm>
            <a:off x="6464808" y="5257800"/>
            <a:ext cx="4709160" cy="411480"/>
          </a:xfrm>
          <a:prstGeom prst="rect">
            <a:avLst/>
          </a:prstGeom>
          <a:noFill/>
          <a:ln/>
        </p:spPr>
        <p:txBody>
          <a:bodyPr wrap="square" lIns="0" tIns="0" rIns="0" bIns="0" rtlCol="0" anchor="t"/>
          <a:lstStyle/>
          <a:p>
            <a:pPr indent="0" marL="0">
              <a:buNone/>
            </a:pPr>
            <a:r>
              <a:rPr lang="en-US" sz="1150" dirty="0">
                <a:solidFill>
                  <a:srgbClr val="5A6B72"/>
                </a:solidFill>
                <a:latin typeface="Calibri" pitchFamily="34" charset="0"/>
                <a:ea typeface="Calibri" pitchFamily="34" charset="-122"/>
                <a:cs typeface="Calibri" pitchFamily="34" charset="-120"/>
              </a:rPr>
              <a:t>The decision, endorsement, or resourcing sought at HSOAG.</a:t>
            </a:r>
            <a:endParaRPr lang="en-US" sz="1150" dirty="0"/>
          </a:p>
        </p:txBody>
      </p:sp>
      <p:sp>
        <p:nvSpPr>
          <p:cNvPr id="22" name="Text 20"/>
          <p:cNvSpPr/>
          <p:nvPr/>
        </p:nvSpPr>
        <p:spPr>
          <a:xfrm>
            <a:off x="566928" y="6382512"/>
            <a:ext cx="10515600" cy="219456"/>
          </a:xfrm>
          <a:prstGeom prst="rect">
            <a:avLst/>
          </a:prstGeom>
          <a:noFill/>
          <a:ln/>
        </p:spPr>
        <p:txBody>
          <a:bodyPr wrap="square" lIns="0" tIns="0" rIns="0" bIns="0" rtlCol="0" anchor="ctr"/>
          <a:lstStyle/>
          <a:p>
            <a:pPr indent="0" marL="0">
              <a:buNone/>
            </a:pPr>
            <a:r>
              <a:rPr lang="en-US" sz="900" i="1" dirty="0">
                <a:solidFill>
                  <a:srgbClr val="C9D6DB"/>
                </a:solidFill>
                <a:latin typeface="Calibri" pitchFamily="34" charset="0"/>
                <a:ea typeface="Calibri" pitchFamily="34" charset="-122"/>
                <a:cs typeface="Calibri" pitchFamily="34" charset="-120"/>
              </a:rPr>
              <a:t>Placeholder structure — replace with EWP project content.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C25E3A"/>
                </a:solidFill>
                <a:latin typeface="Calibri" pitchFamily="34" charset="0"/>
                <a:ea typeface="Calibri" pitchFamily="34" charset="-122"/>
                <a:cs typeface="Calibri" pitchFamily="34" charset="-120"/>
              </a:rPr>
              <a:t>LINE OF EFFORT 2</a:t>
            </a:r>
            <a:endParaRPr lang="en-US" sz="1100" dirty="0"/>
          </a:p>
        </p:txBody>
      </p:sp>
      <p:sp>
        <p:nvSpPr>
          <p:cNvPr id="3" name="Text 1"/>
          <p:cNvSpPr/>
          <p:nvPr/>
        </p:nvSpPr>
        <p:spPr>
          <a:xfrm>
            <a:off x="548640" y="640080"/>
            <a:ext cx="11064240" cy="749808"/>
          </a:xfrm>
          <a:prstGeom prst="rect">
            <a:avLst/>
          </a:prstGeom>
          <a:noFill/>
          <a:ln/>
        </p:spPr>
        <p:txBody>
          <a:bodyPr wrap="square" lIns="0" tIns="0" rIns="0" bIns="0" rtlCol="0" anchor="ctr"/>
          <a:lstStyle/>
          <a:p>
            <a:pPr indent="0" marL="0">
              <a:buNone/>
            </a:pPr>
            <a:r>
              <a:rPr lang="en-US" sz="3000" b="1" dirty="0">
                <a:solidFill>
                  <a:srgbClr val="12212B"/>
                </a:solidFill>
                <a:latin typeface="Cambria" pitchFamily="34" charset="0"/>
                <a:ea typeface="Cambria" pitchFamily="34" charset="-122"/>
                <a:cs typeface="Cambria" pitchFamily="34" charset="-120"/>
              </a:rPr>
              <a:t>Crisis Standards of Care — a PACE framework</a:t>
            </a:r>
            <a:endParaRPr lang="en-US" sz="3000" dirty="0"/>
          </a:p>
        </p:txBody>
      </p:sp>
      <p:sp>
        <p:nvSpPr>
          <p:cNvPr id="4" name="Shape 2"/>
          <p:cNvSpPr/>
          <p:nvPr/>
        </p:nvSpPr>
        <p:spPr>
          <a:xfrm>
            <a:off x="566928" y="1389888"/>
            <a:ext cx="342900" cy="64008"/>
          </a:xfrm>
          <a:prstGeom prst="rect">
            <a:avLst/>
          </a:prstGeom>
          <a:solidFill>
            <a:srgbClr val="2E7D5B"/>
          </a:solidFill>
          <a:ln/>
        </p:spPr>
      </p:sp>
      <p:sp>
        <p:nvSpPr>
          <p:cNvPr id="5" name="Shape 3"/>
          <p:cNvSpPr/>
          <p:nvPr/>
        </p:nvSpPr>
        <p:spPr>
          <a:xfrm>
            <a:off x="909828" y="1389888"/>
            <a:ext cx="342900" cy="64008"/>
          </a:xfrm>
          <a:prstGeom prst="rect">
            <a:avLst/>
          </a:prstGeom>
          <a:solidFill>
            <a:srgbClr val="B8912F"/>
          </a:solidFill>
          <a:ln/>
        </p:spPr>
      </p:sp>
      <p:sp>
        <p:nvSpPr>
          <p:cNvPr id="6" name="Shape 4"/>
          <p:cNvSpPr/>
          <p:nvPr/>
        </p:nvSpPr>
        <p:spPr>
          <a:xfrm>
            <a:off x="1252728" y="1389888"/>
            <a:ext cx="342900" cy="64008"/>
          </a:xfrm>
          <a:prstGeom prst="rect">
            <a:avLst/>
          </a:prstGeom>
          <a:solidFill>
            <a:srgbClr val="C25E3A"/>
          </a:solidFill>
          <a:ln/>
        </p:spPr>
      </p:sp>
      <p:sp>
        <p:nvSpPr>
          <p:cNvPr id="7" name="Shape 5"/>
          <p:cNvSpPr/>
          <p:nvPr/>
        </p:nvSpPr>
        <p:spPr>
          <a:xfrm>
            <a:off x="1595628" y="1389888"/>
            <a:ext cx="342900" cy="64008"/>
          </a:xfrm>
          <a:prstGeom prst="rect">
            <a:avLst/>
          </a:prstGeom>
          <a:solidFill>
            <a:srgbClr val="9B2C2C"/>
          </a:solidFill>
          <a:ln/>
        </p:spPr>
      </p:sp>
      <p:sp>
        <p:nvSpPr>
          <p:cNvPr id="8" name="Text 6"/>
          <p:cNvSpPr/>
          <p:nvPr/>
        </p:nvSpPr>
        <p:spPr>
          <a:xfrm>
            <a:off x="566928" y="1664208"/>
            <a:ext cx="10881360" cy="658368"/>
          </a:xfrm>
          <a:prstGeom prst="rect">
            <a:avLst/>
          </a:prstGeom>
          <a:noFill/>
          <a:ln/>
        </p:spPr>
        <p:txBody>
          <a:bodyPr wrap="square" lIns="0" tIns="0" rIns="0" bIns="0" rtlCol="0" anchor="ctr"/>
          <a:lstStyle/>
          <a:p>
            <a:pPr indent="0" marL="0">
              <a:lnSpc>
                <a:spcPts val="1800"/>
              </a:lnSpc>
              <a:buNone/>
            </a:pPr>
            <a:r>
              <a:rPr lang="en-US" sz="1250" dirty="0">
                <a:solidFill>
                  <a:srgbClr val="5A6B72"/>
                </a:solidFill>
                <a:latin typeface="Calibri" pitchFamily="34" charset="0"/>
                <a:ea typeface="Calibri" pitchFamily="34" charset="-122"/>
                <a:cs typeface="Calibri" pitchFamily="34" charset="-120"/>
              </a:rPr>
              <a:t>The USMC lacks a shared mental model for stepwise degradation of care standards during contested operations. JTS CPGs already tier recommendations. PACE supplies the decision framework that links those tiers to operational triggers — so every transition is planned, briefed, and recognized, not improvised.</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2487168"/>
          <a:ext cx="10881360" cy="914400"/>
        </p:xfrm>
        <a:graphic>
          <a:graphicData uri="http://schemas.openxmlformats.org/drawingml/2006/table">
            <a:tbl>
              <a:tblPr/>
              <a:tblGrid>
                <a:gridCol w="1417320"/>
                <a:gridCol w="1417320"/>
                <a:gridCol w="3063240"/>
                <a:gridCol w="3200400"/>
                <a:gridCol w="1783080"/>
              </a:tblGrid>
              <a:tr h="31089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PACE LEVEL</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12212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JTS CPG TIER</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12212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CLINICAL POSTURE</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12212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TRANSITION TRIGGER</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12212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ETHICAL FRAME</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12212B"/>
                    </a:solidFill>
                  </a:tcPr>
                </a:tc>
              </a:tr>
              <a:tr h="658368">
                <a:tc>
                  <a:txBody>
                    <a:bodyPr/>
                    <a:lstStyle/>
                    <a:p>
                      <a:pPr indent="0" marL="0">
                        <a:buNone/>
                      </a:pPr>
                      <a:r>
                        <a:rPr lang="en-US" sz="1000" b="1" dirty="0">
                          <a:solidFill>
                            <a:srgbClr val="2E7D5B"/>
                          </a:solidFill>
                          <a:latin typeface="Calibri" pitchFamily="34" charset="0"/>
                          <a:ea typeface="Calibri" pitchFamily="34" charset="-122"/>
                          <a:cs typeface="Calibri" pitchFamily="34" charset="-120"/>
                        </a:rPr>
                        <a:t>PRIMARY</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c>
                  <a:txBody>
                    <a:bodyPr/>
                    <a:lstStyle/>
                    <a:p>
                      <a:pPr indent="0" marL="0">
                        <a:buNone/>
                      </a:pPr>
                      <a:r>
                        <a:rPr lang="en-US" sz="1000" dirty="0">
                          <a:solidFill>
                            <a:srgbClr val="5A6B72"/>
                          </a:solidFill>
                          <a:latin typeface="Calibri" pitchFamily="34" charset="0"/>
                          <a:ea typeface="Calibri" pitchFamily="34" charset="-122"/>
                          <a:cs typeface="Calibri" pitchFamily="34" charset="-120"/>
                        </a:rPr>
                        <a:t>Preferred (Best)</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c>
                  <a:txBody>
                    <a:bodyPr/>
                    <a:lstStyle/>
                    <a:p>
                      <a:pPr indent="0" marL="0">
                        <a:buNone/>
                      </a:pPr>
                      <a:r>
                        <a:rPr lang="en-US" sz="1000" dirty="0">
                          <a:solidFill>
                            <a:srgbClr val="5A6B72"/>
                          </a:solidFill>
                          <a:latin typeface="Calibri" pitchFamily="34" charset="0"/>
                          <a:ea typeface="Calibri" pitchFamily="34" charset="-122"/>
                          <a:cs typeface="Calibri" pitchFamily="34" charset="-120"/>
                        </a:rPr>
                        <a:t>Full Role 2 capability; component blood therapy, dual surgical teams, complete AMAL</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c>
                  <a:txBody>
                    <a:bodyPr/>
                    <a:lstStyle/>
                    <a:p>
                      <a:pPr indent="0" marL="0">
                        <a:buNone/>
                      </a:pPr>
                      <a:r>
                        <a:rPr lang="en-US" sz="1000" dirty="0">
                          <a:solidFill>
                            <a:srgbClr val="5A6B72"/>
                          </a:solidFill>
                          <a:latin typeface="Calibri" pitchFamily="34" charset="0"/>
                          <a:ea typeface="Calibri" pitchFamily="34" charset="-122"/>
                          <a:cs typeface="Calibri" pitchFamily="34" charset="-120"/>
                        </a:rPr>
                        <a:t>Class VIII resupply &lt; 24 h; evacuation within doctrinal timelines</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c>
                  <a:txBody>
                    <a:bodyPr/>
                    <a:lstStyle/>
                    <a:p>
                      <a:pPr indent="0" marL="0">
                        <a:buNone/>
                      </a:pPr>
                      <a:r>
                        <a:rPr lang="en-US" sz="1000" i="1" dirty="0">
                          <a:solidFill>
                            <a:srgbClr val="5A6B72"/>
                          </a:solidFill>
                          <a:latin typeface="Calibri" pitchFamily="34" charset="0"/>
                          <a:ea typeface="Calibri" pitchFamily="34" charset="-122"/>
                          <a:cs typeface="Calibri" pitchFamily="34" charset="-120"/>
                        </a:rPr>
                        <a:t>Prudence</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B8912F"/>
                          </a:solidFill>
                          <a:latin typeface="Calibri" pitchFamily="34" charset="0"/>
                          <a:ea typeface="Calibri" pitchFamily="34" charset="-122"/>
                          <a:cs typeface="Calibri" pitchFamily="34" charset="-120"/>
                        </a:rPr>
                        <a:t>ALTERNATE</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c>
                  <a:txBody>
                    <a:bodyPr/>
                    <a:lstStyle/>
                    <a:p>
                      <a:pPr indent="0" marL="0">
                        <a:buNone/>
                      </a:pPr>
                      <a:r>
                        <a:rPr lang="en-US" sz="1000" dirty="0">
                          <a:solidFill>
                            <a:srgbClr val="5A6B72"/>
                          </a:solidFill>
                          <a:latin typeface="Calibri" pitchFamily="34" charset="0"/>
                          <a:ea typeface="Calibri" pitchFamily="34" charset="-122"/>
                          <a:cs typeface="Calibri" pitchFamily="34" charset="-120"/>
                        </a:rPr>
                        <a:t>Acceptable (Better)</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c>
                  <a:txBody>
                    <a:bodyPr/>
                    <a:lstStyle/>
                    <a:p>
                      <a:pPr indent="0" marL="0">
                        <a:buNone/>
                      </a:pPr>
                      <a:r>
                        <a:rPr lang="en-US" sz="1000" dirty="0">
                          <a:solidFill>
                            <a:srgbClr val="5A6B72"/>
                          </a:solidFill>
                          <a:latin typeface="Calibri" pitchFamily="34" charset="0"/>
                          <a:ea typeface="Calibri" pitchFamily="34" charset="-122"/>
                          <a:cs typeface="Calibri" pitchFamily="34" charset="-120"/>
                        </a:rPr>
                        <a:t>Degraded but capable; known substitutions within CPG</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c>
                  <a:txBody>
                    <a:bodyPr/>
                    <a:lstStyle/>
                    <a:p>
                      <a:pPr indent="0" marL="0">
                        <a:buNone/>
                      </a:pPr>
                      <a:r>
                        <a:rPr lang="en-US" sz="1000" dirty="0">
                          <a:solidFill>
                            <a:srgbClr val="5A6B72"/>
                          </a:solidFill>
                          <a:latin typeface="Calibri" pitchFamily="34" charset="0"/>
                          <a:ea typeface="Calibri" pitchFamily="34" charset="-122"/>
                          <a:cs typeface="Calibri" pitchFamily="34" charset="-120"/>
                        </a:rPr>
                        <a:t>Resupply 24–72 h; evacuation delayed but functional; key billets gapped</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c>
                  <a:txBody>
                    <a:bodyPr/>
                    <a:lstStyle/>
                    <a:p>
                      <a:pPr indent="0" marL="0">
                        <a:buNone/>
                      </a:pPr>
                      <a:r>
                        <a:rPr lang="en-US" sz="1000" i="1" dirty="0">
                          <a:solidFill>
                            <a:srgbClr val="5A6B72"/>
                          </a:solidFill>
                          <a:latin typeface="Calibri" pitchFamily="34" charset="0"/>
                          <a:ea typeface="Calibri" pitchFamily="34" charset="-122"/>
                          <a:cs typeface="Calibri" pitchFamily="34" charset="-120"/>
                        </a:rPr>
                        <a:t>Prudence + Justice</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C25E3A"/>
                          </a:solidFill>
                          <a:latin typeface="Calibri" pitchFamily="34" charset="0"/>
                          <a:ea typeface="Calibri" pitchFamily="34" charset="-122"/>
                          <a:cs typeface="Calibri" pitchFamily="34" charset="-120"/>
                        </a:rPr>
                        <a:t>CONTINGENCY</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c>
                  <a:txBody>
                    <a:bodyPr/>
                    <a:lstStyle/>
                    <a:p>
                      <a:pPr indent="0" marL="0">
                        <a:buNone/>
                      </a:pPr>
                      <a:r>
                        <a:rPr lang="en-US" sz="1000" dirty="0">
                          <a:solidFill>
                            <a:srgbClr val="5A6B72"/>
                          </a:solidFill>
                          <a:latin typeface="Calibri" pitchFamily="34" charset="0"/>
                          <a:ea typeface="Calibri" pitchFamily="34" charset="-122"/>
                          <a:cs typeface="Calibri" pitchFamily="34" charset="-120"/>
                        </a:rPr>
                        <a:t>Minimum standard</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c>
                  <a:txBody>
                    <a:bodyPr/>
                    <a:lstStyle/>
                    <a:p>
                      <a:pPr indent="0" marL="0">
                        <a:buNone/>
                      </a:pPr>
                      <a:r>
                        <a:rPr lang="en-US" sz="1000" dirty="0">
                          <a:solidFill>
                            <a:srgbClr val="5A6B72"/>
                          </a:solidFill>
                          <a:latin typeface="Calibri" pitchFamily="34" charset="0"/>
                          <a:ea typeface="Calibri" pitchFamily="34" charset="-122"/>
                          <a:cs typeface="Calibri" pitchFamily="34" charset="-120"/>
                        </a:rPr>
                        <a:t>Capability gaps present; triage shifts to reverse triage protocols</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c>
                  <a:txBody>
                    <a:bodyPr/>
                    <a:lstStyle/>
                    <a:p>
                      <a:pPr indent="0" marL="0">
                        <a:buNone/>
                      </a:pPr>
                      <a:r>
                        <a:rPr lang="en-US" sz="1000" dirty="0">
                          <a:solidFill>
                            <a:srgbClr val="5A6B72"/>
                          </a:solidFill>
                          <a:latin typeface="Calibri" pitchFamily="34" charset="0"/>
                          <a:ea typeface="Calibri" pitchFamily="34" charset="-122"/>
                          <a:cs typeface="Calibri" pitchFamily="34" charset="-120"/>
                        </a:rPr>
                        <a:t>Resupply &gt; 72 h or interdicted; evacuation non-functional; MASCAL</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c>
                  <a:txBody>
                    <a:bodyPr/>
                    <a:lstStyle/>
                    <a:p>
                      <a:pPr indent="0" marL="0">
                        <a:buNone/>
                      </a:pPr>
                      <a:r>
                        <a:rPr lang="en-US" sz="1000" i="1" dirty="0">
                          <a:solidFill>
                            <a:srgbClr val="5A6B72"/>
                          </a:solidFill>
                          <a:latin typeface="Calibri" pitchFamily="34" charset="0"/>
                          <a:ea typeface="Calibri" pitchFamily="34" charset="-122"/>
                          <a:cs typeface="Calibri" pitchFamily="34" charset="-120"/>
                        </a:rPr>
                        <a:t>Justice + Courage</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9B2C2C"/>
                          </a:solidFill>
                          <a:latin typeface="Calibri" pitchFamily="34" charset="0"/>
                          <a:ea typeface="Calibri" pitchFamily="34" charset="-122"/>
                          <a:cs typeface="Calibri" pitchFamily="34" charset="-120"/>
                        </a:rPr>
                        <a:t>EMERGENCY</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c>
                  <a:txBody>
                    <a:bodyPr/>
                    <a:lstStyle/>
                    <a:p>
                      <a:pPr indent="0" marL="0">
                        <a:buNone/>
                      </a:pPr>
                      <a:r>
                        <a:rPr lang="en-US" sz="1000" dirty="0">
                          <a:solidFill>
                            <a:srgbClr val="5A6B72"/>
                          </a:solidFill>
                          <a:latin typeface="Calibri" pitchFamily="34" charset="0"/>
                          <a:ea typeface="Calibri" pitchFamily="34" charset="-122"/>
                          <a:cs typeface="Calibri" pitchFamily="34" charset="-120"/>
                        </a:rPr>
                        <a:t>Below minimum</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c>
                  <a:txBody>
                    <a:bodyPr/>
                    <a:lstStyle/>
                    <a:p>
                      <a:pPr indent="0" marL="0">
                        <a:buNone/>
                      </a:pPr>
                      <a:r>
                        <a:rPr lang="en-US" sz="1000" dirty="0">
                          <a:solidFill>
                            <a:srgbClr val="5A6B72"/>
                          </a:solidFill>
                          <a:latin typeface="Calibri" pitchFamily="34" charset="0"/>
                          <a:ea typeface="Calibri" pitchFamily="34" charset="-122"/>
                          <a:cs typeface="Calibri" pitchFamily="34" charset="-120"/>
                        </a:rPr>
                        <a:t>Survivability focus for the unit; reverse triage to sustain the force</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c>
                  <a:txBody>
                    <a:bodyPr/>
                    <a:lstStyle/>
                    <a:p>
                      <a:pPr indent="0" marL="0">
                        <a:buNone/>
                      </a:pPr>
                      <a:r>
                        <a:rPr lang="en-US" sz="1000" dirty="0">
                          <a:solidFill>
                            <a:srgbClr val="5A6B72"/>
                          </a:solidFill>
                          <a:latin typeface="Calibri" pitchFamily="34" charset="0"/>
                          <a:ea typeface="Calibri" pitchFamily="34" charset="-122"/>
                          <a:cs typeface="Calibri" pitchFamily="34" charset="-120"/>
                        </a:rPr>
                        <a:t>Supply chain severed; no movement possible; comms degraded or lost</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c>
                  <a:txBody>
                    <a:bodyPr/>
                    <a:lstStyle/>
                    <a:p>
                      <a:pPr indent="0" marL="0">
                        <a:buNone/>
                      </a:pPr>
                      <a:r>
                        <a:rPr lang="en-US" sz="1000" i="1" dirty="0">
                          <a:solidFill>
                            <a:srgbClr val="5A6B72"/>
                          </a:solidFill>
                          <a:latin typeface="Calibri" pitchFamily="34" charset="0"/>
                          <a:ea typeface="Calibri" pitchFamily="34" charset="-122"/>
                          <a:cs typeface="Calibri" pitchFamily="34" charset="-120"/>
                        </a:rPr>
                        <a:t>Courage + Temperance</a:t>
                      </a:r>
                      <a:endParaRPr lang="en-US" sz="1000" dirty="0">
                        <a:latin typeface="Calibri" charset="0"/>
                        <a:ea typeface="Calibri" charset="0"/>
                        <a:cs typeface="Calibri" charset="0"/>
                      </a:endParaRPr>
                    </a:p>
                  </a:txBody>
                  <a:tcPr marL="88900" marR="88900" marT="50800" marB="50800" anchor="ctr">
                    <a:lnL w="12700" cap="flat" cmpd="sng" algn="ctr">
                      <a:solidFill>
                        <a:srgbClr val="E2E8E7"/>
                      </a:solidFill>
                      <a:prstDash val="solid"/>
                      <a:round/>
                      <a:headEnd type="none" w="med" len="med"/>
                      <a:tailEnd type="none" w="med" len="med"/>
                    </a:lnL>
                    <a:lnR w="12700" cap="flat" cmpd="sng" algn="ctr">
                      <a:solidFill>
                        <a:srgbClr val="E2E8E7"/>
                      </a:solidFill>
                      <a:prstDash val="solid"/>
                      <a:round/>
                      <a:headEnd type="none" w="med" len="med"/>
                      <a:tailEnd type="none" w="med" len="med"/>
                    </a:lnR>
                    <a:lnT w="12700" cap="flat" cmpd="sng" algn="ctr">
                      <a:solidFill>
                        <a:srgbClr val="E2E8E7"/>
                      </a:solidFill>
                      <a:prstDash val="solid"/>
                      <a:round/>
                      <a:headEnd type="none" w="med" len="med"/>
                      <a:tailEnd type="none" w="med" len="med"/>
                    </a:lnT>
                    <a:lnB w="12700" cap="flat" cmpd="sng" algn="ctr">
                      <a:solidFill>
                        <a:srgbClr val="E2E8E7"/>
                      </a:solidFill>
                      <a:prstDash val="solid"/>
                      <a:round/>
                      <a:headEnd type="none" w="med" len="med"/>
                      <a:tailEnd type="none" w="med" len="med"/>
                    </a:lnB>
                    <a:solidFill>
                      <a:srgbClr val="FFFFFF"/>
                    </a:solidFill>
                  </a:tcPr>
                </a:tc>
              </a:tr>
            </a:tbl>
          </a:graphicData>
        </a:graphic>
      </p:graphicFrame>
      <p:sp>
        <p:nvSpPr>
          <p:cNvPr id="10" name="Text 7"/>
          <p:cNvSpPr/>
          <p:nvPr/>
        </p:nvSpPr>
        <p:spPr>
          <a:xfrm>
            <a:off x="566928" y="6382512"/>
            <a:ext cx="10515600" cy="219456"/>
          </a:xfrm>
          <a:prstGeom prst="rect">
            <a:avLst/>
          </a:prstGeom>
          <a:noFill/>
          <a:ln/>
        </p:spPr>
        <p:txBody>
          <a:bodyPr wrap="square" lIns="0" tIns="0" rIns="0" bIns="0" rtlCol="0" anchor="ctr"/>
          <a:lstStyle/>
          <a:p>
            <a:pPr indent="0" marL="0">
              <a:buNone/>
            </a:pPr>
            <a:r>
              <a:rPr lang="en-US" sz="900" i="1" dirty="0">
                <a:solidFill>
                  <a:srgbClr val="C9D6DB"/>
                </a:solidFill>
                <a:latin typeface="Calibri" pitchFamily="34" charset="0"/>
                <a:ea typeface="Calibri" pitchFamily="34" charset="-122"/>
                <a:cs typeface="Calibri" pitchFamily="34" charset="-120"/>
              </a:rPr>
              <a:t>Source: CSC PACE one-pager v2 (09 May 2026). Co-authors: Dan Hanfling, MD and John L. Hick, MD — the architects of the civilian CSC field.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C25E3A"/>
                </a:solidFill>
                <a:latin typeface="Calibri" pitchFamily="34" charset="0"/>
                <a:ea typeface="Calibri" pitchFamily="34" charset="-122"/>
                <a:cs typeface="Calibri" pitchFamily="34" charset="-120"/>
              </a:rPr>
              <a:t>LINE OF EFFORT 2 · STATUS</a:t>
            </a:r>
            <a:endParaRPr lang="en-US" sz="1100" dirty="0"/>
          </a:p>
        </p:txBody>
      </p:sp>
      <p:sp>
        <p:nvSpPr>
          <p:cNvPr id="3" name="Text 1"/>
          <p:cNvSpPr/>
          <p:nvPr/>
        </p:nvSpPr>
        <p:spPr>
          <a:xfrm>
            <a:off x="548640" y="640080"/>
            <a:ext cx="11064240" cy="749808"/>
          </a:xfrm>
          <a:prstGeom prst="rect">
            <a:avLst/>
          </a:prstGeom>
          <a:noFill/>
          <a:ln/>
        </p:spPr>
        <p:txBody>
          <a:bodyPr wrap="square" lIns="0" tIns="0" rIns="0" bIns="0" rtlCol="0" anchor="ctr"/>
          <a:lstStyle/>
          <a:p>
            <a:pPr indent="0" marL="0">
              <a:buNone/>
            </a:pPr>
            <a:r>
              <a:rPr lang="en-US" sz="3000" b="1" dirty="0">
                <a:solidFill>
                  <a:srgbClr val="12212B"/>
                </a:solidFill>
                <a:latin typeface="Cambria" pitchFamily="34" charset="0"/>
                <a:ea typeface="Cambria" pitchFamily="34" charset="-122"/>
                <a:cs typeface="Cambria" pitchFamily="34" charset="-120"/>
              </a:rPr>
              <a:t>Path to HSOAG, October 2026</a:t>
            </a:r>
            <a:endParaRPr lang="en-US" sz="3000" dirty="0"/>
          </a:p>
        </p:txBody>
      </p:sp>
      <p:sp>
        <p:nvSpPr>
          <p:cNvPr id="4" name="Shape 2"/>
          <p:cNvSpPr/>
          <p:nvPr/>
        </p:nvSpPr>
        <p:spPr>
          <a:xfrm>
            <a:off x="566928" y="1389888"/>
            <a:ext cx="342900" cy="64008"/>
          </a:xfrm>
          <a:prstGeom prst="rect">
            <a:avLst/>
          </a:prstGeom>
          <a:solidFill>
            <a:srgbClr val="2E7D5B"/>
          </a:solidFill>
          <a:ln/>
        </p:spPr>
      </p:sp>
      <p:sp>
        <p:nvSpPr>
          <p:cNvPr id="5" name="Shape 3"/>
          <p:cNvSpPr/>
          <p:nvPr/>
        </p:nvSpPr>
        <p:spPr>
          <a:xfrm>
            <a:off x="909828" y="1389888"/>
            <a:ext cx="342900" cy="64008"/>
          </a:xfrm>
          <a:prstGeom prst="rect">
            <a:avLst/>
          </a:prstGeom>
          <a:solidFill>
            <a:srgbClr val="B8912F"/>
          </a:solidFill>
          <a:ln/>
        </p:spPr>
      </p:sp>
      <p:sp>
        <p:nvSpPr>
          <p:cNvPr id="6" name="Shape 4"/>
          <p:cNvSpPr/>
          <p:nvPr/>
        </p:nvSpPr>
        <p:spPr>
          <a:xfrm>
            <a:off x="1252728" y="1389888"/>
            <a:ext cx="342900" cy="64008"/>
          </a:xfrm>
          <a:prstGeom prst="rect">
            <a:avLst/>
          </a:prstGeom>
          <a:solidFill>
            <a:srgbClr val="C25E3A"/>
          </a:solidFill>
          <a:ln/>
        </p:spPr>
      </p:sp>
      <p:sp>
        <p:nvSpPr>
          <p:cNvPr id="7" name="Shape 5"/>
          <p:cNvSpPr/>
          <p:nvPr/>
        </p:nvSpPr>
        <p:spPr>
          <a:xfrm>
            <a:off x="1595628" y="1389888"/>
            <a:ext cx="342900" cy="64008"/>
          </a:xfrm>
          <a:prstGeom prst="rect">
            <a:avLst/>
          </a:prstGeom>
          <a:solidFill>
            <a:srgbClr val="9B2C2C"/>
          </a:solidFill>
          <a:ln/>
        </p:spPr>
      </p:sp>
      <p:sp>
        <p:nvSpPr>
          <p:cNvPr id="8" name="Shape 6"/>
          <p:cNvSpPr/>
          <p:nvPr/>
        </p:nvSpPr>
        <p:spPr>
          <a:xfrm>
            <a:off x="566928" y="1783080"/>
            <a:ext cx="5257800" cy="2697480"/>
          </a:xfrm>
          <a:prstGeom prst="roundRect">
            <a:avLst>
              <a:gd name="adj" fmla="val 2034"/>
            </a:avLst>
          </a:prstGeom>
          <a:solidFill>
            <a:srgbClr val="F2F5F4"/>
          </a:solidFill>
          <a:ln w="12700">
            <a:solidFill>
              <a:srgbClr val="F2F5F4"/>
            </a:solidFill>
            <a:prstDash val="solid"/>
          </a:ln>
        </p:spPr>
      </p:sp>
      <p:sp>
        <p:nvSpPr>
          <p:cNvPr id="9" name="Text 7"/>
          <p:cNvSpPr/>
          <p:nvPr/>
        </p:nvSpPr>
        <p:spPr>
          <a:xfrm>
            <a:off x="841248" y="2039112"/>
            <a:ext cx="4709160" cy="365760"/>
          </a:xfrm>
          <a:prstGeom prst="rect">
            <a:avLst/>
          </a:prstGeom>
          <a:noFill/>
          <a:ln/>
        </p:spPr>
        <p:txBody>
          <a:bodyPr wrap="square" lIns="0" tIns="0" rIns="0" bIns="0" rtlCol="0" anchor="ctr"/>
          <a:lstStyle/>
          <a:p>
            <a:pPr indent="0" marL="0">
              <a:buNone/>
            </a:pPr>
            <a:r>
              <a:rPr lang="en-US" sz="1600" b="1" dirty="0">
                <a:solidFill>
                  <a:srgbClr val="1C5D66"/>
                </a:solidFill>
                <a:latin typeface="Cambria" pitchFamily="34" charset="0"/>
                <a:ea typeface="Cambria" pitchFamily="34" charset="-122"/>
                <a:cs typeface="Cambria" pitchFamily="34" charset="-120"/>
              </a:rPr>
              <a:t>Confirmed</a:t>
            </a:r>
            <a:endParaRPr lang="en-US" sz="1600" dirty="0"/>
          </a:p>
        </p:txBody>
      </p:sp>
      <p:sp>
        <p:nvSpPr>
          <p:cNvPr id="10" name="Text 8"/>
          <p:cNvSpPr/>
          <p:nvPr/>
        </p:nvSpPr>
        <p:spPr>
          <a:xfrm>
            <a:off x="841248" y="2496312"/>
            <a:ext cx="4709160" cy="173736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5A6B72"/>
                </a:solidFill>
                <a:latin typeface="Calibri" pitchFamily="34" charset="0"/>
                <a:ea typeface="Calibri" pitchFamily="34" charset="-122"/>
                <a:cs typeface="Calibri" pitchFamily="34" charset="-120"/>
              </a:rPr>
              <a:t>Three-imperative thesis (operational / moral / ethical)</a:t>
            </a:r>
            <a:endParaRPr lang="en-US" sz="1150" dirty="0"/>
          </a:p>
          <a:p>
            <a:pPr marL="342900" indent="-342900">
              <a:spcAft>
                <a:spcPts val="500"/>
              </a:spcAft>
              <a:buSzPct val="100000"/>
              <a:buChar char="•"/>
            </a:pPr>
            <a:r>
              <a:rPr lang="en-US" sz="1150" dirty="0">
                <a:solidFill>
                  <a:srgbClr val="5A6B72"/>
                </a:solidFill>
                <a:latin typeface="Calibri" pitchFamily="34" charset="0"/>
                <a:ea typeface="Calibri" pitchFamily="34" charset="-122"/>
                <a:cs typeface="Calibri" pitchFamily="34" charset="-120"/>
              </a:rPr>
              <a:t>Co-authors secured — Hanfling and Hick</a:t>
            </a:r>
            <a:endParaRPr lang="en-US" sz="1150" dirty="0"/>
          </a:p>
          <a:p>
            <a:pPr marL="342900" indent="-342900">
              <a:spcAft>
                <a:spcPts val="500"/>
              </a:spcAft>
              <a:buSzPct val="100000"/>
              <a:buChar char="•"/>
            </a:pPr>
            <a:r>
              <a:rPr lang="en-US" sz="1150" dirty="0">
                <a:solidFill>
                  <a:srgbClr val="5A6B72"/>
                </a:solidFill>
                <a:latin typeface="Calibri" pitchFamily="34" charset="0"/>
                <a:ea typeface="Calibri" pitchFamily="34" charset="-122"/>
                <a:cs typeface="Calibri" pitchFamily="34" charset="-120"/>
              </a:rPr>
              <a:t>PACE → JTS CPG → virtue-ethics mapping complete</a:t>
            </a:r>
            <a:endParaRPr lang="en-US" sz="1150" dirty="0"/>
          </a:p>
          <a:p>
            <a:pPr marL="342900" indent="-342900">
              <a:spcAft>
                <a:spcPts val="500"/>
              </a:spcAft>
              <a:buSzPct val="100000"/>
              <a:buChar char="•"/>
            </a:pPr>
            <a:r>
              <a:rPr lang="en-US" sz="1150" dirty="0">
                <a:solidFill>
                  <a:srgbClr val="5A6B72"/>
                </a:solidFill>
                <a:latin typeface="Calibri" pitchFamily="34" charset="0"/>
                <a:ea typeface="Calibri" pitchFamily="34" charset="-122"/>
                <a:cs typeface="Calibri" pitchFamily="34" charset="-120"/>
              </a:rPr>
              <a:t>Rev 3 outline complete; ~30–35 references staged</a:t>
            </a:r>
            <a:endParaRPr lang="en-US" sz="1150" dirty="0"/>
          </a:p>
          <a:p>
            <a:pPr marL="342900" indent="-342900">
              <a:spcAft>
                <a:spcPts val="500"/>
              </a:spcAft>
              <a:buSzPct val="100000"/>
              <a:buChar char="•"/>
            </a:pPr>
            <a:r>
              <a:rPr lang="en-US" sz="1150" dirty="0">
                <a:solidFill>
                  <a:srgbClr val="5A6B72"/>
                </a:solidFill>
                <a:latin typeface="Calibri" pitchFamily="34" charset="0"/>
                <a:ea typeface="Calibri" pitchFamily="34" charset="-122"/>
                <a:cs typeface="Calibri" pitchFamily="34" charset="-120"/>
              </a:rPr>
              <a:t>Worked vignette drafted; one-pager in circulation</a:t>
            </a:r>
            <a:endParaRPr lang="en-US" sz="1150" dirty="0"/>
          </a:p>
          <a:p>
            <a:pPr marL="342900" indent="-342900">
              <a:spcAft>
                <a:spcPts val="500"/>
              </a:spcAft>
              <a:buSzPct val="100000"/>
              <a:buChar char="•"/>
            </a:pPr>
            <a:r>
              <a:rPr lang="en-US" sz="1150" dirty="0">
                <a:solidFill>
                  <a:srgbClr val="5A6B72"/>
                </a:solidFill>
                <a:latin typeface="Calibri" pitchFamily="34" charset="0"/>
                <a:ea typeface="Calibri" pitchFamily="34" charset="-122"/>
                <a:cs typeface="Calibri" pitchFamily="34" charset="-120"/>
              </a:rPr>
              <a:t>MAVEN / MedCOP institutional hook identified</a:t>
            </a:r>
            <a:endParaRPr lang="en-US" sz="1150" dirty="0"/>
          </a:p>
        </p:txBody>
      </p:sp>
      <p:sp>
        <p:nvSpPr>
          <p:cNvPr id="11" name="Text 9"/>
          <p:cNvSpPr/>
          <p:nvPr/>
        </p:nvSpPr>
        <p:spPr>
          <a:xfrm>
            <a:off x="6199632" y="2039112"/>
            <a:ext cx="5248656" cy="219456"/>
          </a:xfrm>
          <a:prstGeom prst="rect">
            <a:avLst/>
          </a:prstGeom>
          <a:noFill/>
          <a:ln/>
        </p:spPr>
        <p:txBody>
          <a:bodyPr wrap="square" lIns="0" tIns="0" rIns="0" bIns="0" rtlCol="0" anchor="ctr"/>
          <a:lstStyle/>
          <a:p>
            <a:pPr indent="0" marL="0">
              <a:buNone/>
            </a:pPr>
            <a:r>
              <a:rPr lang="en-US" sz="1000" b="1" spc="140" kern="0" dirty="0">
                <a:solidFill>
                  <a:srgbClr val="C25E3A"/>
                </a:solidFill>
                <a:latin typeface="Calibri" pitchFamily="34" charset="0"/>
                <a:ea typeface="Calibri" pitchFamily="34" charset="-122"/>
                <a:cs typeface="Calibri" pitchFamily="34" charset="-120"/>
              </a:rPr>
              <a:t>MILESTONES</a:t>
            </a:r>
            <a:endParaRPr lang="en-US" sz="1000" dirty="0"/>
          </a:p>
        </p:txBody>
      </p:sp>
      <p:sp>
        <p:nvSpPr>
          <p:cNvPr id="12" name="Shape 10"/>
          <p:cNvSpPr/>
          <p:nvPr/>
        </p:nvSpPr>
        <p:spPr>
          <a:xfrm>
            <a:off x="6199632" y="2478024"/>
            <a:ext cx="128016" cy="128016"/>
          </a:xfrm>
          <a:prstGeom prst="ellipse">
            <a:avLst/>
          </a:prstGeom>
          <a:solidFill>
            <a:srgbClr val="7FA99B"/>
          </a:solidFill>
          <a:ln/>
        </p:spPr>
      </p:sp>
      <p:sp>
        <p:nvSpPr>
          <p:cNvPr id="13" name="Text 11"/>
          <p:cNvSpPr/>
          <p:nvPr/>
        </p:nvSpPr>
        <p:spPr>
          <a:xfrm>
            <a:off x="6473952" y="2395728"/>
            <a:ext cx="1371600" cy="292608"/>
          </a:xfrm>
          <a:prstGeom prst="rect">
            <a:avLst/>
          </a:prstGeom>
          <a:noFill/>
          <a:ln/>
        </p:spPr>
        <p:txBody>
          <a:bodyPr wrap="square" lIns="0" tIns="0" rIns="0" bIns="0" rtlCol="0" anchor="ctr"/>
          <a:lstStyle/>
          <a:p>
            <a:pPr indent="0" marL="0">
              <a:buNone/>
            </a:pPr>
            <a:r>
              <a:rPr lang="en-US" sz="1100" b="1" dirty="0">
                <a:solidFill>
                  <a:srgbClr val="12212B"/>
                </a:solidFill>
                <a:latin typeface="Calibri" pitchFamily="34" charset="0"/>
                <a:ea typeface="Calibri" pitchFamily="34" charset="-122"/>
                <a:cs typeface="Calibri" pitchFamily="34" charset="-120"/>
              </a:rPr>
              <a:t>Late Jun 2026</a:t>
            </a:r>
            <a:endParaRPr lang="en-US" sz="1100" dirty="0"/>
          </a:p>
        </p:txBody>
      </p:sp>
      <p:sp>
        <p:nvSpPr>
          <p:cNvPr id="14" name="Text 12"/>
          <p:cNvSpPr/>
          <p:nvPr/>
        </p:nvSpPr>
        <p:spPr>
          <a:xfrm>
            <a:off x="7863840" y="2395728"/>
            <a:ext cx="3584448" cy="292608"/>
          </a:xfrm>
          <a:prstGeom prst="rect">
            <a:avLst/>
          </a:prstGeom>
          <a:noFill/>
          <a:ln/>
        </p:spPr>
        <p:txBody>
          <a:bodyPr wrap="square" lIns="0" tIns="0" rIns="0" bIns="0" rtlCol="0" anchor="ctr"/>
          <a:lstStyle/>
          <a:p>
            <a:pPr indent="0" marL="0">
              <a:buNone/>
            </a:pPr>
            <a:r>
              <a:rPr lang="en-US" sz="1100" dirty="0">
                <a:solidFill>
                  <a:srgbClr val="5A6B72"/>
                </a:solidFill>
                <a:latin typeface="Calibri" pitchFamily="34" charset="0"/>
                <a:ea typeface="Calibri" pitchFamily="34" charset="-122"/>
                <a:cs typeface="Calibri" pitchFamily="34" charset="-120"/>
              </a:rPr>
              <a:t>Military Medicine Perspective submitted</a:t>
            </a:r>
            <a:endParaRPr lang="en-US" sz="1100" dirty="0"/>
          </a:p>
        </p:txBody>
      </p:sp>
      <p:sp>
        <p:nvSpPr>
          <p:cNvPr id="15" name="Shape 13"/>
          <p:cNvSpPr/>
          <p:nvPr/>
        </p:nvSpPr>
        <p:spPr>
          <a:xfrm>
            <a:off x="6199632" y="3008376"/>
            <a:ext cx="128016" cy="128016"/>
          </a:xfrm>
          <a:prstGeom prst="ellipse">
            <a:avLst/>
          </a:prstGeom>
          <a:solidFill>
            <a:srgbClr val="7FA99B"/>
          </a:solidFill>
          <a:ln/>
        </p:spPr>
      </p:sp>
      <p:sp>
        <p:nvSpPr>
          <p:cNvPr id="16" name="Text 14"/>
          <p:cNvSpPr/>
          <p:nvPr/>
        </p:nvSpPr>
        <p:spPr>
          <a:xfrm>
            <a:off x="6473952" y="2926080"/>
            <a:ext cx="1371600" cy="292608"/>
          </a:xfrm>
          <a:prstGeom prst="rect">
            <a:avLst/>
          </a:prstGeom>
          <a:noFill/>
          <a:ln/>
        </p:spPr>
        <p:txBody>
          <a:bodyPr wrap="square" lIns="0" tIns="0" rIns="0" bIns="0" rtlCol="0" anchor="ctr"/>
          <a:lstStyle/>
          <a:p>
            <a:pPr indent="0" marL="0">
              <a:buNone/>
            </a:pPr>
            <a:r>
              <a:rPr lang="en-US" sz="1100" b="1" dirty="0">
                <a:solidFill>
                  <a:srgbClr val="12212B"/>
                </a:solidFill>
                <a:latin typeface="Calibri" pitchFamily="34" charset="0"/>
                <a:ea typeface="Calibri" pitchFamily="34" charset="-122"/>
                <a:cs typeface="Calibri" pitchFamily="34" charset="-120"/>
              </a:rPr>
              <a:t>Aug 2026</a:t>
            </a:r>
            <a:endParaRPr lang="en-US" sz="1100" dirty="0"/>
          </a:p>
        </p:txBody>
      </p:sp>
      <p:sp>
        <p:nvSpPr>
          <p:cNvPr id="17" name="Text 15"/>
          <p:cNvSpPr/>
          <p:nvPr/>
        </p:nvSpPr>
        <p:spPr>
          <a:xfrm>
            <a:off x="7863840" y="2926080"/>
            <a:ext cx="3584448" cy="292608"/>
          </a:xfrm>
          <a:prstGeom prst="rect">
            <a:avLst/>
          </a:prstGeom>
          <a:noFill/>
          <a:ln/>
        </p:spPr>
        <p:txBody>
          <a:bodyPr wrap="square" lIns="0" tIns="0" rIns="0" bIns="0" rtlCol="0" anchor="ctr"/>
          <a:lstStyle/>
          <a:p>
            <a:pPr indent="0" marL="0">
              <a:buNone/>
            </a:pPr>
            <a:r>
              <a:rPr lang="en-US" sz="1100" dirty="0">
                <a:solidFill>
                  <a:srgbClr val="5A6B72"/>
                </a:solidFill>
                <a:latin typeface="Calibri" pitchFamily="34" charset="0"/>
                <a:ea typeface="Calibri" pitchFamily="34" charset="-122"/>
                <a:cs typeface="Calibri" pitchFamily="34" charset="-120"/>
              </a:rPr>
              <a:t>White paper draft v1</a:t>
            </a:r>
            <a:endParaRPr lang="en-US" sz="1100" dirty="0"/>
          </a:p>
        </p:txBody>
      </p:sp>
      <p:sp>
        <p:nvSpPr>
          <p:cNvPr id="18" name="Shape 16"/>
          <p:cNvSpPr/>
          <p:nvPr/>
        </p:nvSpPr>
        <p:spPr>
          <a:xfrm>
            <a:off x="6199632" y="3538728"/>
            <a:ext cx="128016" cy="128016"/>
          </a:xfrm>
          <a:prstGeom prst="ellipse">
            <a:avLst/>
          </a:prstGeom>
          <a:solidFill>
            <a:srgbClr val="7FA99B"/>
          </a:solidFill>
          <a:ln/>
        </p:spPr>
      </p:sp>
      <p:sp>
        <p:nvSpPr>
          <p:cNvPr id="19" name="Text 17"/>
          <p:cNvSpPr/>
          <p:nvPr/>
        </p:nvSpPr>
        <p:spPr>
          <a:xfrm>
            <a:off x="6473952" y="3456432"/>
            <a:ext cx="1371600" cy="292608"/>
          </a:xfrm>
          <a:prstGeom prst="rect">
            <a:avLst/>
          </a:prstGeom>
          <a:noFill/>
          <a:ln/>
        </p:spPr>
        <p:txBody>
          <a:bodyPr wrap="square" lIns="0" tIns="0" rIns="0" bIns="0" rtlCol="0" anchor="ctr"/>
          <a:lstStyle/>
          <a:p>
            <a:pPr indent="0" marL="0">
              <a:buNone/>
            </a:pPr>
            <a:r>
              <a:rPr lang="en-US" sz="1100" b="1" dirty="0">
                <a:solidFill>
                  <a:srgbClr val="12212B"/>
                </a:solidFill>
                <a:latin typeface="Calibri" pitchFamily="34" charset="0"/>
                <a:ea typeface="Calibri" pitchFamily="34" charset="-122"/>
                <a:cs typeface="Calibri" pitchFamily="34" charset="-120"/>
              </a:rPr>
              <a:t>Sep 2026</a:t>
            </a:r>
            <a:endParaRPr lang="en-US" sz="1100" dirty="0"/>
          </a:p>
        </p:txBody>
      </p:sp>
      <p:sp>
        <p:nvSpPr>
          <p:cNvPr id="20" name="Text 18"/>
          <p:cNvSpPr/>
          <p:nvPr/>
        </p:nvSpPr>
        <p:spPr>
          <a:xfrm>
            <a:off x="7863840" y="3456432"/>
            <a:ext cx="3584448" cy="292608"/>
          </a:xfrm>
          <a:prstGeom prst="rect">
            <a:avLst/>
          </a:prstGeom>
          <a:noFill/>
          <a:ln/>
        </p:spPr>
        <p:txBody>
          <a:bodyPr wrap="square" lIns="0" tIns="0" rIns="0" bIns="0" rtlCol="0" anchor="ctr"/>
          <a:lstStyle/>
          <a:p>
            <a:pPr indent="0" marL="0">
              <a:buNone/>
            </a:pPr>
            <a:r>
              <a:rPr lang="en-US" sz="1100" dirty="0">
                <a:solidFill>
                  <a:srgbClr val="5A6B72"/>
                </a:solidFill>
                <a:latin typeface="Calibri" pitchFamily="34" charset="0"/>
                <a:ea typeface="Calibri" pitchFamily="34" charset="-122"/>
                <a:cs typeface="Calibri" pitchFamily="34" charset="-120"/>
              </a:rPr>
              <a:t>Internal review — TMO, BUMED, JTS</a:t>
            </a:r>
            <a:endParaRPr lang="en-US" sz="1100" dirty="0"/>
          </a:p>
        </p:txBody>
      </p:sp>
      <p:sp>
        <p:nvSpPr>
          <p:cNvPr id="21" name="Shape 19"/>
          <p:cNvSpPr/>
          <p:nvPr/>
        </p:nvSpPr>
        <p:spPr>
          <a:xfrm>
            <a:off x="6199632" y="4069080"/>
            <a:ext cx="128016" cy="128016"/>
          </a:xfrm>
          <a:prstGeom prst="ellipse">
            <a:avLst/>
          </a:prstGeom>
          <a:solidFill>
            <a:srgbClr val="C25E3A"/>
          </a:solidFill>
          <a:ln/>
        </p:spPr>
      </p:sp>
      <p:sp>
        <p:nvSpPr>
          <p:cNvPr id="22" name="Text 20"/>
          <p:cNvSpPr/>
          <p:nvPr/>
        </p:nvSpPr>
        <p:spPr>
          <a:xfrm>
            <a:off x="6473952" y="3986784"/>
            <a:ext cx="1371600" cy="292608"/>
          </a:xfrm>
          <a:prstGeom prst="rect">
            <a:avLst/>
          </a:prstGeom>
          <a:noFill/>
          <a:ln/>
        </p:spPr>
        <p:txBody>
          <a:bodyPr wrap="square" lIns="0" tIns="0" rIns="0" bIns="0" rtlCol="0" anchor="ctr"/>
          <a:lstStyle/>
          <a:p>
            <a:pPr indent="0" marL="0">
              <a:buNone/>
            </a:pPr>
            <a:r>
              <a:rPr lang="en-US" sz="1100" b="1" dirty="0">
                <a:solidFill>
                  <a:srgbClr val="12212B"/>
                </a:solidFill>
                <a:latin typeface="Calibri" pitchFamily="34" charset="0"/>
                <a:ea typeface="Calibri" pitchFamily="34" charset="-122"/>
                <a:cs typeface="Calibri" pitchFamily="34" charset="-120"/>
              </a:rPr>
              <a:t>Oct 2026</a:t>
            </a:r>
            <a:endParaRPr lang="en-US" sz="1100" dirty="0"/>
          </a:p>
        </p:txBody>
      </p:sp>
      <p:sp>
        <p:nvSpPr>
          <p:cNvPr id="23" name="Text 21"/>
          <p:cNvSpPr/>
          <p:nvPr/>
        </p:nvSpPr>
        <p:spPr>
          <a:xfrm>
            <a:off x="7863840" y="3986784"/>
            <a:ext cx="3584448" cy="292608"/>
          </a:xfrm>
          <a:prstGeom prst="rect">
            <a:avLst/>
          </a:prstGeom>
          <a:noFill/>
          <a:ln/>
        </p:spPr>
        <p:txBody>
          <a:bodyPr wrap="square" lIns="0" tIns="0" rIns="0" bIns="0" rtlCol="0" anchor="ctr"/>
          <a:lstStyle/>
          <a:p>
            <a:pPr indent="0" marL="0">
              <a:buNone/>
            </a:pPr>
            <a:r>
              <a:rPr lang="en-US" sz="1100" dirty="0">
                <a:solidFill>
                  <a:srgbClr val="5A6B72"/>
                </a:solidFill>
                <a:latin typeface="Calibri" pitchFamily="34" charset="0"/>
                <a:ea typeface="Calibri" pitchFamily="34" charset="-122"/>
                <a:cs typeface="Calibri" pitchFamily="34" charset="-120"/>
              </a:rPr>
              <a:t>White paper delivered to HSOAG</a:t>
            </a:r>
            <a:endParaRPr lang="en-US" sz="1100" dirty="0"/>
          </a:p>
        </p:txBody>
      </p:sp>
      <p:sp>
        <p:nvSpPr>
          <p:cNvPr id="24" name="Shape 22"/>
          <p:cNvSpPr/>
          <p:nvPr/>
        </p:nvSpPr>
        <p:spPr>
          <a:xfrm>
            <a:off x="566928" y="4736592"/>
            <a:ext cx="10881360" cy="1234440"/>
          </a:xfrm>
          <a:prstGeom prst="roundRect">
            <a:avLst>
              <a:gd name="adj" fmla="val 3704"/>
            </a:avLst>
          </a:prstGeom>
          <a:solidFill>
            <a:srgbClr val="FDF3EE"/>
          </a:solidFill>
          <a:ln w="12700">
            <a:solidFill>
              <a:srgbClr val="C25E3A"/>
            </a:solidFill>
            <a:prstDash val="solid"/>
          </a:ln>
        </p:spPr>
      </p:sp>
      <p:sp>
        <p:nvSpPr>
          <p:cNvPr id="25" name="Text 23"/>
          <p:cNvSpPr/>
          <p:nvPr/>
        </p:nvSpPr>
        <p:spPr>
          <a:xfrm>
            <a:off x="914400" y="4736592"/>
            <a:ext cx="10149840" cy="1234440"/>
          </a:xfrm>
          <a:prstGeom prst="rect">
            <a:avLst/>
          </a:prstGeom>
          <a:noFill/>
          <a:ln/>
        </p:spPr>
        <p:txBody>
          <a:bodyPr wrap="square" lIns="0" tIns="0" rIns="0" bIns="0" rtlCol="0" anchor="ctr"/>
          <a:lstStyle/>
          <a:p>
            <a:pPr indent="0" marL="0">
              <a:lnSpc>
                <a:spcPts val="1800"/>
              </a:lnSpc>
              <a:buNone/>
            </a:pPr>
            <a:r>
              <a:rPr lang="en-US" sz="1250" b="1" dirty="0">
                <a:solidFill>
                  <a:srgbClr val="C25E3A"/>
                </a:solidFill>
                <a:latin typeface="Calibri" pitchFamily="34" charset="0"/>
                <a:ea typeface="Calibri" pitchFamily="34" charset="-122"/>
                <a:cs typeface="Calibri" pitchFamily="34" charset="-120"/>
              </a:rPr>
              <a:t>Critical path risk.  </a:t>
            </a:r>
            <a:pPr indent="0" marL="0">
              <a:lnSpc>
                <a:spcPts val="1800"/>
              </a:lnSpc>
              <a:buNone/>
            </a:pPr>
            <a:r>
              <a:rPr lang="en-US" sz="1250" dirty="0">
                <a:solidFill>
                  <a:srgbClr val="5A6B72"/>
                </a:solidFill>
                <a:latin typeface="Calibri" pitchFamily="34" charset="0"/>
                <a:ea typeface="Calibri" pitchFamily="34" charset="-122"/>
                <a:cs typeface="Calibri" pitchFamily="34" charset="-120"/>
              </a:rPr>
              <a:t>Military Medicine review-to-publication for Perspectives typically runs 4–8 months. Submission by late June is required for “in press” status by the October HSOAG.  </a:t>
            </a:r>
            <a:pPr indent="0" marL="0">
              <a:lnSpc>
                <a:spcPts val="1800"/>
              </a:lnSpc>
              <a:buNone/>
            </a:pPr>
            <a:r>
              <a:rPr lang="en-US" sz="1250" b="1" dirty="0">
                <a:solidFill>
                  <a:srgbClr val="12212B"/>
                </a:solidFill>
                <a:latin typeface="Calibri" pitchFamily="34" charset="0"/>
                <a:ea typeface="Calibri" pitchFamily="34" charset="-122"/>
                <a:cs typeface="Calibri" pitchFamily="34" charset="-120"/>
              </a:rPr>
              <a:t>Decision needed: does “accepted / in press” suffice for TMO, or is full publication required?</a:t>
            </a:r>
            <a:endParaRPr lang="en-US" sz="1250" dirty="0"/>
          </a:p>
        </p:txBody>
      </p:sp>
      <p:sp>
        <p:nvSpPr>
          <p:cNvPr id="26" name="Text 24"/>
          <p:cNvSpPr/>
          <p:nvPr/>
        </p:nvSpPr>
        <p:spPr>
          <a:xfrm>
            <a:off x="566928" y="6382512"/>
            <a:ext cx="10515600" cy="219456"/>
          </a:xfrm>
          <a:prstGeom prst="rect">
            <a:avLst/>
          </a:prstGeom>
          <a:noFill/>
          <a:ln/>
        </p:spPr>
        <p:txBody>
          <a:bodyPr wrap="square" lIns="0" tIns="0" rIns="0" bIns="0" rtlCol="0" anchor="ctr"/>
          <a:lstStyle/>
          <a:p>
            <a:pPr indent="0" marL="0">
              <a:buNone/>
            </a:pPr>
            <a:r>
              <a:rPr lang="en-US" sz="900" i="1" dirty="0">
                <a:solidFill>
                  <a:srgbClr val="C9D6DB"/>
                </a:solidFill>
                <a:latin typeface="Calibri" pitchFamily="34" charset="0"/>
                <a:ea typeface="Calibri" pitchFamily="34" charset="-122"/>
                <a:cs typeface="Calibri" pitchFamily="34" charset="-120"/>
              </a:rPr>
              <a:t>Recipient: DC I&amp;L via The Medical Officer of the Marine Corps. CSC adoption is a logistics and resource-allocation policy decision.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C25E3A"/>
                </a:solidFill>
                <a:latin typeface="Calibri" pitchFamily="34" charset="0"/>
                <a:ea typeface="Calibri" pitchFamily="34" charset="-122"/>
                <a:cs typeface="Calibri" pitchFamily="34" charset="-120"/>
              </a:rPr>
              <a:t>LINE OF EFFORT 3</a:t>
            </a:r>
            <a:endParaRPr lang="en-US" sz="1100" dirty="0"/>
          </a:p>
        </p:txBody>
      </p:sp>
      <p:sp>
        <p:nvSpPr>
          <p:cNvPr id="3" name="Text 1"/>
          <p:cNvSpPr/>
          <p:nvPr/>
        </p:nvSpPr>
        <p:spPr>
          <a:xfrm>
            <a:off x="548640" y="640080"/>
            <a:ext cx="11064240" cy="749808"/>
          </a:xfrm>
          <a:prstGeom prst="rect">
            <a:avLst/>
          </a:prstGeom>
          <a:noFill/>
          <a:ln/>
        </p:spPr>
        <p:txBody>
          <a:bodyPr wrap="square" lIns="0" tIns="0" rIns="0" bIns="0" rtlCol="0" anchor="ctr"/>
          <a:lstStyle/>
          <a:p>
            <a:pPr indent="0" marL="0">
              <a:buNone/>
            </a:pPr>
            <a:r>
              <a:rPr lang="en-US" sz="3000" b="1" dirty="0">
                <a:solidFill>
                  <a:srgbClr val="12212B"/>
                </a:solidFill>
                <a:latin typeface="Cambria" pitchFamily="34" charset="0"/>
                <a:ea typeface="Cambria" pitchFamily="34" charset="-122"/>
                <a:cs typeface="Cambria" pitchFamily="34" charset="-120"/>
              </a:rPr>
              <a:t>Testing the configuration before it deploys</a:t>
            </a:r>
            <a:endParaRPr lang="en-US" sz="3000" dirty="0"/>
          </a:p>
        </p:txBody>
      </p:sp>
      <p:sp>
        <p:nvSpPr>
          <p:cNvPr id="4" name="Shape 2"/>
          <p:cNvSpPr/>
          <p:nvPr/>
        </p:nvSpPr>
        <p:spPr>
          <a:xfrm>
            <a:off x="566928" y="1389888"/>
            <a:ext cx="342900" cy="64008"/>
          </a:xfrm>
          <a:prstGeom prst="rect">
            <a:avLst/>
          </a:prstGeom>
          <a:solidFill>
            <a:srgbClr val="2E7D5B"/>
          </a:solidFill>
          <a:ln/>
        </p:spPr>
      </p:sp>
      <p:sp>
        <p:nvSpPr>
          <p:cNvPr id="5" name="Shape 3"/>
          <p:cNvSpPr/>
          <p:nvPr/>
        </p:nvSpPr>
        <p:spPr>
          <a:xfrm>
            <a:off x="909828" y="1389888"/>
            <a:ext cx="342900" cy="64008"/>
          </a:xfrm>
          <a:prstGeom prst="rect">
            <a:avLst/>
          </a:prstGeom>
          <a:solidFill>
            <a:srgbClr val="B8912F"/>
          </a:solidFill>
          <a:ln/>
        </p:spPr>
      </p:sp>
      <p:sp>
        <p:nvSpPr>
          <p:cNvPr id="6" name="Shape 4"/>
          <p:cNvSpPr/>
          <p:nvPr/>
        </p:nvSpPr>
        <p:spPr>
          <a:xfrm>
            <a:off x="1252728" y="1389888"/>
            <a:ext cx="342900" cy="64008"/>
          </a:xfrm>
          <a:prstGeom prst="rect">
            <a:avLst/>
          </a:prstGeom>
          <a:solidFill>
            <a:srgbClr val="C25E3A"/>
          </a:solidFill>
          <a:ln/>
        </p:spPr>
      </p:sp>
      <p:sp>
        <p:nvSpPr>
          <p:cNvPr id="7" name="Shape 5"/>
          <p:cNvSpPr/>
          <p:nvPr/>
        </p:nvSpPr>
        <p:spPr>
          <a:xfrm>
            <a:off x="1595628" y="1389888"/>
            <a:ext cx="342900" cy="64008"/>
          </a:xfrm>
          <a:prstGeom prst="rect">
            <a:avLst/>
          </a:prstGeom>
          <a:solidFill>
            <a:srgbClr val="9B2C2C"/>
          </a:solidFill>
          <a:ln/>
        </p:spPr>
      </p:sp>
      <p:sp>
        <p:nvSpPr>
          <p:cNvPr id="8" name="Text 6"/>
          <p:cNvSpPr/>
          <p:nvPr/>
        </p:nvSpPr>
        <p:spPr>
          <a:xfrm>
            <a:off x="566928" y="1664208"/>
            <a:ext cx="5943600" cy="1051560"/>
          </a:xfrm>
          <a:prstGeom prst="rect">
            <a:avLst/>
          </a:prstGeom>
          <a:noFill/>
          <a:ln/>
        </p:spPr>
        <p:txBody>
          <a:bodyPr wrap="square" lIns="0" tIns="0" rIns="0" bIns="0" rtlCol="0" anchor="ctr"/>
          <a:lstStyle/>
          <a:p>
            <a:pPr indent="0" marL="0">
              <a:lnSpc>
                <a:spcPts val="1800"/>
              </a:lnSpc>
              <a:buNone/>
            </a:pPr>
            <a:r>
              <a:rPr lang="en-US" sz="1250" dirty="0">
                <a:solidFill>
                  <a:srgbClr val="5A6B72"/>
                </a:solidFill>
                <a:latin typeface="Calibri" pitchFamily="34" charset="0"/>
                <a:ea typeface="Calibri" pitchFamily="34" charset="-122"/>
                <a:cs typeface="Calibri" pitchFamily="34" charset="-120"/>
              </a:rPr>
              <a:t>A glass-box discrete-event Monte Carlo of an integrated USMC Role 2 (STP → FRSS → Holding) under stochastic casualty flow and resource conditions. Outputs graded PACE tier distributions across a factorial sweep of configurations — the same PACE construct the CSC framework defines.</a:t>
            </a:r>
            <a:endParaRPr lang="en-US" sz="1250" dirty="0"/>
          </a:p>
        </p:txBody>
      </p:sp>
      <p:sp>
        <p:nvSpPr>
          <p:cNvPr id="9" name="Shape 7"/>
          <p:cNvSpPr/>
          <p:nvPr/>
        </p:nvSpPr>
        <p:spPr>
          <a:xfrm>
            <a:off x="566928" y="2852928"/>
            <a:ext cx="5943600" cy="960120"/>
          </a:xfrm>
          <a:prstGeom prst="roundRect">
            <a:avLst>
              <a:gd name="adj" fmla="val 5714"/>
            </a:avLst>
          </a:prstGeom>
          <a:solidFill>
            <a:srgbClr val="F2F5F4"/>
          </a:solidFill>
          <a:ln w="12700">
            <a:solidFill>
              <a:srgbClr val="F2F5F4"/>
            </a:solidFill>
            <a:prstDash val="solid"/>
          </a:ln>
        </p:spPr>
      </p:sp>
      <p:sp>
        <p:nvSpPr>
          <p:cNvPr id="10" name="Text 8"/>
          <p:cNvSpPr/>
          <p:nvPr/>
        </p:nvSpPr>
        <p:spPr>
          <a:xfrm>
            <a:off x="841248" y="3108960"/>
            <a:ext cx="5394960" cy="365760"/>
          </a:xfrm>
          <a:prstGeom prst="rect">
            <a:avLst/>
          </a:prstGeom>
          <a:noFill/>
          <a:ln/>
        </p:spPr>
        <p:txBody>
          <a:bodyPr wrap="square" lIns="0" tIns="0" rIns="0" bIns="0" rtlCol="0" anchor="ctr"/>
          <a:lstStyle/>
          <a:p>
            <a:pPr indent="0" marL="0">
              <a:buNone/>
            </a:pPr>
            <a:r>
              <a:rPr lang="en-US" sz="1300" b="1" dirty="0">
                <a:solidFill>
                  <a:srgbClr val="12212B"/>
                </a:solidFill>
                <a:latin typeface="Cambria" pitchFamily="34" charset="0"/>
                <a:ea typeface="Cambria" pitchFamily="34" charset="-122"/>
                <a:cs typeface="Cambria" pitchFamily="34" charset="-120"/>
              </a:rPr>
              <a:t>Crisis is the expected state</a:t>
            </a:r>
            <a:endParaRPr lang="en-US" sz="1300" dirty="0"/>
          </a:p>
        </p:txBody>
      </p:sp>
      <p:sp>
        <p:nvSpPr>
          <p:cNvPr id="11" name="Text 9"/>
          <p:cNvSpPr/>
          <p:nvPr/>
        </p:nvSpPr>
        <p:spPr>
          <a:xfrm>
            <a:off x="841248" y="3566160"/>
            <a:ext cx="5394960" cy="0"/>
          </a:xfrm>
          <a:prstGeom prst="rect">
            <a:avLst/>
          </a:prstGeom>
          <a:noFill/>
          <a:ln/>
        </p:spPr>
        <p:txBody>
          <a:bodyPr wrap="square" lIns="0" tIns="0" rIns="0" bIns="0" rtlCol="0" anchor="t"/>
          <a:lstStyle/>
          <a:p>
            <a:pPr indent="0" marL="0">
              <a:buNone/>
            </a:pPr>
            <a:r>
              <a:rPr lang="en-US" sz="1050" dirty="0">
                <a:solidFill>
                  <a:srgbClr val="5A6B72"/>
                </a:solidFill>
                <a:latin typeface="Calibri" pitchFamily="34" charset="0"/>
                <a:ea typeface="Calibri" pitchFamily="34" charset="-122"/>
                <a:cs typeface="Calibri" pitchFamily="34" charset="-120"/>
              </a:rPr>
              <a:t>Not the exception — the numerically expected operating state of a Role 2 in LSCO.</a:t>
            </a:r>
            <a:endParaRPr lang="en-US" sz="1050" dirty="0"/>
          </a:p>
        </p:txBody>
      </p:sp>
      <p:sp>
        <p:nvSpPr>
          <p:cNvPr id="12" name="Shape 10"/>
          <p:cNvSpPr/>
          <p:nvPr/>
        </p:nvSpPr>
        <p:spPr>
          <a:xfrm>
            <a:off x="566928" y="3931920"/>
            <a:ext cx="5943600" cy="960120"/>
          </a:xfrm>
          <a:prstGeom prst="roundRect">
            <a:avLst>
              <a:gd name="adj" fmla="val 5714"/>
            </a:avLst>
          </a:prstGeom>
          <a:solidFill>
            <a:srgbClr val="F2F5F4"/>
          </a:solidFill>
          <a:ln w="12700">
            <a:solidFill>
              <a:srgbClr val="F2F5F4"/>
            </a:solidFill>
            <a:prstDash val="solid"/>
          </a:ln>
        </p:spPr>
      </p:sp>
      <p:sp>
        <p:nvSpPr>
          <p:cNvPr id="13" name="Text 11"/>
          <p:cNvSpPr/>
          <p:nvPr/>
        </p:nvSpPr>
        <p:spPr>
          <a:xfrm>
            <a:off x="841248" y="4187952"/>
            <a:ext cx="5394960" cy="365760"/>
          </a:xfrm>
          <a:prstGeom prst="rect">
            <a:avLst/>
          </a:prstGeom>
          <a:noFill/>
          <a:ln/>
        </p:spPr>
        <p:txBody>
          <a:bodyPr wrap="square" lIns="0" tIns="0" rIns="0" bIns="0" rtlCol="0" anchor="ctr"/>
          <a:lstStyle/>
          <a:p>
            <a:pPr indent="0" marL="0">
              <a:buNone/>
            </a:pPr>
            <a:r>
              <a:rPr lang="en-US" sz="1300" b="1" dirty="0">
                <a:solidFill>
                  <a:srgbClr val="12212B"/>
                </a:solidFill>
                <a:latin typeface="Cambria" pitchFamily="34" charset="0"/>
                <a:ea typeface="Cambria" pitchFamily="34" charset="-122"/>
                <a:cs typeface="Cambria" pitchFamily="34" charset="-120"/>
              </a:rPr>
              <a:t>The top lever is a re-slate, not a buy</a:t>
            </a:r>
            <a:endParaRPr lang="en-US" sz="1300" dirty="0"/>
          </a:p>
        </p:txBody>
      </p:sp>
      <p:sp>
        <p:nvSpPr>
          <p:cNvPr id="14" name="Text 12"/>
          <p:cNvSpPr/>
          <p:nvPr/>
        </p:nvSpPr>
        <p:spPr>
          <a:xfrm>
            <a:off x="841248" y="4645152"/>
            <a:ext cx="5394960" cy="0"/>
          </a:xfrm>
          <a:prstGeom prst="rect">
            <a:avLst/>
          </a:prstGeom>
          <a:noFill/>
          <a:ln/>
        </p:spPr>
        <p:txBody>
          <a:bodyPr wrap="square" lIns="0" tIns="0" rIns="0" bIns="0" rtlCol="0" anchor="t"/>
          <a:lstStyle/>
          <a:p>
            <a:pPr indent="0" marL="0">
              <a:buNone/>
            </a:pPr>
            <a:r>
              <a:rPr lang="en-US" sz="1050" dirty="0">
                <a:solidFill>
                  <a:srgbClr val="5A6B72"/>
                </a:solidFill>
                <a:latin typeface="Calibri" pitchFamily="34" charset="0"/>
                <a:ea typeface="Calibri" pitchFamily="34" charset="-122"/>
                <a:cs typeface="Calibri" pitchFamily="34" charset="-120"/>
              </a:rPr>
              <a:t>Holding-OIC → intensivist re-slate: −1.80 DOW per scenario (9.7% of LSCO baseline), edging out +50% MEDEVAC slots.</a:t>
            </a:r>
            <a:endParaRPr lang="en-US" sz="1050" dirty="0"/>
          </a:p>
        </p:txBody>
      </p:sp>
      <p:sp>
        <p:nvSpPr>
          <p:cNvPr id="15" name="Shape 13"/>
          <p:cNvSpPr/>
          <p:nvPr/>
        </p:nvSpPr>
        <p:spPr>
          <a:xfrm>
            <a:off x="566928" y="5010912"/>
            <a:ext cx="5943600" cy="960120"/>
          </a:xfrm>
          <a:prstGeom prst="roundRect">
            <a:avLst>
              <a:gd name="adj" fmla="val 5714"/>
            </a:avLst>
          </a:prstGeom>
          <a:solidFill>
            <a:srgbClr val="F2F5F4"/>
          </a:solidFill>
          <a:ln w="12700">
            <a:solidFill>
              <a:srgbClr val="F2F5F4"/>
            </a:solidFill>
            <a:prstDash val="solid"/>
          </a:ln>
        </p:spPr>
      </p:sp>
      <p:sp>
        <p:nvSpPr>
          <p:cNvPr id="16" name="Text 14"/>
          <p:cNvSpPr/>
          <p:nvPr/>
        </p:nvSpPr>
        <p:spPr>
          <a:xfrm>
            <a:off x="841248" y="5266944"/>
            <a:ext cx="5394960" cy="365760"/>
          </a:xfrm>
          <a:prstGeom prst="rect">
            <a:avLst/>
          </a:prstGeom>
          <a:noFill/>
          <a:ln/>
        </p:spPr>
        <p:txBody>
          <a:bodyPr wrap="square" lIns="0" tIns="0" rIns="0" bIns="0" rtlCol="0" anchor="ctr"/>
          <a:lstStyle/>
          <a:p>
            <a:pPr indent="0" marL="0">
              <a:buNone/>
            </a:pPr>
            <a:r>
              <a:rPr lang="en-US" sz="1300" b="1" dirty="0">
                <a:solidFill>
                  <a:srgbClr val="12212B"/>
                </a:solidFill>
                <a:latin typeface="Cambria" pitchFamily="34" charset="0"/>
                <a:ea typeface="Cambria" pitchFamily="34" charset="-122"/>
                <a:cs typeface="Cambria" pitchFamily="34" charset="-120"/>
              </a:rPr>
              <a:t>The constraint is downstream of surgery</a:t>
            </a:r>
            <a:endParaRPr lang="en-US" sz="1300" dirty="0"/>
          </a:p>
        </p:txBody>
      </p:sp>
      <p:sp>
        <p:nvSpPr>
          <p:cNvPr id="17" name="Text 15"/>
          <p:cNvSpPr/>
          <p:nvPr/>
        </p:nvSpPr>
        <p:spPr>
          <a:xfrm>
            <a:off x="841248" y="5724144"/>
            <a:ext cx="5394960" cy="0"/>
          </a:xfrm>
          <a:prstGeom prst="rect">
            <a:avLst/>
          </a:prstGeom>
          <a:noFill/>
          <a:ln/>
        </p:spPr>
        <p:txBody>
          <a:bodyPr wrap="square" lIns="0" tIns="0" rIns="0" bIns="0" rtlCol="0" anchor="t"/>
          <a:lstStyle/>
          <a:p>
            <a:pPr indent="0" marL="0">
              <a:buNone/>
            </a:pPr>
            <a:r>
              <a:rPr lang="en-US" sz="1050" dirty="0">
                <a:solidFill>
                  <a:srgbClr val="5A6B72"/>
                </a:solidFill>
                <a:latin typeface="Calibri" pitchFamily="34" charset="0"/>
                <a:ea typeface="Calibri" pitchFamily="34" charset="-122"/>
                <a:cs typeface="Calibri" pitchFamily="34" charset="-120"/>
              </a:rPr>
              <a:t>Evacuation and holding critical care bind — not surgical capacity.</a:t>
            </a:r>
            <a:endParaRPr lang="en-US" sz="1050" dirty="0"/>
          </a:p>
        </p:txBody>
      </p:sp>
      <p:pic>
        <p:nvPicPr>
          <p:cNvPr id="18" name="Image 0" descr="/home/user/Measure-Dx-Genesis/brief/assets/wp_fig1_tier_by_archetype.png">    </p:cNvPr>
          <p:cNvPicPr>
            <a:picLocks noChangeAspect="1"/>
          </p:cNvPicPr>
          <p:nvPr/>
        </p:nvPicPr>
        <p:blipFill>
          <a:blip r:embed="rId1"/>
          <a:stretch>
            <a:fillRect/>
          </a:stretch>
        </p:blipFill>
        <p:spPr>
          <a:xfrm>
            <a:off x="6784848" y="1874520"/>
            <a:ext cx="4663440" cy="2587752"/>
          </a:xfrm>
          <a:prstGeom prst="rect">
            <a:avLst/>
          </a:prstGeom>
        </p:spPr>
      </p:pic>
      <p:sp>
        <p:nvSpPr>
          <p:cNvPr id="19" name="Text 16"/>
          <p:cNvSpPr/>
          <p:nvPr/>
        </p:nvSpPr>
        <p:spPr>
          <a:xfrm>
            <a:off x="6784848" y="4526280"/>
            <a:ext cx="4663440" cy="237744"/>
          </a:xfrm>
          <a:prstGeom prst="rect">
            <a:avLst/>
          </a:prstGeom>
          <a:noFill/>
          <a:ln/>
        </p:spPr>
        <p:txBody>
          <a:bodyPr wrap="square" lIns="0" tIns="0" rIns="0" bIns="0" rtlCol="0" anchor="ctr"/>
          <a:lstStyle/>
          <a:p>
            <a:pPr algn="ctr" indent="0" marL="0">
              <a:buNone/>
            </a:pPr>
            <a:r>
              <a:rPr lang="en-US" sz="950" i="1" dirty="0">
                <a:solidFill>
                  <a:srgbClr val="5A6B72"/>
                </a:solidFill>
                <a:latin typeface="Calibri" pitchFamily="34" charset="0"/>
                <a:ea typeface="Calibri" pitchFamily="34" charset="-122"/>
                <a:cs typeface="Calibri" pitchFamily="34" charset="-120"/>
              </a:rPr>
              <a:t>PACE tier distribution by scenario archetype — role2-sim</a:t>
            </a:r>
            <a:endParaRPr lang="en-US" sz="950" dirty="0"/>
          </a:p>
        </p:txBody>
      </p:sp>
      <p:sp>
        <p:nvSpPr>
          <p:cNvPr id="20" name="Shape 17"/>
          <p:cNvSpPr/>
          <p:nvPr/>
        </p:nvSpPr>
        <p:spPr>
          <a:xfrm>
            <a:off x="6784848" y="4956048"/>
            <a:ext cx="4663440" cy="1005840"/>
          </a:xfrm>
          <a:prstGeom prst="roundRect">
            <a:avLst>
              <a:gd name="adj" fmla="val 5455"/>
            </a:avLst>
          </a:prstGeom>
          <a:solidFill>
            <a:srgbClr val="F2F5F4"/>
          </a:solidFill>
          <a:ln w="12700">
            <a:solidFill>
              <a:srgbClr val="F2F5F4"/>
            </a:solidFill>
            <a:prstDash val="solid"/>
          </a:ln>
        </p:spPr>
      </p:sp>
      <p:sp>
        <p:nvSpPr>
          <p:cNvPr id="21" name="Text 18"/>
          <p:cNvSpPr/>
          <p:nvPr/>
        </p:nvSpPr>
        <p:spPr>
          <a:xfrm>
            <a:off x="7059168" y="5212080"/>
            <a:ext cx="4114800" cy="365760"/>
          </a:xfrm>
          <a:prstGeom prst="rect">
            <a:avLst/>
          </a:prstGeom>
          <a:noFill/>
          <a:ln/>
        </p:spPr>
        <p:txBody>
          <a:bodyPr wrap="square" lIns="0" tIns="0" rIns="0" bIns="0" rtlCol="0" anchor="ctr"/>
          <a:lstStyle/>
          <a:p>
            <a:pPr indent="0" marL="0">
              <a:buNone/>
            </a:pPr>
            <a:r>
              <a:rPr lang="en-US" sz="1300" b="1" dirty="0">
                <a:solidFill>
                  <a:srgbClr val="C25E3A"/>
                </a:solidFill>
                <a:latin typeface="Cambria" pitchFamily="34" charset="0"/>
                <a:ea typeface="Cambria" pitchFamily="34" charset="-122"/>
                <a:cs typeface="Cambria" pitchFamily="34" charset="-120"/>
              </a:rPr>
              <a:t>Status</a:t>
            </a:r>
            <a:endParaRPr lang="en-US" sz="1300" dirty="0"/>
          </a:p>
        </p:txBody>
      </p:sp>
      <p:sp>
        <p:nvSpPr>
          <p:cNvPr id="22" name="Text 19"/>
          <p:cNvSpPr/>
          <p:nvPr/>
        </p:nvSpPr>
        <p:spPr>
          <a:xfrm>
            <a:off x="7059168" y="5669280"/>
            <a:ext cx="4114800" cy="45720"/>
          </a:xfrm>
          <a:prstGeom prst="rect">
            <a:avLst/>
          </a:prstGeom>
          <a:noFill/>
          <a:ln/>
        </p:spPr>
        <p:txBody>
          <a:bodyPr wrap="square" lIns="0" tIns="0" rIns="0" bIns="0" rtlCol="0" anchor="t"/>
          <a:lstStyle/>
          <a:p>
            <a:pPr indent="0" marL="0">
              <a:buNone/>
            </a:pPr>
            <a:r>
              <a:rPr lang="en-US" sz="1050" dirty="0">
                <a:solidFill>
                  <a:srgbClr val="5A6B72"/>
                </a:solidFill>
                <a:latin typeface="Calibri" pitchFamily="34" charset="0"/>
                <a:ea typeface="Calibri" pitchFamily="34" charset="-122"/>
                <a:cs typeface="Calibri" pitchFamily="34" charset="-120"/>
              </a:rPr>
              <a:t>Engine, PACE monitor, scenario library and analysis layers built and tested. Phase 8 calibration in progress; not yet SME face-validity reviewed.</a:t>
            </a:r>
            <a:endParaRPr lang="en-US" sz="1050" dirty="0"/>
          </a:p>
        </p:txBody>
      </p:sp>
      <p:sp>
        <p:nvSpPr>
          <p:cNvPr id="23" name="Text 20"/>
          <p:cNvSpPr/>
          <p:nvPr/>
        </p:nvSpPr>
        <p:spPr>
          <a:xfrm>
            <a:off x="566928" y="6382512"/>
            <a:ext cx="10515600" cy="219456"/>
          </a:xfrm>
          <a:prstGeom prst="rect">
            <a:avLst/>
          </a:prstGeom>
          <a:noFill/>
          <a:ln/>
        </p:spPr>
        <p:txBody>
          <a:bodyPr wrap="square" lIns="0" tIns="0" rIns="0" bIns="0" rtlCol="0" anchor="ctr"/>
          <a:lstStyle/>
          <a:p>
            <a:pPr indent="0" marL="0">
              <a:buNone/>
            </a:pPr>
            <a:r>
              <a:rPr lang="en-US" sz="900" i="1" dirty="0">
                <a:solidFill>
                  <a:srgbClr val="C9D6DB"/>
                </a:solidFill>
                <a:latin typeface="Calibri" pitchFamily="34" charset="0"/>
                <a:ea typeface="Calibri" pitchFamily="34" charset="-122"/>
                <a:cs typeface="Calibri" pitchFamily="34" charset="-120"/>
              </a:rPr>
              <a:t>Source: role2sim docs/WHITE_PAPER.md rev. 3 (13 Jul 2026), post Phase-R1 corrections. Provisional parameters tracked in docs/OPEN_PROVISIONAL_PARAMS.md.</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C25E3A"/>
                </a:solidFill>
                <a:latin typeface="Calibri" pitchFamily="34" charset="0"/>
                <a:ea typeface="Calibri" pitchFamily="34" charset="-122"/>
                <a:cs typeface="Calibri" pitchFamily="34" charset="-120"/>
              </a:rPr>
              <a:t>ENABLING EFFORT</a:t>
            </a:r>
            <a:endParaRPr lang="en-US" sz="1100" dirty="0"/>
          </a:p>
        </p:txBody>
      </p:sp>
      <p:sp>
        <p:nvSpPr>
          <p:cNvPr id="3" name="Text 1"/>
          <p:cNvSpPr/>
          <p:nvPr/>
        </p:nvSpPr>
        <p:spPr>
          <a:xfrm>
            <a:off x="548640" y="640080"/>
            <a:ext cx="11064240" cy="749808"/>
          </a:xfrm>
          <a:prstGeom prst="rect">
            <a:avLst/>
          </a:prstGeom>
          <a:noFill/>
          <a:ln/>
        </p:spPr>
        <p:txBody>
          <a:bodyPr wrap="square" lIns="0" tIns="0" rIns="0" bIns="0" rtlCol="0" anchor="ctr"/>
          <a:lstStyle/>
          <a:p>
            <a:pPr indent="0" marL="0">
              <a:buNone/>
            </a:pPr>
            <a:r>
              <a:rPr lang="en-US" sz="3000" b="1" dirty="0">
                <a:solidFill>
                  <a:srgbClr val="12212B"/>
                </a:solidFill>
                <a:latin typeface="Cambria" pitchFamily="34" charset="0"/>
                <a:ea typeface="Cambria" pitchFamily="34" charset="-122"/>
                <a:cs typeface="Cambria" pitchFamily="34" charset="-120"/>
              </a:rPr>
              <a:t>Finding what the record already knows</a:t>
            </a:r>
            <a:endParaRPr lang="en-US" sz="3000" dirty="0"/>
          </a:p>
        </p:txBody>
      </p:sp>
      <p:sp>
        <p:nvSpPr>
          <p:cNvPr id="4" name="Shape 2"/>
          <p:cNvSpPr/>
          <p:nvPr/>
        </p:nvSpPr>
        <p:spPr>
          <a:xfrm>
            <a:off x="566928" y="1389888"/>
            <a:ext cx="342900" cy="64008"/>
          </a:xfrm>
          <a:prstGeom prst="rect">
            <a:avLst/>
          </a:prstGeom>
          <a:solidFill>
            <a:srgbClr val="2E7D5B"/>
          </a:solidFill>
          <a:ln/>
        </p:spPr>
      </p:sp>
      <p:sp>
        <p:nvSpPr>
          <p:cNvPr id="5" name="Shape 3"/>
          <p:cNvSpPr/>
          <p:nvPr/>
        </p:nvSpPr>
        <p:spPr>
          <a:xfrm>
            <a:off x="909828" y="1389888"/>
            <a:ext cx="342900" cy="64008"/>
          </a:xfrm>
          <a:prstGeom prst="rect">
            <a:avLst/>
          </a:prstGeom>
          <a:solidFill>
            <a:srgbClr val="B8912F"/>
          </a:solidFill>
          <a:ln/>
        </p:spPr>
      </p:sp>
      <p:sp>
        <p:nvSpPr>
          <p:cNvPr id="6" name="Shape 4"/>
          <p:cNvSpPr/>
          <p:nvPr/>
        </p:nvSpPr>
        <p:spPr>
          <a:xfrm>
            <a:off x="1252728" y="1389888"/>
            <a:ext cx="342900" cy="64008"/>
          </a:xfrm>
          <a:prstGeom prst="rect">
            <a:avLst/>
          </a:prstGeom>
          <a:solidFill>
            <a:srgbClr val="C25E3A"/>
          </a:solidFill>
          <a:ln/>
        </p:spPr>
      </p:sp>
      <p:sp>
        <p:nvSpPr>
          <p:cNvPr id="7" name="Shape 5"/>
          <p:cNvSpPr/>
          <p:nvPr/>
        </p:nvSpPr>
        <p:spPr>
          <a:xfrm>
            <a:off x="1595628" y="1389888"/>
            <a:ext cx="342900" cy="64008"/>
          </a:xfrm>
          <a:prstGeom prst="rect">
            <a:avLst/>
          </a:prstGeom>
          <a:solidFill>
            <a:srgbClr val="9B2C2C"/>
          </a:solidFill>
          <a:ln/>
        </p:spPr>
      </p:sp>
      <p:sp>
        <p:nvSpPr>
          <p:cNvPr id="8" name="Text 6"/>
          <p:cNvSpPr/>
          <p:nvPr/>
        </p:nvSpPr>
        <p:spPr>
          <a:xfrm>
            <a:off x="566928" y="1664208"/>
            <a:ext cx="6766560" cy="914400"/>
          </a:xfrm>
          <a:prstGeom prst="rect">
            <a:avLst/>
          </a:prstGeom>
          <a:noFill/>
          <a:ln/>
        </p:spPr>
        <p:txBody>
          <a:bodyPr wrap="square" lIns="0" tIns="0" rIns="0" bIns="0" rtlCol="0" anchor="ctr"/>
          <a:lstStyle/>
          <a:p>
            <a:pPr indent="0" marL="0">
              <a:lnSpc>
                <a:spcPts val="1800"/>
              </a:lnSpc>
              <a:buNone/>
            </a:pPr>
            <a:r>
              <a:rPr lang="en-US" sz="1250" dirty="0">
                <a:solidFill>
                  <a:srgbClr val="5A6B72"/>
                </a:solidFill>
                <a:latin typeface="Calibri" pitchFamily="34" charset="0"/>
                <a:ea typeface="Calibri" pitchFamily="34" charset="-122"/>
                <a:cs typeface="Calibri" pitchFamily="34" charset="-120"/>
              </a:rPr>
              <a:t>AHRQ's diagnostic safety construct, adapted to the operational forces and applied to MHS GENESIS. Replaces random chart sampling with triggers that sample backward from an outcome — the surgery, the MEDEVAC, the medical board — so the index note becomes judgeable.</a:t>
            </a:r>
            <a:endParaRPr lang="en-US" sz="1250" dirty="0"/>
          </a:p>
        </p:txBody>
      </p:sp>
      <p:sp>
        <p:nvSpPr>
          <p:cNvPr id="9" name="Text 7"/>
          <p:cNvSpPr/>
          <p:nvPr/>
        </p:nvSpPr>
        <p:spPr>
          <a:xfrm>
            <a:off x="566928" y="2724912"/>
            <a:ext cx="2286000" cy="777240"/>
          </a:xfrm>
          <a:prstGeom prst="rect">
            <a:avLst/>
          </a:prstGeom>
          <a:noFill/>
          <a:ln/>
        </p:spPr>
        <p:txBody>
          <a:bodyPr wrap="square" lIns="0" tIns="0" rIns="0" bIns="0" rtlCol="0" anchor="ctr"/>
          <a:lstStyle/>
          <a:p>
            <a:pPr indent="0" marL="0">
              <a:buNone/>
            </a:pPr>
            <a:r>
              <a:rPr lang="en-US" sz="4400" b="1" dirty="0">
                <a:solidFill>
                  <a:srgbClr val="5A6B72"/>
                </a:solidFill>
                <a:latin typeface="Cambria" pitchFamily="34" charset="0"/>
                <a:ea typeface="Cambria" pitchFamily="34" charset="-122"/>
                <a:cs typeface="Cambria" pitchFamily="34" charset="-120"/>
              </a:rPr>
              <a:t>0.2%</a:t>
            </a:r>
            <a:endParaRPr lang="en-US" sz="4400" dirty="0"/>
          </a:p>
        </p:txBody>
      </p:sp>
      <p:sp>
        <p:nvSpPr>
          <p:cNvPr id="10" name="Text 8"/>
          <p:cNvSpPr/>
          <p:nvPr/>
        </p:nvSpPr>
        <p:spPr>
          <a:xfrm>
            <a:off x="566928" y="3529584"/>
            <a:ext cx="2212848" cy="603504"/>
          </a:xfrm>
          <a:prstGeom prst="rect">
            <a:avLst/>
          </a:prstGeom>
          <a:noFill/>
          <a:ln/>
        </p:spPr>
        <p:txBody>
          <a:bodyPr wrap="square" lIns="0" tIns="0" rIns="0" bIns="0" rtlCol="0" anchor="ctr"/>
          <a:lstStyle/>
          <a:p>
            <a:pPr indent="0" marL="0">
              <a:buNone/>
            </a:pPr>
            <a:r>
              <a:rPr lang="en-US" sz="1050" dirty="0">
                <a:solidFill>
                  <a:srgbClr val="5A6B72"/>
                </a:solidFill>
                <a:latin typeface="Calibri" pitchFamily="34" charset="0"/>
                <a:ea typeface="Calibri" pitchFamily="34" charset="-122"/>
                <a:cs typeface="Calibri" pitchFamily="34" charset="-120"/>
              </a:rPr>
              <a:t>Yield of random</a:t>
            </a:r>
            <a:endParaRPr lang="en-US" sz="1050" dirty="0"/>
          </a:p>
          <a:p>
            <a:pPr indent="0" marL="0">
              <a:buNone/>
            </a:pPr>
            <a:r>
              <a:rPr lang="en-US" sz="1050" dirty="0">
                <a:solidFill>
                  <a:srgbClr val="5A6B72"/>
                </a:solidFill>
                <a:latin typeface="Calibri" pitchFamily="34" charset="0"/>
                <a:ea typeface="Calibri" pitchFamily="34" charset="-122"/>
                <a:cs typeface="Calibri" pitchFamily="34" charset="-120"/>
              </a:rPr>
              <a:t>chart review</a:t>
            </a:r>
            <a:endParaRPr lang="en-US" sz="1050" dirty="0"/>
          </a:p>
        </p:txBody>
      </p:sp>
      <p:sp>
        <p:nvSpPr>
          <p:cNvPr id="11" name="Text 9"/>
          <p:cNvSpPr/>
          <p:nvPr/>
        </p:nvSpPr>
        <p:spPr>
          <a:xfrm>
            <a:off x="2898648" y="2724912"/>
            <a:ext cx="2286000" cy="777240"/>
          </a:xfrm>
          <a:prstGeom prst="rect">
            <a:avLst/>
          </a:prstGeom>
          <a:noFill/>
          <a:ln/>
        </p:spPr>
        <p:txBody>
          <a:bodyPr wrap="square" lIns="0" tIns="0" rIns="0" bIns="0" rtlCol="0" anchor="ctr"/>
          <a:lstStyle/>
          <a:p>
            <a:pPr indent="0" marL="0">
              <a:buNone/>
            </a:pPr>
            <a:r>
              <a:rPr lang="en-US" sz="4400" b="1" dirty="0">
                <a:solidFill>
                  <a:srgbClr val="C25E3A"/>
                </a:solidFill>
                <a:latin typeface="Cambria" pitchFamily="34" charset="0"/>
                <a:ea typeface="Cambria" pitchFamily="34" charset="-122"/>
                <a:cs typeface="Cambria" pitchFamily="34" charset="-120"/>
              </a:rPr>
              <a:t>31.8%</a:t>
            </a:r>
            <a:endParaRPr lang="en-US" sz="4400" dirty="0"/>
          </a:p>
        </p:txBody>
      </p:sp>
      <p:sp>
        <p:nvSpPr>
          <p:cNvPr id="12" name="Text 10"/>
          <p:cNvSpPr/>
          <p:nvPr/>
        </p:nvSpPr>
        <p:spPr>
          <a:xfrm>
            <a:off x="2898648" y="3529584"/>
            <a:ext cx="2212848" cy="603504"/>
          </a:xfrm>
          <a:prstGeom prst="rect">
            <a:avLst/>
          </a:prstGeom>
          <a:noFill/>
          <a:ln/>
        </p:spPr>
        <p:txBody>
          <a:bodyPr wrap="square" lIns="0" tIns="0" rIns="0" bIns="0" rtlCol="0" anchor="ctr"/>
          <a:lstStyle/>
          <a:p>
            <a:pPr indent="0" marL="0">
              <a:buNone/>
            </a:pPr>
            <a:r>
              <a:rPr lang="en-US" sz="1050" dirty="0">
                <a:solidFill>
                  <a:srgbClr val="5A6B72"/>
                </a:solidFill>
                <a:latin typeface="Calibri" pitchFamily="34" charset="0"/>
                <a:ea typeface="Calibri" pitchFamily="34" charset="-122"/>
                <a:cs typeface="Calibri" pitchFamily="34" charset="-120"/>
              </a:rPr>
              <a:t>Yield of triggered</a:t>
            </a:r>
            <a:endParaRPr lang="en-US" sz="1050" dirty="0"/>
          </a:p>
          <a:p>
            <a:pPr indent="0" marL="0">
              <a:buNone/>
            </a:pPr>
            <a:r>
              <a:rPr lang="en-US" sz="1050" dirty="0">
                <a:solidFill>
                  <a:srgbClr val="5A6B72"/>
                </a:solidFill>
                <a:latin typeface="Calibri" pitchFamily="34" charset="0"/>
                <a:ea typeface="Calibri" pitchFamily="34" charset="-122"/>
                <a:cs typeface="Calibri" pitchFamily="34" charset="-120"/>
              </a:rPr>
              <a:t>review (AHRQ, 11 sites)</a:t>
            </a:r>
            <a:endParaRPr lang="en-US" sz="1050" dirty="0"/>
          </a:p>
        </p:txBody>
      </p:sp>
      <p:sp>
        <p:nvSpPr>
          <p:cNvPr id="13" name="Text 11"/>
          <p:cNvSpPr/>
          <p:nvPr/>
        </p:nvSpPr>
        <p:spPr>
          <a:xfrm>
            <a:off x="5230368" y="2724912"/>
            <a:ext cx="2286000" cy="777240"/>
          </a:xfrm>
          <a:prstGeom prst="rect">
            <a:avLst/>
          </a:prstGeom>
          <a:noFill/>
          <a:ln/>
        </p:spPr>
        <p:txBody>
          <a:bodyPr wrap="square" lIns="0" tIns="0" rIns="0" bIns="0" rtlCol="0" anchor="ctr"/>
          <a:lstStyle/>
          <a:p>
            <a:pPr indent="0" marL="0">
              <a:buNone/>
            </a:pPr>
            <a:r>
              <a:rPr lang="en-US" sz="4400" b="1" dirty="0">
                <a:solidFill>
                  <a:srgbClr val="1C5D66"/>
                </a:solidFill>
                <a:latin typeface="Cambria" pitchFamily="34" charset="0"/>
                <a:ea typeface="Cambria" pitchFamily="34" charset="-122"/>
                <a:cs typeface="Cambria" pitchFamily="34" charset="-120"/>
              </a:rPr>
              <a:t>24</a:t>
            </a:r>
            <a:endParaRPr lang="en-US" sz="4400" dirty="0"/>
          </a:p>
        </p:txBody>
      </p:sp>
      <p:sp>
        <p:nvSpPr>
          <p:cNvPr id="14" name="Text 12"/>
          <p:cNvSpPr/>
          <p:nvPr/>
        </p:nvSpPr>
        <p:spPr>
          <a:xfrm>
            <a:off x="5230368" y="3529584"/>
            <a:ext cx="2212848" cy="603504"/>
          </a:xfrm>
          <a:prstGeom prst="rect">
            <a:avLst/>
          </a:prstGeom>
          <a:noFill/>
          <a:ln/>
        </p:spPr>
        <p:txBody>
          <a:bodyPr wrap="square" lIns="0" tIns="0" rIns="0" bIns="0" rtlCol="0" anchor="ctr"/>
          <a:lstStyle/>
          <a:p>
            <a:pPr indent="0" marL="0">
              <a:buNone/>
            </a:pPr>
            <a:r>
              <a:rPr lang="en-US" sz="1050" dirty="0">
                <a:solidFill>
                  <a:srgbClr val="5A6B72"/>
                </a:solidFill>
                <a:latin typeface="Calibri" pitchFamily="34" charset="0"/>
                <a:ea typeface="Calibri" pitchFamily="34" charset="-122"/>
                <a:cs typeface="Calibri" pitchFamily="34" charset="-120"/>
              </a:rPr>
              <a:t>Operational triggers</a:t>
            </a:r>
            <a:endParaRPr lang="en-US" sz="1050" dirty="0"/>
          </a:p>
          <a:p>
            <a:pPr indent="0" marL="0">
              <a:buNone/>
            </a:pPr>
            <a:r>
              <a:rPr lang="en-US" sz="1050" dirty="0">
                <a:solidFill>
                  <a:srgbClr val="5A6B72"/>
                </a:solidFill>
                <a:latin typeface="Calibri" pitchFamily="34" charset="0"/>
                <a:ea typeface="Calibri" pitchFamily="34" charset="-122"/>
                <a:cs typeface="Calibri" pitchFamily="34" charset="-120"/>
              </a:rPr>
              <a:t>specified</a:t>
            </a:r>
            <a:endParaRPr lang="en-US" sz="1050" dirty="0"/>
          </a:p>
        </p:txBody>
      </p:sp>
      <p:sp>
        <p:nvSpPr>
          <p:cNvPr id="15" name="Text 13"/>
          <p:cNvSpPr/>
          <p:nvPr/>
        </p:nvSpPr>
        <p:spPr>
          <a:xfrm>
            <a:off x="566928" y="4315968"/>
            <a:ext cx="6766560" cy="1005840"/>
          </a:xfrm>
          <a:prstGeom prst="rect">
            <a:avLst/>
          </a:prstGeom>
          <a:noFill/>
          <a:ln/>
        </p:spPr>
        <p:txBody>
          <a:bodyPr wrap="square" lIns="0" tIns="0" rIns="0" bIns="0" rtlCol="0" anchor="ctr"/>
          <a:lstStyle/>
          <a:p>
            <a:pPr indent="0" marL="0">
              <a:lnSpc>
                <a:spcPts val="1800"/>
              </a:lnSpc>
              <a:buNone/>
            </a:pPr>
            <a:r>
              <a:rPr lang="en-US" sz="1200" i="1" dirty="0">
                <a:solidFill>
                  <a:srgbClr val="12212B"/>
                </a:solidFill>
                <a:latin typeface="Calibri" pitchFamily="34" charset="0"/>
                <a:ea typeface="Calibri" pitchFamily="34" charset="-122"/>
                <a:cs typeface="Calibri" pitchFamily="34" charset="-120"/>
              </a:rPr>
              <a:t>A reviewer sampling 20 charts a quarter has a 73% chance of finishing an entire tour without ever encountering a harmful diagnostic event. That is not a program performing poorly — it is a program whose expected yield is near zero by construction.</a:t>
            </a:r>
            <a:endParaRPr lang="en-US" sz="1200" dirty="0"/>
          </a:p>
        </p:txBody>
      </p:sp>
      <p:sp>
        <p:nvSpPr>
          <p:cNvPr id="16" name="Shape 14"/>
          <p:cNvSpPr/>
          <p:nvPr/>
        </p:nvSpPr>
        <p:spPr>
          <a:xfrm>
            <a:off x="7635240" y="1783080"/>
            <a:ext cx="3813048" cy="2194560"/>
          </a:xfrm>
          <a:prstGeom prst="roundRect">
            <a:avLst>
              <a:gd name="adj" fmla="val 2500"/>
            </a:avLst>
          </a:prstGeom>
          <a:solidFill>
            <a:srgbClr val="F2F5F4"/>
          </a:solidFill>
          <a:ln w="12700">
            <a:solidFill>
              <a:srgbClr val="F2F5F4"/>
            </a:solidFill>
            <a:prstDash val="solid"/>
          </a:ln>
        </p:spPr>
      </p:sp>
      <p:sp>
        <p:nvSpPr>
          <p:cNvPr id="17" name="Text 15"/>
          <p:cNvSpPr/>
          <p:nvPr/>
        </p:nvSpPr>
        <p:spPr>
          <a:xfrm>
            <a:off x="7909560" y="2039112"/>
            <a:ext cx="3264408" cy="365760"/>
          </a:xfrm>
          <a:prstGeom prst="rect">
            <a:avLst/>
          </a:prstGeom>
          <a:noFill/>
          <a:ln/>
        </p:spPr>
        <p:txBody>
          <a:bodyPr wrap="square" lIns="0" tIns="0" rIns="0" bIns="0" rtlCol="0" anchor="ctr"/>
          <a:lstStyle/>
          <a:p>
            <a:pPr indent="0" marL="0">
              <a:buNone/>
            </a:pPr>
            <a:r>
              <a:rPr lang="en-US" sz="1400" b="1" dirty="0">
                <a:solidFill>
                  <a:srgbClr val="1C5D66"/>
                </a:solidFill>
                <a:latin typeface="Cambria" pitchFamily="34" charset="0"/>
                <a:ea typeface="Cambria" pitchFamily="34" charset="-122"/>
                <a:cs typeface="Cambria" pitchFamily="34" charset="-120"/>
              </a:rPr>
              <a:t>Unique to the FMF</a:t>
            </a:r>
            <a:endParaRPr lang="en-US" sz="1400" dirty="0"/>
          </a:p>
        </p:txBody>
      </p:sp>
      <p:sp>
        <p:nvSpPr>
          <p:cNvPr id="18" name="Text 16"/>
          <p:cNvSpPr/>
          <p:nvPr/>
        </p:nvSpPr>
        <p:spPr>
          <a:xfrm>
            <a:off x="7909560" y="2496312"/>
            <a:ext cx="3264408" cy="12344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5A6B72"/>
                </a:solidFill>
                <a:latin typeface="Calibri" pitchFamily="34" charset="0"/>
                <a:ea typeface="Calibri" pitchFamily="34" charset="-122"/>
                <a:cs typeface="Calibri" pitchFamily="34" charset="-120"/>
              </a:rPr>
              <a:t>A true denominator — unit rosters and DEERS</a:t>
            </a:r>
            <a:endParaRPr lang="en-US" sz="1050" dirty="0"/>
          </a:p>
          <a:p>
            <a:pPr marL="342900" indent="-342900">
              <a:spcAft>
                <a:spcPts val="500"/>
              </a:spcAft>
              <a:buSzPct val="100000"/>
              <a:buChar char="•"/>
            </a:pPr>
            <a:r>
              <a:rPr lang="en-US" sz="1050" dirty="0">
                <a:solidFill>
                  <a:srgbClr val="5A6B72"/>
                </a:solidFill>
                <a:latin typeface="Calibri" pitchFamily="34" charset="0"/>
                <a:ea typeface="Calibri" pitchFamily="34" charset="-122"/>
                <a:cs typeface="Calibri" pitchFamily="34" charset="-120"/>
              </a:rPr>
              <a:t>Near-universal autopsy on active-duty death</a:t>
            </a:r>
            <a:endParaRPr lang="en-US" sz="1050" dirty="0"/>
          </a:p>
          <a:p>
            <a:pPr marL="342900" indent="-342900">
              <a:spcAft>
                <a:spcPts val="500"/>
              </a:spcAft>
              <a:buSzPct val="100000"/>
              <a:buChar char="•"/>
            </a:pPr>
            <a:r>
              <a:rPr lang="en-US" sz="1050" dirty="0">
                <a:solidFill>
                  <a:srgbClr val="5A6B72"/>
                </a:solidFill>
                <a:latin typeface="Calibri" pitchFamily="34" charset="0"/>
                <a:ea typeface="Calibri" pitchFamily="34" charset="-122"/>
                <a:cs typeface="Calibri" pitchFamily="34" charset="-120"/>
              </a:rPr>
              <a:t>Guaranteed annual re-contact at PHA</a:t>
            </a:r>
            <a:endParaRPr lang="en-US" sz="1050" dirty="0"/>
          </a:p>
          <a:p>
            <a:pPr marL="342900" indent="-342900">
              <a:spcAft>
                <a:spcPts val="500"/>
              </a:spcAft>
              <a:buSzPct val="100000"/>
              <a:buChar char="•"/>
            </a:pPr>
            <a:r>
              <a:rPr lang="en-US" sz="1050" dirty="0">
                <a:solidFill>
                  <a:srgbClr val="5A6B72"/>
                </a:solidFill>
                <a:latin typeface="Calibri" pitchFamily="34" charset="0"/>
                <a:ea typeface="Calibri" pitchFamily="34" charset="-122"/>
                <a:cs typeface="Calibri" pitchFamily="34" charset="-120"/>
              </a:rPr>
              <a:t>LIMDU / MEB as adjudicated outcomes</a:t>
            </a:r>
            <a:endParaRPr lang="en-US" sz="1050" dirty="0"/>
          </a:p>
        </p:txBody>
      </p:sp>
      <p:sp>
        <p:nvSpPr>
          <p:cNvPr id="19" name="Shape 17"/>
          <p:cNvSpPr/>
          <p:nvPr/>
        </p:nvSpPr>
        <p:spPr>
          <a:xfrm>
            <a:off x="7635240" y="4114800"/>
            <a:ext cx="3813048" cy="1847088"/>
          </a:xfrm>
          <a:prstGeom prst="roundRect">
            <a:avLst>
              <a:gd name="adj" fmla="val 2970"/>
            </a:avLst>
          </a:prstGeom>
          <a:solidFill>
            <a:srgbClr val="F2F5F4"/>
          </a:solidFill>
          <a:ln w="12700">
            <a:solidFill>
              <a:srgbClr val="F2F5F4"/>
            </a:solidFill>
            <a:prstDash val="solid"/>
          </a:ln>
        </p:spPr>
      </p:sp>
      <p:sp>
        <p:nvSpPr>
          <p:cNvPr id="20" name="Text 18"/>
          <p:cNvSpPr/>
          <p:nvPr/>
        </p:nvSpPr>
        <p:spPr>
          <a:xfrm>
            <a:off x="7909560" y="4370832"/>
            <a:ext cx="3264408" cy="365760"/>
          </a:xfrm>
          <a:prstGeom prst="rect">
            <a:avLst/>
          </a:prstGeom>
          <a:noFill/>
          <a:ln/>
        </p:spPr>
        <p:txBody>
          <a:bodyPr wrap="square" lIns="0" tIns="0" rIns="0" bIns="0" rtlCol="0" anchor="ctr"/>
          <a:lstStyle/>
          <a:p>
            <a:pPr indent="0" marL="0">
              <a:buNone/>
            </a:pPr>
            <a:r>
              <a:rPr lang="en-US" sz="1400" b="1" dirty="0">
                <a:solidFill>
                  <a:srgbClr val="C25E3A"/>
                </a:solidFill>
                <a:latin typeface="Cambria" pitchFamily="34" charset="0"/>
                <a:ea typeface="Cambria" pitchFamily="34" charset="-122"/>
                <a:cs typeface="Cambria" pitchFamily="34" charset="-120"/>
              </a:rPr>
              <a:t>Built and running</a:t>
            </a:r>
            <a:endParaRPr lang="en-US" sz="1400" dirty="0"/>
          </a:p>
        </p:txBody>
      </p:sp>
      <p:sp>
        <p:nvSpPr>
          <p:cNvPr id="21" name="Text 19"/>
          <p:cNvSpPr/>
          <p:nvPr/>
        </p:nvSpPr>
        <p:spPr>
          <a:xfrm>
            <a:off x="7909560" y="4828032"/>
            <a:ext cx="3264408" cy="886968"/>
          </a:xfrm>
          <a:prstGeom prst="rect">
            <a:avLst/>
          </a:prstGeom>
          <a:noFill/>
          <a:ln/>
        </p:spPr>
        <p:txBody>
          <a:bodyPr wrap="square" lIns="0" tIns="0" rIns="0" bIns="0" rtlCol="0" anchor="t"/>
          <a:lstStyle/>
          <a:p>
            <a:pPr indent="0" marL="0">
              <a:buNone/>
            </a:pPr>
            <a:r>
              <a:rPr lang="en-US" sz="1050" dirty="0">
                <a:solidFill>
                  <a:srgbClr val="5A6B72"/>
                </a:solidFill>
                <a:latin typeface="Calibri" pitchFamily="34" charset="0"/>
                <a:ea typeface="Calibri" pitchFamily="34" charset="-122"/>
                <a:cs typeface="Calibri" pitchFamily="34" charset="-120"/>
              </a:rPr>
              <a:t>Working tool reads a GENESIS extract and returns a FIN-keyed worklist of notes warranting review. 15 of 24 triggers implemented; 44 tests; runs today on synthetic data with no PHI.</a:t>
            </a:r>
            <a:endParaRPr lang="en-US" sz="1050" dirty="0"/>
          </a:p>
        </p:txBody>
      </p:sp>
      <p:sp>
        <p:nvSpPr>
          <p:cNvPr id="22" name="Text 20"/>
          <p:cNvSpPr/>
          <p:nvPr/>
        </p:nvSpPr>
        <p:spPr>
          <a:xfrm>
            <a:off x="566928" y="6382512"/>
            <a:ext cx="10515600" cy="219456"/>
          </a:xfrm>
          <a:prstGeom prst="rect">
            <a:avLst/>
          </a:prstGeom>
          <a:noFill/>
          <a:ln/>
        </p:spPr>
        <p:txBody>
          <a:bodyPr wrap="square" lIns="0" tIns="0" rIns="0" bIns="0" rtlCol="0" anchor="ctr"/>
          <a:lstStyle/>
          <a:p>
            <a:pPr indent="0" marL="0">
              <a:buNone/>
            </a:pPr>
            <a:r>
              <a:rPr lang="en-US" sz="900" i="1" dirty="0">
                <a:solidFill>
                  <a:srgbClr val="C9D6DB"/>
                </a:solidFill>
                <a:latin typeface="Calibri" pitchFamily="34" charset="0"/>
                <a:ea typeface="Calibri" pitchFamily="34" charset="-122"/>
                <a:cs typeface="Calibri" pitchFamily="34" charset="-120"/>
              </a:rPr>
              <a:t>Source: AHRQ Pub. 22-0030; Bradford et al., J Gen Intern Med 2025;40(4):782–9. Repository: Measure-Dx-Genesis.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12B"/>
        </a:solidFill>
      </p:bgPr>
    </p:bg>
    <p:spTree>
      <p:nvGrpSpPr>
        <p:cNvPr id="1" name=""/>
        <p:cNvGrpSpPr/>
        <p:nvPr/>
      </p:nvGrpSpPr>
      <p:grpSpPr>
        <a:xfrm>
          <a:off x="0" y="0"/>
          <a:ext cx="0" cy="0"/>
          <a:chOff x="0" y="0"/>
          <a:chExt cx="0" cy="0"/>
        </a:xfrm>
      </p:grpSpPr>
      <p:sp>
        <p:nvSpPr>
          <p:cNvPr id="2" name="Text 0"/>
          <p:cNvSpPr/>
          <p:nvPr/>
        </p:nvSpPr>
        <p:spPr>
          <a:xfrm>
            <a:off x="566928" y="658368"/>
            <a:ext cx="7315200" cy="256032"/>
          </a:xfrm>
          <a:prstGeom prst="rect">
            <a:avLst/>
          </a:prstGeom>
          <a:noFill/>
          <a:ln/>
        </p:spPr>
        <p:txBody>
          <a:bodyPr wrap="square" lIns="0" tIns="0" rIns="0" bIns="0" rtlCol="0" anchor="ctr"/>
          <a:lstStyle/>
          <a:p>
            <a:pPr indent="0" marL="0">
              <a:buNone/>
            </a:pPr>
            <a:r>
              <a:rPr lang="en-US" sz="1100" b="1" spc="160" kern="0" dirty="0">
                <a:solidFill>
                  <a:srgbClr val="7FA99B"/>
                </a:solidFill>
                <a:latin typeface="Calibri" pitchFamily="34" charset="0"/>
                <a:ea typeface="Calibri" pitchFamily="34" charset="-122"/>
                <a:cs typeface="Calibri" pitchFamily="34" charset="-120"/>
              </a:rPr>
              <a:t>WHAT MAKES THIS ONE PROGRAM</a:t>
            </a:r>
            <a:endParaRPr lang="en-US" sz="1100" dirty="0"/>
          </a:p>
        </p:txBody>
      </p:sp>
      <p:sp>
        <p:nvSpPr>
          <p:cNvPr id="3" name="Text 1"/>
          <p:cNvSpPr/>
          <p:nvPr/>
        </p:nvSpPr>
        <p:spPr>
          <a:xfrm>
            <a:off x="566928" y="932688"/>
            <a:ext cx="1088136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currency, one measuring stick</a:t>
            </a:r>
            <a:endParaRPr lang="en-US" sz="3200" dirty="0"/>
          </a:p>
        </p:txBody>
      </p:sp>
      <p:sp>
        <p:nvSpPr>
          <p:cNvPr id="4" name="Shape 2"/>
          <p:cNvSpPr/>
          <p:nvPr/>
        </p:nvSpPr>
        <p:spPr>
          <a:xfrm>
            <a:off x="566928" y="1993392"/>
            <a:ext cx="64008" cy="1051560"/>
          </a:xfrm>
          <a:prstGeom prst="rect">
            <a:avLst/>
          </a:prstGeom>
          <a:solidFill>
            <a:srgbClr val="2E7D5B"/>
          </a:solidFill>
          <a:ln/>
        </p:spPr>
      </p:sp>
      <p:sp>
        <p:nvSpPr>
          <p:cNvPr id="5" name="Text 3"/>
          <p:cNvSpPr/>
          <p:nvPr/>
        </p:nvSpPr>
        <p:spPr>
          <a:xfrm>
            <a:off x="896112" y="1938528"/>
            <a:ext cx="10515600" cy="38404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The PACE tier is the shared unit of account</a:t>
            </a:r>
            <a:endParaRPr lang="en-US" sz="1700" dirty="0"/>
          </a:p>
        </p:txBody>
      </p:sp>
      <p:sp>
        <p:nvSpPr>
          <p:cNvPr id="6" name="Text 4"/>
          <p:cNvSpPr/>
          <p:nvPr/>
        </p:nvSpPr>
        <p:spPr>
          <a:xfrm>
            <a:off x="896112" y="2340864"/>
            <a:ext cx="10424160" cy="713232"/>
          </a:xfrm>
          <a:prstGeom prst="rect">
            <a:avLst/>
          </a:prstGeom>
          <a:noFill/>
          <a:ln/>
        </p:spPr>
        <p:txBody>
          <a:bodyPr wrap="square" lIns="0" tIns="0" rIns="0" bIns="0" rtlCol="0" anchor="ctr"/>
          <a:lstStyle/>
          <a:p>
            <a:pPr indent="0" marL="0">
              <a:lnSpc>
                <a:spcPts val="1800"/>
              </a:lnSpc>
              <a:buNone/>
            </a:pPr>
            <a:r>
              <a:rPr lang="en-US" sz="1250" dirty="0">
                <a:solidFill>
                  <a:srgbClr val="C9D6DB"/>
                </a:solidFill>
                <a:latin typeface="Calibri" pitchFamily="34" charset="0"/>
                <a:ea typeface="Calibri" pitchFamily="34" charset="-122"/>
                <a:cs typeface="Calibri" pitchFamily="34" charset="-120"/>
              </a:rPr>
              <a:t>CSC defines the tiers and their triggers. The simulation reports its outcomes as tier distributions. Both speak the same language to a commander, and both surface in MedCOP via MAVEN.</a:t>
            </a:r>
            <a:endParaRPr lang="en-US" sz="1250" dirty="0"/>
          </a:p>
        </p:txBody>
      </p:sp>
      <p:sp>
        <p:nvSpPr>
          <p:cNvPr id="7" name="Shape 5"/>
          <p:cNvSpPr/>
          <p:nvPr/>
        </p:nvSpPr>
        <p:spPr>
          <a:xfrm>
            <a:off x="566928" y="3410712"/>
            <a:ext cx="64008" cy="1051560"/>
          </a:xfrm>
          <a:prstGeom prst="rect">
            <a:avLst/>
          </a:prstGeom>
          <a:solidFill>
            <a:srgbClr val="B8912F"/>
          </a:solidFill>
          <a:ln/>
        </p:spPr>
      </p:sp>
      <p:sp>
        <p:nvSpPr>
          <p:cNvPr id="8" name="Text 6"/>
          <p:cNvSpPr/>
          <p:nvPr/>
        </p:nvSpPr>
        <p:spPr>
          <a:xfrm>
            <a:off x="896112" y="3355848"/>
            <a:ext cx="10515600" cy="38404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JTS CPGs remain the measuring stick at every level</a:t>
            </a:r>
            <a:endParaRPr lang="en-US" sz="1700" dirty="0"/>
          </a:p>
        </p:txBody>
      </p:sp>
      <p:sp>
        <p:nvSpPr>
          <p:cNvPr id="9" name="Text 7"/>
          <p:cNvSpPr/>
          <p:nvPr/>
        </p:nvSpPr>
        <p:spPr>
          <a:xfrm>
            <a:off x="896112" y="3758184"/>
            <a:ext cx="10424160" cy="713232"/>
          </a:xfrm>
          <a:prstGeom prst="rect">
            <a:avLst/>
          </a:prstGeom>
          <a:noFill/>
          <a:ln/>
        </p:spPr>
        <p:txBody>
          <a:bodyPr wrap="square" lIns="0" tIns="0" rIns="0" bIns="0" rtlCol="0" anchor="ctr"/>
          <a:lstStyle/>
          <a:p>
            <a:pPr indent="0" marL="0">
              <a:lnSpc>
                <a:spcPts val="1800"/>
              </a:lnSpc>
              <a:buNone/>
            </a:pPr>
            <a:r>
              <a:rPr lang="en-US" sz="1250" dirty="0">
                <a:solidFill>
                  <a:srgbClr val="C9D6DB"/>
                </a:solidFill>
                <a:latin typeface="Calibri" pitchFamily="34" charset="0"/>
                <a:ea typeface="Calibri" pitchFamily="34" charset="-122"/>
                <a:cs typeface="Calibri" pitchFamily="34" charset="-120"/>
              </a:rPr>
              <a:t>Quality improvement does not stop when the standard degrades. The CPG is executable guidance at Primary and a recovery target at Emergency — so there is always something to measure against.</a:t>
            </a:r>
            <a:endParaRPr lang="en-US" sz="1250" dirty="0"/>
          </a:p>
        </p:txBody>
      </p:sp>
      <p:sp>
        <p:nvSpPr>
          <p:cNvPr id="10" name="Shape 8"/>
          <p:cNvSpPr/>
          <p:nvPr/>
        </p:nvSpPr>
        <p:spPr>
          <a:xfrm>
            <a:off x="566928" y="4828032"/>
            <a:ext cx="64008" cy="1051560"/>
          </a:xfrm>
          <a:prstGeom prst="rect">
            <a:avLst/>
          </a:prstGeom>
          <a:solidFill>
            <a:srgbClr val="C25E3A"/>
          </a:solidFill>
          <a:ln/>
        </p:spPr>
      </p:sp>
      <p:sp>
        <p:nvSpPr>
          <p:cNvPr id="11" name="Text 9"/>
          <p:cNvSpPr/>
          <p:nvPr/>
        </p:nvSpPr>
        <p:spPr>
          <a:xfrm>
            <a:off x="896112" y="4773168"/>
            <a:ext cx="10515600" cy="38404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Measure Dx supplies the empirical floor</a:t>
            </a:r>
            <a:endParaRPr lang="en-US" sz="1700" dirty="0"/>
          </a:p>
        </p:txBody>
      </p:sp>
      <p:sp>
        <p:nvSpPr>
          <p:cNvPr id="12" name="Text 10"/>
          <p:cNvSpPr/>
          <p:nvPr/>
        </p:nvSpPr>
        <p:spPr>
          <a:xfrm>
            <a:off x="896112" y="5175504"/>
            <a:ext cx="10424160" cy="713232"/>
          </a:xfrm>
          <a:prstGeom prst="rect">
            <a:avLst/>
          </a:prstGeom>
          <a:noFill/>
          <a:ln/>
        </p:spPr>
        <p:txBody>
          <a:bodyPr wrap="square" lIns="0" tIns="0" rIns="0" bIns="0" rtlCol="0" anchor="ctr"/>
          <a:lstStyle/>
          <a:p>
            <a:pPr indent="0" marL="0">
              <a:lnSpc>
                <a:spcPts val="1800"/>
              </a:lnSpc>
              <a:buNone/>
            </a:pPr>
            <a:r>
              <a:rPr lang="en-US" sz="1250" dirty="0">
                <a:solidFill>
                  <a:srgbClr val="C9D6DB"/>
                </a:solidFill>
                <a:latin typeface="Calibri" pitchFamily="34" charset="0"/>
                <a:ea typeface="Calibri" pitchFamily="34" charset="-122"/>
                <a:cs typeface="Calibri" pitchFamily="34" charset="-120"/>
              </a:rPr>
              <a:t>The simulation predicts where care breaks. Measure Dx observes where it actually broke, with a true denominator no civilian system can compute. One is a hypothesis; the other is evidence.</a:t>
            </a:r>
            <a:endParaRPr lang="en-US" sz="1250" dirty="0"/>
          </a:p>
        </p:txBody>
      </p:sp>
      <p:sp>
        <p:nvSpPr>
          <p:cNvPr id="13" name="Text 11"/>
          <p:cNvSpPr/>
          <p:nvPr/>
        </p:nvSpPr>
        <p:spPr>
          <a:xfrm>
            <a:off x="896112" y="6172200"/>
            <a:ext cx="10424160" cy="384048"/>
          </a:xfrm>
          <a:prstGeom prst="rect">
            <a:avLst/>
          </a:prstGeom>
          <a:noFill/>
          <a:ln/>
        </p:spPr>
        <p:txBody>
          <a:bodyPr wrap="square" lIns="0" tIns="0" rIns="0" bIns="0" rtlCol="0" anchor="ctr"/>
          <a:lstStyle/>
          <a:p>
            <a:pPr indent="0" marL="0">
              <a:buNone/>
            </a:pPr>
            <a:r>
              <a:rPr lang="en-US" sz="1200" i="1" dirty="0">
                <a:solidFill>
                  <a:srgbClr val="7FA99B"/>
                </a:solidFill>
                <a:latin typeface="Calibri" pitchFamily="34" charset="0"/>
                <a:ea typeface="Calibri" pitchFamily="34" charset="-122"/>
                <a:cs typeface="Calibri" pitchFamily="34" charset="-120"/>
              </a:rPr>
              <a:t>Take any one away and the others lose a function: an untested standard, an outcome with no definition, or a prediction that is never checked against what happened.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C25E3A"/>
                </a:solidFill>
                <a:latin typeface="Calibri" pitchFamily="34" charset="0"/>
                <a:ea typeface="Calibri" pitchFamily="34" charset="-122"/>
                <a:cs typeface="Calibri" pitchFamily="34" charset="-120"/>
              </a:rPr>
              <a:t>DECISIONS REQUESTED</a:t>
            </a:r>
            <a:endParaRPr lang="en-US" sz="1100" dirty="0"/>
          </a:p>
        </p:txBody>
      </p:sp>
      <p:sp>
        <p:nvSpPr>
          <p:cNvPr id="3" name="Text 1"/>
          <p:cNvSpPr/>
          <p:nvPr/>
        </p:nvSpPr>
        <p:spPr>
          <a:xfrm>
            <a:off x="548640" y="640080"/>
            <a:ext cx="11064240" cy="749808"/>
          </a:xfrm>
          <a:prstGeom prst="rect">
            <a:avLst/>
          </a:prstGeom>
          <a:noFill/>
          <a:ln/>
        </p:spPr>
        <p:txBody>
          <a:bodyPr wrap="square" lIns="0" tIns="0" rIns="0" bIns="0" rtlCol="0" anchor="ctr"/>
          <a:lstStyle/>
          <a:p>
            <a:pPr indent="0" marL="0">
              <a:buNone/>
            </a:pPr>
            <a:r>
              <a:rPr lang="en-US" sz="3000" b="1" dirty="0">
                <a:solidFill>
                  <a:srgbClr val="12212B"/>
                </a:solidFill>
                <a:latin typeface="Cambria" pitchFamily="34" charset="0"/>
                <a:ea typeface="Cambria" pitchFamily="34" charset="-122"/>
                <a:cs typeface="Cambria" pitchFamily="34" charset="-120"/>
              </a:rPr>
              <a:t>What we need from HSOAG</a:t>
            </a:r>
            <a:endParaRPr lang="en-US" sz="3000" dirty="0"/>
          </a:p>
        </p:txBody>
      </p:sp>
      <p:sp>
        <p:nvSpPr>
          <p:cNvPr id="4" name="Shape 2"/>
          <p:cNvSpPr/>
          <p:nvPr/>
        </p:nvSpPr>
        <p:spPr>
          <a:xfrm>
            <a:off x="566928" y="1389888"/>
            <a:ext cx="342900" cy="64008"/>
          </a:xfrm>
          <a:prstGeom prst="rect">
            <a:avLst/>
          </a:prstGeom>
          <a:solidFill>
            <a:srgbClr val="2E7D5B"/>
          </a:solidFill>
          <a:ln/>
        </p:spPr>
      </p:sp>
      <p:sp>
        <p:nvSpPr>
          <p:cNvPr id="5" name="Shape 3"/>
          <p:cNvSpPr/>
          <p:nvPr/>
        </p:nvSpPr>
        <p:spPr>
          <a:xfrm>
            <a:off x="909828" y="1389888"/>
            <a:ext cx="342900" cy="64008"/>
          </a:xfrm>
          <a:prstGeom prst="rect">
            <a:avLst/>
          </a:prstGeom>
          <a:solidFill>
            <a:srgbClr val="B8912F"/>
          </a:solidFill>
          <a:ln/>
        </p:spPr>
      </p:sp>
      <p:sp>
        <p:nvSpPr>
          <p:cNvPr id="6" name="Shape 4"/>
          <p:cNvSpPr/>
          <p:nvPr/>
        </p:nvSpPr>
        <p:spPr>
          <a:xfrm>
            <a:off x="1252728" y="1389888"/>
            <a:ext cx="342900" cy="64008"/>
          </a:xfrm>
          <a:prstGeom prst="rect">
            <a:avLst/>
          </a:prstGeom>
          <a:solidFill>
            <a:srgbClr val="C25E3A"/>
          </a:solidFill>
          <a:ln/>
        </p:spPr>
      </p:sp>
      <p:sp>
        <p:nvSpPr>
          <p:cNvPr id="7" name="Shape 5"/>
          <p:cNvSpPr/>
          <p:nvPr/>
        </p:nvSpPr>
        <p:spPr>
          <a:xfrm>
            <a:off x="1595628" y="1389888"/>
            <a:ext cx="342900" cy="64008"/>
          </a:xfrm>
          <a:prstGeom prst="rect">
            <a:avLst/>
          </a:prstGeom>
          <a:solidFill>
            <a:srgbClr val="9B2C2C"/>
          </a:solidFill>
          <a:ln/>
        </p:spPr>
      </p:sp>
      <p:sp>
        <p:nvSpPr>
          <p:cNvPr id="8" name="Shape 6"/>
          <p:cNvSpPr/>
          <p:nvPr/>
        </p:nvSpPr>
        <p:spPr>
          <a:xfrm>
            <a:off x="566928" y="1783080"/>
            <a:ext cx="10881360" cy="896112"/>
          </a:xfrm>
          <a:prstGeom prst="roundRect">
            <a:avLst>
              <a:gd name="adj" fmla="val 5102"/>
            </a:avLst>
          </a:prstGeom>
          <a:solidFill>
            <a:srgbClr val="F2F5F4"/>
          </a:solidFill>
          <a:ln w="12700">
            <a:solidFill>
              <a:srgbClr val="F2F5F4"/>
            </a:solidFill>
            <a:prstDash val="solid"/>
          </a:ln>
        </p:spPr>
      </p:sp>
      <p:sp>
        <p:nvSpPr>
          <p:cNvPr id="9" name="Shape 7"/>
          <p:cNvSpPr/>
          <p:nvPr/>
        </p:nvSpPr>
        <p:spPr>
          <a:xfrm>
            <a:off x="566928" y="1783080"/>
            <a:ext cx="82296" cy="896112"/>
          </a:xfrm>
          <a:prstGeom prst="rect">
            <a:avLst/>
          </a:prstGeom>
          <a:solidFill>
            <a:srgbClr val="1C5D66"/>
          </a:solidFill>
          <a:ln/>
        </p:spPr>
      </p:sp>
      <p:sp>
        <p:nvSpPr>
          <p:cNvPr id="10" name="Text 8"/>
          <p:cNvSpPr/>
          <p:nvPr/>
        </p:nvSpPr>
        <p:spPr>
          <a:xfrm>
            <a:off x="914400" y="1783080"/>
            <a:ext cx="2011680" cy="896112"/>
          </a:xfrm>
          <a:prstGeom prst="rect">
            <a:avLst/>
          </a:prstGeom>
          <a:noFill/>
          <a:ln/>
        </p:spPr>
        <p:txBody>
          <a:bodyPr wrap="square" lIns="0" tIns="0" rIns="0" bIns="0" rtlCol="0" anchor="ctr"/>
          <a:lstStyle/>
          <a:p>
            <a:pPr indent="0" marL="0">
              <a:buNone/>
            </a:pPr>
            <a:r>
              <a:rPr lang="en-US" sz="1600" b="1" dirty="0">
                <a:solidFill>
                  <a:srgbClr val="12212B"/>
                </a:solidFill>
                <a:latin typeface="Cambria" pitchFamily="34" charset="0"/>
                <a:ea typeface="Cambria" pitchFamily="34" charset="-122"/>
                <a:cs typeface="Cambria" pitchFamily="34" charset="-120"/>
              </a:rPr>
              <a:t>CSC</a:t>
            </a:r>
            <a:endParaRPr lang="en-US" sz="1600" dirty="0"/>
          </a:p>
        </p:txBody>
      </p:sp>
      <p:sp>
        <p:nvSpPr>
          <p:cNvPr id="11" name="Text 9"/>
          <p:cNvSpPr/>
          <p:nvPr/>
        </p:nvSpPr>
        <p:spPr>
          <a:xfrm>
            <a:off x="2971800" y="1783080"/>
            <a:ext cx="8229600" cy="896112"/>
          </a:xfrm>
          <a:prstGeom prst="rect">
            <a:avLst/>
          </a:prstGeom>
          <a:noFill/>
          <a:ln/>
        </p:spPr>
        <p:txBody>
          <a:bodyPr wrap="square" lIns="0" tIns="0" rIns="0" bIns="0" rtlCol="0" anchor="ctr"/>
          <a:lstStyle/>
          <a:p>
            <a:pPr indent="0" marL="0">
              <a:buNone/>
            </a:pPr>
            <a:r>
              <a:rPr lang="en-US" sz="1250" dirty="0">
                <a:solidFill>
                  <a:srgbClr val="5A6B72"/>
                </a:solidFill>
                <a:latin typeface="Calibri" pitchFamily="34" charset="0"/>
                <a:ea typeface="Calibri" pitchFamily="34" charset="-122"/>
                <a:cs typeface="Calibri" pitchFamily="34" charset="-120"/>
              </a:rPr>
              <a:t>Confirm whether “accepted / in press” satisfies the citation requirement, and identify the I&amp;L action officer to staff the white paper.</a:t>
            </a:r>
            <a:endParaRPr lang="en-US" sz="1250" dirty="0"/>
          </a:p>
        </p:txBody>
      </p:sp>
      <p:sp>
        <p:nvSpPr>
          <p:cNvPr id="12" name="Shape 10"/>
          <p:cNvSpPr/>
          <p:nvPr/>
        </p:nvSpPr>
        <p:spPr>
          <a:xfrm>
            <a:off x="566928" y="2807208"/>
            <a:ext cx="10881360" cy="896112"/>
          </a:xfrm>
          <a:prstGeom prst="roundRect">
            <a:avLst>
              <a:gd name="adj" fmla="val 5102"/>
            </a:avLst>
          </a:prstGeom>
          <a:solidFill>
            <a:srgbClr val="F2F5F4"/>
          </a:solidFill>
          <a:ln w="12700">
            <a:solidFill>
              <a:srgbClr val="F2F5F4"/>
            </a:solidFill>
            <a:prstDash val="solid"/>
          </a:ln>
        </p:spPr>
      </p:sp>
      <p:sp>
        <p:nvSpPr>
          <p:cNvPr id="13" name="Shape 11"/>
          <p:cNvSpPr/>
          <p:nvPr/>
        </p:nvSpPr>
        <p:spPr>
          <a:xfrm>
            <a:off x="566928" y="2807208"/>
            <a:ext cx="82296" cy="896112"/>
          </a:xfrm>
          <a:prstGeom prst="rect">
            <a:avLst/>
          </a:prstGeom>
          <a:solidFill>
            <a:srgbClr val="C25E3A"/>
          </a:solidFill>
          <a:ln/>
        </p:spPr>
      </p:sp>
      <p:sp>
        <p:nvSpPr>
          <p:cNvPr id="14" name="Text 12"/>
          <p:cNvSpPr/>
          <p:nvPr/>
        </p:nvSpPr>
        <p:spPr>
          <a:xfrm>
            <a:off x="914400" y="2807208"/>
            <a:ext cx="2011680" cy="896112"/>
          </a:xfrm>
          <a:prstGeom prst="rect">
            <a:avLst/>
          </a:prstGeom>
          <a:noFill/>
          <a:ln/>
        </p:spPr>
        <p:txBody>
          <a:bodyPr wrap="square" lIns="0" tIns="0" rIns="0" bIns="0" rtlCol="0" anchor="ctr"/>
          <a:lstStyle/>
          <a:p>
            <a:pPr indent="0" marL="0">
              <a:buNone/>
            </a:pPr>
            <a:r>
              <a:rPr lang="en-US" sz="1600" b="1" dirty="0">
                <a:solidFill>
                  <a:srgbClr val="12212B"/>
                </a:solidFill>
                <a:latin typeface="Cambria" pitchFamily="34" charset="0"/>
                <a:ea typeface="Cambria" pitchFamily="34" charset="-122"/>
                <a:cs typeface="Cambria" pitchFamily="34" charset="-120"/>
              </a:rPr>
              <a:t>Simulation</a:t>
            </a:r>
            <a:endParaRPr lang="en-US" sz="1600" dirty="0"/>
          </a:p>
        </p:txBody>
      </p:sp>
      <p:sp>
        <p:nvSpPr>
          <p:cNvPr id="15" name="Text 13"/>
          <p:cNvSpPr/>
          <p:nvPr/>
        </p:nvSpPr>
        <p:spPr>
          <a:xfrm>
            <a:off x="2971800" y="2807208"/>
            <a:ext cx="8229600" cy="896112"/>
          </a:xfrm>
          <a:prstGeom prst="rect">
            <a:avLst/>
          </a:prstGeom>
          <a:noFill/>
          <a:ln/>
        </p:spPr>
        <p:txBody>
          <a:bodyPr wrap="square" lIns="0" tIns="0" rIns="0" bIns="0" rtlCol="0" anchor="ctr"/>
          <a:lstStyle/>
          <a:p>
            <a:pPr indent="0" marL="0">
              <a:buNone/>
            </a:pPr>
            <a:r>
              <a:rPr lang="en-US" sz="1250" dirty="0">
                <a:solidFill>
                  <a:srgbClr val="5A6B72"/>
                </a:solidFill>
                <a:latin typeface="Calibri" pitchFamily="34" charset="0"/>
                <a:ea typeface="Calibri" pitchFamily="34" charset="-122"/>
                <a:cs typeface="Calibri" pitchFamily="34" charset="-120"/>
              </a:rPr>
              <a:t>Sponsor an SME face-validity review panel. The model cannot be cited in a decision until it has one.</a:t>
            </a:r>
            <a:endParaRPr lang="en-US" sz="1250" dirty="0"/>
          </a:p>
        </p:txBody>
      </p:sp>
      <p:sp>
        <p:nvSpPr>
          <p:cNvPr id="16" name="Shape 14"/>
          <p:cNvSpPr/>
          <p:nvPr/>
        </p:nvSpPr>
        <p:spPr>
          <a:xfrm>
            <a:off x="566928" y="3831336"/>
            <a:ext cx="10881360" cy="896112"/>
          </a:xfrm>
          <a:prstGeom prst="roundRect">
            <a:avLst>
              <a:gd name="adj" fmla="val 5102"/>
            </a:avLst>
          </a:prstGeom>
          <a:solidFill>
            <a:srgbClr val="F2F5F4"/>
          </a:solidFill>
          <a:ln w="12700">
            <a:solidFill>
              <a:srgbClr val="F2F5F4"/>
            </a:solidFill>
            <a:prstDash val="solid"/>
          </a:ln>
        </p:spPr>
      </p:sp>
      <p:sp>
        <p:nvSpPr>
          <p:cNvPr id="17" name="Shape 15"/>
          <p:cNvSpPr/>
          <p:nvPr/>
        </p:nvSpPr>
        <p:spPr>
          <a:xfrm>
            <a:off x="566928" y="3831336"/>
            <a:ext cx="82296" cy="896112"/>
          </a:xfrm>
          <a:prstGeom prst="rect">
            <a:avLst/>
          </a:prstGeom>
          <a:solidFill>
            <a:srgbClr val="12212B"/>
          </a:solidFill>
          <a:ln/>
        </p:spPr>
      </p:sp>
      <p:sp>
        <p:nvSpPr>
          <p:cNvPr id="18" name="Text 16"/>
          <p:cNvSpPr/>
          <p:nvPr/>
        </p:nvSpPr>
        <p:spPr>
          <a:xfrm>
            <a:off x="914400" y="3831336"/>
            <a:ext cx="2011680" cy="896112"/>
          </a:xfrm>
          <a:prstGeom prst="rect">
            <a:avLst/>
          </a:prstGeom>
          <a:noFill/>
          <a:ln/>
        </p:spPr>
        <p:txBody>
          <a:bodyPr wrap="square" lIns="0" tIns="0" rIns="0" bIns="0" rtlCol="0" anchor="ctr"/>
          <a:lstStyle/>
          <a:p>
            <a:pPr indent="0" marL="0">
              <a:buNone/>
            </a:pPr>
            <a:r>
              <a:rPr lang="en-US" sz="1600" b="1" dirty="0">
                <a:solidFill>
                  <a:srgbClr val="12212B"/>
                </a:solidFill>
                <a:latin typeface="Cambria" pitchFamily="34" charset="0"/>
                <a:ea typeface="Cambria" pitchFamily="34" charset="-122"/>
                <a:cs typeface="Cambria" pitchFamily="34" charset="-120"/>
              </a:rPr>
              <a:t>Measure Dx</a:t>
            </a:r>
            <a:endParaRPr lang="en-US" sz="1600" dirty="0"/>
          </a:p>
        </p:txBody>
      </p:sp>
      <p:sp>
        <p:nvSpPr>
          <p:cNvPr id="19" name="Text 17"/>
          <p:cNvSpPr/>
          <p:nvPr/>
        </p:nvSpPr>
        <p:spPr>
          <a:xfrm>
            <a:off x="2971800" y="3831336"/>
            <a:ext cx="8229600" cy="896112"/>
          </a:xfrm>
          <a:prstGeom prst="rect">
            <a:avLst/>
          </a:prstGeom>
          <a:noFill/>
          <a:ln/>
        </p:spPr>
        <p:txBody>
          <a:bodyPr wrap="square" lIns="0" tIns="0" rIns="0" bIns="0" rtlCol="0" anchor="ctr"/>
          <a:lstStyle/>
          <a:p>
            <a:pPr indent="0" marL="0">
              <a:buNone/>
            </a:pPr>
            <a:r>
              <a:rPr lang="en-US" sz="1250" dirty="0">
                <a:solidFill>
                  <a:srgbClr val="5A6B72"/>
                </a:solidFill>
                <a:latin typeface="Calibri" pitchFamily="34" charset="0"/>
                <a:ea typeface="Calibri" pitchFamily="34" charset="-122"/>
                <a:cs typeface="Calibri" pitchFamily="34" charset="-120"/>
              </a:rPr>
              <a:t>Authorize a 12-month pilot at one division, and name the analytic partner for the data extract.</a:t>
            </a:r>
            <a:endParaRPr lang="en-US" sz="1250" dirty="0"/>
          </a:p>
        </p:txBody>
      </p:sp>
      <p:sp>
        <p:nvSpPr>
          <p:cNvPr id="20" name="Shape 18"/>
          <p:cNvSpPr/>
          <p:nvPr/>
        </p:nvSpPr>
        <p:spPr>
          <a:xfrm>
            <a:off x="566928" y="4855464"/>
            <a:ext cx="10881360" cy="896112"/>
          </a:xfrm>
          <a:prstGeom prst="roundRect">
            <a:avLst>
              <a:gd name="adj" fmla="val 5102"/>
            </a:avLst>
          </a:prstGeom>
          <a:solidFill>
            <a:srgbClr val="F2F5F4"/>
          </a:solidFill>
          <a:ln w="12700">
            <a:solidFill>
              <a:srgbClr val="F2F5F4"/>
            </a:solidFill>
            <a:prstDash val="solid"/>
          </a:ln>
        </p:spPr>
      </p:sp>
      <p:sp>
        <p:nvSpPr>
          <p:cNvPr id="21" name="Shape 19"/>
          <p:cNvSpPr/>
          <p:nvPr/>
        </p:nvSpPr>
        <p:spPr>
          <a:xfrm>
            <a:off x="566928" y="4855464"/>
            <a:ext cx="82296" cy="896112"/>
          </a:xfrm>
          <a:prstGeom prst="rect">
            <a:avLst/>
          </a:prstGeom>
          <a:solidFill>
            <a:srgbClr val="7FA99B"/>
          </a:solidFill>
          <a:ln/>
        </p:spPr>
      </p:sp>
      <p:sp>
        <p:nvSpPr>
          <p:cNvPr id="22" name="Text 20"/>
          <p:cNvSpPr/>
          <p:nvPr/>
        </p:nvSpPr>
        <p:spPr>
          <a:xfrm>
            <a:off x="914400" y="4855464"/>
            <a:ext cx="2011680" cy="896112"/>
          </a:xfrm>
          <a:prstGeom prst="rect">
            <a:avLst/>
          </a:prstGeom>
          <a:noFill/>
          <a:ln/>
        </p:spPr>
        <p:txBody>
          <a:bodyPr wrap="square" lIns="0" tIns="0" rIns="0" bIns="0" rtlCol="0" anchor="ctr"/>
          <a:lstStyle/>
          <a:p>
            <a:pPr indent="0" marL="0">
              <a:buNone/>
            </a:pPr>
            <a:r>
              <a:rPr lang="en-US" sz="1600" b="1" dirty="0">
                <a:solidFill>
                  <a:srgbClr val="12212B"/>
                </a:solidFill>
                <a:latin typeface="Cambria" pitchFamily="34" charset="0"/>
                <a:ea typeface="Cambria" pitchFamily="34" charset="-122"/>
                <a:cs typeface="Cambria" pitchFamily="34" charset="-120"/>
              </a:rPr>
              <a:t>EWP</a:t>
            </a:r>
            <a:endParaRPr lang="en-US" sz="1600" dirty="0"/>
          </a:p>
        </p:txBody>
      </p:sp>
      <p:sp>
        <p:nvSpPr>
          <p:cNvPr id="23" name="Text 21"/>
          <p:cNvSpPr/>
          <p:nvPr/>
        </p:nvSpPr>
        <p:spPr>
          <a:xfrm>
            <a:off x="2971800" y="4855464"/>
            <a:ext cx="8229600" cy="896112"/>
          </a:xfrm>
          <a:prstGeom prst="rect">
            <a:avLst/>
          </a:prstGeom>
          <a:noFill/>
          <a:ln/>
        </p:spPr>
        <p:txBody>
          <a:bodyPr wrap="square" lIns="0" tIns="0" rIns="0" bIns="0" rtlCol="0" anchor="ctr"/>
          <a:lstStyle/>
          <a:p>
            <a:pPr indent="0" marL="0">
              <a:buNone/>
            </a:pPr>
            <a:r>
              <a:rPr lang="en-US" sz="1250" dirty="0">
                <a:solidFill>
                  <a:srgbClr val="5A6B72"/>
                </a:solidFill>
                <a:latin typeface="Calibri" pitchFamily="34" charset="0"/>
                <a:ea typeface="Calibri" pitchFamily="34" charset="-122"/>
                <a:cs typeface="Calibri" pitchFamily="34" charset="-120"/>
              </a:rPr>
              <a:t>[Ask pending EWP material.]</a:t>
            </a:r>
            <a:endParaRPr lang="en-US" sz="1250" dirty="0"/>
          </a:p>
        </p:txBody>
      </p:sp>
      <p:sp>
        <p:nvSpPr>
          <p:cNvPr id="24" name="Text 22"/>
          <p:cNvSpPr/>
          <p:nvPr/>
        </p:nvSpPr>
        <p:spPr>
          <a:xfrm>
            <a:off x="566928" y="5943600"/>
            <a:ext cx="10881360" cy="384048"/>
          </a:xfrm>
          <a:prstGeom prst="rect">
            <a:avLst/>
          </a:prstGeom>
          <a:noFill/>
          <a:ln/>
        </p:spPr>
        <p:txBody>
          <a:bodyPr wrap="square" lIns="0" tIns="0" rIns="0" bIns="0" rtlCol="0" anchor="ctr"/>
          <a:lstStyle/>
          <a:p>
            <a:pPr indent="0" marL="0">
              <a:buNone/>
            </a:pPr>
            <a:r>
              <a:rPr lang="en-US" sz="1250" b="1" dirty="0">
                <a:solidFill>
                  <a:srgbClr val="12212B"/>
                </a:solidFill>
                <a:latin typeface="Calibri" pitchFamily="34" charset="0"/>
                <a:ea typeface="Calibri" pitchFamily="34" charset="-122"/>
                <a:cs typeface="Calibri" pitchFamily="34" charset="-120"/>
              </a:rPr>
              <a:t>Common thread: none of these asks is a resourcing request. Each is a decision, an endorsement, or an authority — the things HSOAG is positioned to give and we cannot generate ourselves.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HSOAG Quality Line of Effort</dc:title>
  <dc:subject>PptxGenJS Presentation</dc:subject>
  <dc:creator>CDR Brian S. Ford, MC, USN</dc:creator>
  <cp:lastModifiedBy>CDR Brian S. Ford, MC, USN</cp:lastModifiedBy>
  <cp:revision>1</cp:revision>
  <dcterms:created xsi:type="dcterms:W3CDTF">2026-08-15T22:06:52Z</dcterms:created>
  <dcterms:modified xsi:type="dcterms:W3CDTF">2026-08-15T22:06:52Z</dcterms:modified>
</cp:coreProperties>
</file>